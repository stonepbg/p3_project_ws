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FF"/>
    <a:srgbClr val="00FF88"/>
    <a:srgbClr val="FFD600"/>
    <a:srgbClr val="1F2F48"/>
    <a:srgbClr val="203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6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E112B-2FA5-4414-9521-F3C125F2CFB4}" type="datetimeFigureOut">
              <a:rPr lang="ko-KR" altLang="en-US" smtClean="0"/>
              <a:t>2026-07-12 (Sun)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D974B-6B78-41F4-AD22-69C35E17D1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9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06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63A98-0F6E-4C33-8983-5DA12EC243D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007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D974B-6B78-41F4-AD22-69C35E17D15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14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8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" y="-42102"/>
            <a:ext cx="9144000" cy="51435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572" y="-39339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888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79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55279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79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7160" y="164592"/>
            <a:ext cx="88696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" y="164592"/>
            <a:ext cx="64008" cy="7772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201168"/>
            <a:ext cx="8229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mtClean="0">
                <a:solidFill>
                  <a:srgbClr val="00C8FF"/>
                </a:solidFill>
                <a:latin typeface="Malgun Gothic"/>
              </a:rPr>
              <a:t>Vision </a:t>
            </a:r>
            <a:r>
              <a:rPr sz="800" b="1">
                <a:solidFill>
                  <a:srgbClr val="00C8FF"/>
                </a:solidFill>
                <a:latin typeface="Malgun Gothic"/>
              </a:rPr>
              <a:t>→ FSM </a:t>
            </a:r>
            <a:r>
              <a:rPr lang="ko-KR" altLang="en-US" sz="800" b="1" smtClean="0">
                <a:solidFill>
                  <a:srgbClr val="00C8FF"/>
                </a:solidFill>
                <a:latin typeface="Malgun Gothic"/>
              </a:rPr>
              <a:t>시스템 구성 및 </a:t>
            </a:r>
            <a:r>
              <a:rPr sz="800" b="1" smtClean="0">
                <a:solidFill>
                  <a:srgbClr val="00C8FF"/>
                </a:solidFill>
                <a:latin typeface="Malgun Gothic"/>
              </a:rPr>
              <a:t>실행 </a:t>
            </a:r>
            <a:r>
              <a:rPr sz="800" b="1">
                <a:solidFill>
                  <a:srgbClr val="00C8FF"/>
                </a:solidFill>
                <a:latin typeface="Malgun Gothic"/>
              </a:rPr>
              <a:t>파이프라인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11480"/>
            <a:ext cx="8229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눈(Vision)이 보고, 두뇌(FSM)가 </a:t>
            </a:r>
            <a:r>
              <a:rPr sz="1800" b="1" smtClean="0">
                <a:solidFill>
                  <a:srgbClr val="FFFFFF"/>
                </a:solidFill>
                <a:latin typeface="Malgun Gothic"/>
              </a:rPr>
              <a:t>정한</a:t>
            </a:r>
            <a:r>
              <a:rPr lang="en-US" sz="1800" b="1" smtClean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800" b="1" smtClean="0">
                <a:solidFill>
                  <a:srgbClr val="FFFFFF"/>
                </a:solidFill>
                <a:latin typeface="Malgun Gothic"/>
              </a:rPr>
              <a:t>판단이</a:t>
            </a:r>
            <a:r>
              <a:rPr sz="1800" b="1" smtClean="0">
                <a:solidFill>
                  <a:srgbClr val="FFFFFF"/>
                </a:solidFill>
                <a:latin typeface="Malgun Gothic"/>
              </a:rPr>
              <a:t>  </a:t>
            </a:r>
            <a:r>
              <a:rPr sz="1800" b="1">
                <a:solidFill>
                  <a:srgbClr val="FFFFFF"/>
                </a:solidFill>
                <a:latin typeface="Malgun Gothic"/>
              </a:rPr>
              <a:t>—  </a:t>
            </a:r>
            <a:r>
              <a:rPr lang="ko-KR" altLang="en-US" b="1" smtClean="0">
                <a:solidFill>
                  <a:srgbClr val="FFFFFF"/>
                </a:solidFill>
                <a:latin typeface="Malgun Gothic"/>
              </a:rPr>
              <a:t>실제 움직임이 된다</a:t>
            </a:r>
            <a:endParaRPr sz="1800" b="1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1168" y="1078992"/>
            <a:ext cx="3154680" cy="2212848"/>
          </a:xfrm>
          <a:prstGeom prst="rect">
            <a:avLst/>
          </a:prstGeom>
          <a:solidFill>
            <a:srgbClr val="111827"/>
          </a:solidFill>
          <a:ln w="1587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01168" y="1078992"/>
            <a:ext cx="3154680" cy="64008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88920" y="1225295"/>
            <a:ext cx="457200" cy="173736"/>
          </a:xfrm>
          <a:prstGeom prst="rect">
            <a:avLst/>
          </a:prstGeom>
          <a:solidFill>
            <a:srgbClr val="0A1A35"/>
          </a:solidFill>
          <a:ln w="635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88920" y="1248156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0C8FF"/>
                </a:solidFill>
                <a:latin typeface="Malgun Gothic"/>
              </a:rPr>
              <a:t>주역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1234439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0C8FF"/>
                </a:solidFill>
                <a:latin typeface="Malgun Gothic"/>
              </a:rPr>
              <a:t>01   인지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14264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VISION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1792224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camera_infer_node  ·  tracker_node   (C++ / TensorRT)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011680"/>
            <a:ext cx="2825496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2139696"/>
            <a:ext cx="2825496" cy="754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RealSense D435 → YOLO11n TensorRT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CLIP Re-ID 로 타겟 1인 고정 (타인 락 차단)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카메라 1대로 전방 추종 + 후방 감시</a:t>
            </a:r>
          </a:p>
          <a:p>
            <a:pPr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거리 · 각도 산출 → 29Hz </a:t>
            </a:r>
            <a:r>
              <a:rPr sz="850" b="0" smtClean="0">
                <a:solidFill>
                  <a:srgbClr val="94A3B8"/>
                </a:solidFill>
                <a:latin typeface="Malgun Gothic"/>
              </a:rPr>
              <a:t>실시간</a:t>
            </a:r>
            <a:r>
              <a:rPr lang="en-US" sz="850">
                <a:solidFill>
                  <a:srgbClr val="94A3B8"/>
                </a:solidFill>
                <a:latin typeface="Malgun Gothic"/>
              </a:rPr>
              <a:t> (C++)</a:t>
            </a:r>
            <a:endParaRPr sz="850" b="0">
              <a:solidFill>
                <a:srgbClr val="94A3B8"/>
              </a:solidFill>
              <a:latin typeface="Malgun Gothic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75887" y="1078992"/>
            <a:ext cx="3154680" cy="2212848"/>
          </a:xfrm>
          <a:prstGeom prst="rect">
            <a:avLst/>
          </a:prstGeom>
          <a:solidFill>
            <a:srgbClr val="111827"/>
          </a:solidFill>
          <a:ln w="1587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75887" y="1078992"/>
            <a:ext cx="3154680" cy="64008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63640" y="1225295"/>
            <a:ext cx="457200" cy="173736"/>
          </a:xfrm>
          <a:prstGeom prst="rect">
            <a:avLst/>
          </a:prstGeom>
          <a:solidFill>
            <a:srgbClr val="0A1A35"/>
          </a:solidFill>
          <a:ln w="635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63640" y="1248156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D600"/>
                </a:solidFill>
                <a:latin typeface="Malgun Gothic"/>
              </a:rPr>
              <a:t>주역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79" y="1234439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D600"/>
                </a:solidFill>
                <a:latin typeface="Malgun Gothic"/>
              </a:rPr>
              <a:t>02   판단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79" y="142646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FSM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79" y="1792224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fsm_node   (모든 모드 전환의 단일 통제 지점)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79" y="2011680"/>
            <a:ext cx="2825496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0479" y="2139696"/>
            <a:ext cx="282549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6개 모드 전환 — 십의 자리로 카테고리 판정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AGV 모드 바이패스 + ack 핸드셰이크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후방 인지 → 안내 정지 / 재개 결정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94A3B8"/>
                </a:solidFill>
                <a:latin typeface="Malgun Gothic"/>
              </a:rPr>
              <a:t>· 블록 감지 → 픽업 단계 자동 전환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00805" y="2039112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96996" y="2084831"/>
            <a:ext cx="23774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smtClean="0">
                <a:solidFill>
                  <a:srgbClr val="00C8FF"/>
                </a:solidFill>
                <a:latin typeface="Malgun Gothic"/>
              </a:rPr>
              <a:t>▶</a:t>
            </a:r>
            <a:endParaRPr sz="9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931152" y="2033967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35724" y="2084831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D600"/>
                </a:solidFill>
                <a:latin typeface="Malgun Gothic"/>
              </a:rPr>
              <a:t>▶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96912" y="1078992"/>
            <a:ext cx="1636776" cy="1060704"/>
          </a:xfrm>
          <a:prstGeom prst="rect">
            <a:avLst/>
          </a:prstGeom>
          <a:solidFill>
            <a:srgbClr val="0C1222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415784" y="1179576"/>
            <a:ext cx="1399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4748B"/>
                </a:solidFill>
                <a:latin typeface="Malgun Gothic"/>
              </a:rPr>
              <a:t>03  주행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15784" y="1344168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D8F0"/>
                </a:solidFill>
                <a:latin typeface="Malgun Gothic"/>
              </a:rPr>
              <a:t>NAVIGATION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15784" y="1572768"/>
            <a:ext cx="1399032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Malgun Gothic"/>
              </a:rPr>
              <a:t>/target_cmd → </a:t>
            </a:r>
            <a:r>
              <a:rPr sz="700" b="0" smtClean="0">
                <a:solidFill>
                  <a:srgbClr val="64748B"/>
                </a:solidFill>
                <a:latin typeface="Malgun Gothic"/>
              </a:rPr>
              <a:t>AGV</a:t>
            </a:r>
            <a:r>
              <a:rPr lang="en-US" sz="700" b="0" smtClean="0">
                <a:solidFill>
                  <a:srgbClr val="64748B"/>
                </a:solidFill>
                <a:latin typeface="Malgun Gothic"/>
              </a:rPr>
              <a:t> </a:t>
            </a:r>
            <a:r>
              <a:rPr lang="en-US" altLang="ko-KR" sz="700">
                <a:solidFill>
                  <a:srgbClr val="64748B"/>
                </a:solidFill>
                <a:latin typeface="Malgun Gothic"/>
              </a:rPr>
              <a:t>· </a:t>
            </a:r>
            <a:r>
              <a:rPr lang="en-US" altLang="ko-KR" sz="700" smtClean="0">
                <a:solidFill>
                  <a:srgbClr val="64748B"/>
                </a:solidFill>
                <a:latin typeface="Malgun Gothic"/>
              </a:rPr>
              <a:t>ARM</a:t>
            </a:r>
            <a:endParaRPr sz="700" b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415784" y="1764792"/>
            <a:ext cx="1399032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· 거리 · 각도 </a:t>
            </a:r>
            <a:r>
              <a:rPr lang="en-US" altLang="ko-KR" sz="750" smtClean="0">
                <a:solidFill>
                  <a:srgbClr val="64748B"/>
                </a:solidFill>
                <a:latin typeface="Malgun Gothic"/>
              </a:rPr>
              <a:t>· </a:t>
            </a:r>
            <a:r>
              <a:rPr lang="ko-KR" altLang="en-US" sz="750" smtClean="0">
                <a:solidFill>
                  <a:srgbClr val="64748B"/>
                </a:solidFill>
                <a:latin typeface="Malgun Gothic"/>
              </a:rPr>
              <a:t>실시간 전송</a:t>
            </a:r>
            <a:endParaRPr sz="750" b="0">
              <a:solidFill>
                <a:srgbClr val="64748B"/>
              </a:solidFill>
              <a:latin typeface="Malgun Gothic"/>
            </a:endParaRP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· 픽업 도킹 좌표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96912" y="2231136"/>
            <a:ext cx="1636776" cy="1060704"/>
          </a:xfrm>
          <a:prstGeom prst="rect">
            <a:avLst/>
          </a:prstGeom>
          <a:solidFill>
            <a:srgbClr val="0C1222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15784" y="2331720"/>
            <a:ext cx="1399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64748B"/>
                </a:solidFill>
                <a:latin typeface="Malgun Gothic"/>
              </a:rPr>
              <a:t>04  피드백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15784" y="2496312"/>
            <a:ext cx="13990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D8F0"/>
                </a:solidFill>
                <a:latin typeface="Malgun Gothic"/>
              </a:rPr>
              <a:t>VOICE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15784" y="2724912"/>
            <a:ext cx="1399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tts_node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15784" y="2916936"/>
            <a:ext cx="1399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· 모드 · 이벤트 멘트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· 캐시 즉시 재생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6912" y="3328415"/>
            <a:ext cx="1636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연계 시스템 (타 파트)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1168" y="340156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D600"/>
                </a:solidFill>
                <a:latin typeface="Malgun Gothic"/>
              </a:rPr>
              <a:t>FSM 모드 체계   ·   모드 번호의 십의 자리 = 카테고리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1168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01168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1168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정지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79478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79478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1x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79478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추종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57788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157788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2x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57788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안내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36099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636099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3x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36099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자율주행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14409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14409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4x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14409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위치재조정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92720" y="3657600"/>
            <a:ext cx="1341150" cy="841248"/>
          </a:xfrm>
          <a:prstGeom prst="rect">
            <a:avLst/>
          </a:prstGeom>
          <a:solidFill>
            <a:srgbClr val="0A1A35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592720" y="3776472"/>
            <a:ext cx="134115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C8FF"/>
                </a:solidFill>
                <a:latin typeface="Malgun Gothic"/>
              </a:rPr>
              <a:t>5x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92720" y="4160520"/>
            <a:ext cx="134115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픽업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8" y="4718304"/>
            <a:ext cx="8732520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01168" y="4773168"/>
            <a:ext cx="87325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Vision 은 '누구를' 결정하고, FSM 은 '무엇을 할지' </a:t>
            </a:r>
            <a:r>
              <a:rPr sz="900" b="1" smtClean="0">
                <a:solidFill>
                  <a:srgbClr val="FFFFFF"/>
                </a:solidFill>
                <a:latin typeface="Malgun Gothic"/>
              </a:rPr>
              <a:t>결정</a:t>
            </a:r>
            <a:r>
              <a:rPr lang="ko-KR" altLang="en-US" sz="900" b="1" smtClean="0">
                <a:solidFill>
                  <a:srgbClr val="FFFFFF"/>
                </a:solidFill>
                <a:latin typeface="Malgun Gothic"/>
              </a:rPr>
              <a:t>하고</a:t>
            </a:r>
            <a:r>
              <a:rPr sz="900" b="1" smtClean="0">
                <a:solidFill>
                  <a:srgbClr val="FFFFFF"/>
                </a:solidFill>
                <a:latin typeface="Malgun Gothic"/>
              </a:rPr>
              <a:t>  —  AGV · 로봇팔</a:t>
            </a:r>
            <a:r>
              <a:rPr lang="ko-KR" altLang="en-US" sz="900" b="1" smtClean="0">
                <a:solidFill>
                  <a:srgbClr val="FFFFFF"/>
                </a:solidFill>
                <a:latin typeface="Malgun Gothic"/>
              </a:rPr>
              <a:t>과 호흡을 맞춘다</a:t>
            </a:r>
            <a:endParaRPr sz="900" b="1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676" y="-2286"/>
            <a:ext cx="9144000" cy="51435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888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79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55279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79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7160" y="164592"/>
            <a:ext cx="88696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" y="164592"/>
            <a:ext cx="64008" cy="7772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201168"/>
            <a:ext cx="8229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smtClean="0">
                <a:solidFill>
                  <a:srgbClr val="00C8FF"/>
                </a:solidFill>
                <a:latin typeface="Malgun Gothic"/>
              </a:rPr>
              <a:t>시스템 </a:t>
            </a:r>
            <a:r>
              <a:rPr sz="800" b="1">
                <a:solidFill>
                  <a:srgbClr val="00C8FF"/>
                </a:solidFill>
                <a:latin typeface="Malgun Gothic"/>
              </a:rPr>
              <a:t>아키텍처   ·   FSM 중심 제어 흐름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11480"/>
            <a:ext cx="8229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모드 번호 하나가 대시보드에서 </a:t>
            </a:r>
            <a:r>
              <a:rPr sz="1800" b="1" smtClean="0">
                <a:solidFill>
                  <a:srgbClr val="FFFFFF"/>
                </a:solidFill>
                <a:latin typeface="Malgun Gothic"/>
              </a:rPr>
              <a:t>로봇팔까지</a:t>
            </a:r>
            <a:endParaRPr sz="1800" b="1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1168" y="1024128"/>
            <a:ext cx="6903720" cy="1849758"/>
          </a:xfrm>
          <a:prstGeom prst="rect">
            <a:avLst/>
          </a:prstGeom>
          <a:solidFill>
            <a:srgbClr val="0B1326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FF88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896" y="1078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Jetson Orin Nano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" y="1280160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인지 · 판단 · 음성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01251" y="1056132"/>
            <a:ext cx="1179576" cy="502920"/>
          </a:xfrm>
          <a:prstGeom prst="rect">
            <a:avLst/>
          </a:prstGeom>
          <a:solidFill>
            <a:srgbClr val="111827"/>
          </a:solidFill>
          <a:ln w="952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10963" y="1149858"/>
            <a:ext cx="1371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chemeClr val="bg1"/>
                </a:solidFill>
                <a:latin typeface="Malgun Gothic"/>
              </a:rPr>
              <a:t>tts_node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12164" y="1344168"/>
            <a:ext cx="1371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>
                <a:solidFill>
                  <a:srgbClr val="64748B"/>
                </a:solidFill>
                <a:latin typeface="Malgun Gothic"/>
              </a:rPr>
              <a:t>상태 멘트 → 스피커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1874519"/>
            <a:ext cx="16002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65760" y="1874519"/>
            <a:ext cx="1600200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1993392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follow_node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221284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94A3B8"/>
                </a:solidFill>
                <a:latin typeface="Malgun Gothic"/>
              </a:rPr>
              <a:t>전방 추종 + 후방 감시
(카메라 1대)
RealSense · YOLO11n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17720" y="1874519"/>
            <a:ext cx="21031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617720" y="1874519"/>
            <a:ext cx="2103120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617720" y="199339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pickup_node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2212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94A3B8"/>
                </a:solidFill>
                <a:latin typeface="Malgun Gothic"/>
              </a:rPr>
              <a:t>블록 좌표 변환 · 재파지
도킹 좌표 → AGV
파지 좌표 → 로봇팔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33488" y="1024127"/>
            <a:ext cx="1600200" cy="1118239"/>
          </a:xfrm>
          <a:prstGeom prst="rect">
            <a:avLst/>
          </a:prstGeom>
          <a:solidFill>
            <a:srgbClr val="111827"/>
          </a:solidFill>
          <a:ln w="12700">
            <a:solidFill>
              <a:srgbClr val="99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333488" y="1024128"/>
            <a:ext cx="1600200" cy="45720"/>
          </a:xfrm>
          <a:prstGeom prst="rect">
            <a:avLst/>
          </a:prstGeom>
          <a:solidFill>
            <a:srgbClr val="9900FF"/>
          </a:solidFill>
          <a:ln>
            <a:solidFill>
              <a:srgbClr val="99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4" name="그룹 143"/>
          <p:cNvGrpSpPr/>
          <p:nvPr/>
        </p:nvGrpSpPr>
        <p:grpSpPr>
          <a:xfrm>
            <a:off x="7317055" y="1375611"/>
            <a:ext cx="1600200" cy="434900"/>
            <a:chOff x="7333488" y="1152144"/>
            <a:chExt cx="1600200" cy="434900"/>
          </a:xfrm>
        </p:grpSpPr>
        <p:sp>
          <p:nvSpPr>
            <p:cNvPr id="65" name="TextBox 64"/>
            <p:cNvSpPr txBox="1"/>
            <p:nvPr/>
          </p:nvSpPr>
          <p:spPr>
            <a:xfrm>
              <a:off x="7333488" y="1152144"/>
              <a:ext cx="16002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950" b="1">
                  <a:solidFill>
                    <a:srgbClr val="FFFFFF"/>
                  </a:solidFill>
                  <a:latin typeface="Malgun Gothic"/>
                </a:rPr>
                <a:t>Web Dashboard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33488" y="1371600"/>
              <a:ext cx="160020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00B0F0"/>
                  </a:solidFill>
                  <a:latin typeface="Malgun Gothic"/>
                </a:rPr>
                <a:t>모드 버튼</a:t>
              </a:r>
              <a:r>
                <a:rPr sz="700" b="0">
                  <a:solidFill>
                    <a:schemeClr val="bg1"/>
                  </a:solidFill>
                  <a:latin typeface="Malgun Gothic"/>
                </a:rPr>
                <a:t>
전후방 영상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7333488" y="2244634"/>
            <a:ext cx="1600200" cy="832104"/>
          </a:xfrm>
          <a:prstGeom prst="rect">
            <a:avLst/>
          </a:prstGeom>
          <a:solidFill>
            <a:srgbClr val="9900FF"/>
          </a:solidFill>
          <a:ln w="9525">
            <a:solidFill>
              <a:srgbClr val="99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3" name="그룹 142"/>
          <p:cNvGrpSpPr/>
          <p:nvPr/>
        </p:nvGrpSpPr>
        <p:grpSpPr>
          <a:xfrm>
            <a:off x="7328916" y="2502612"/>
            <a:ext cx="1600200" cy="334872"/>
            <a:chOff x="7333488" y="2267712"/>
            <a:chExt cx="1600200" cy="334872"/>
          </a:xfrm>
        </p:grpSpPr>
        <p:sp>
          <p:nvSpPr>
            <p:cNvPr id="68" name="TextBox 67"/>
            <p:cNvSpPr txBox="1"/>
            <p:nvPr/>
          </p:nvSpPr>
          <p:spPr>
            <a:xfrm>
              <a:off x="7333488" y="2267712"/>
              <a:ext cx="16002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950" b="1">
                  <a:solidFill>
                    <a:srgbClr val="FFFFFF"/>
                  </a:solidFill>
                  <a:latin typeface="Malgun Gothic"/>
                </a:rPr>
                <a:t>myCobot 280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333488" y="2487168"/>
              <a:ext cx="160020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750" b="0">
                  <a:solidFill>
                    <a:srgbClr val="00B0F0"/>
                  </a:solidFill>
                  <a:latin typeface="Malgun Gothic"/>
                </a:rPr>
                <a:t>블록 파지 실행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201168" y="3099797"/>
            <a:ext cx="6903720" cy="1513350"/>
          </a:xfrm>
          <a:prstGeom prst="rect">
            <a:avLst/>
          </a:prstGeom>
          <a:solidFill>
            <a:srgbClr val="0B1326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10896" y="327355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myAGV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" y="347472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Malgun Gothic"/>
              </a:rPr>
              <a:t>주행 · 장애물 회피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310896" y="4110228"/>
            <a:ext cx="6647688" cy="365760"/>
            <a:chOff x="320040" y="3950208"/>
            <a:chExt cx="6647688" cy="365760"/>
          </a:xfrm>
        </p:grpSpPr>
        <p:sp>
          <p:nvSpPr>
            <p:cNvPr id="78" name="Rectangle 77"/>
            <p:cNvSpPr/>
            <p:nvPr/>
          </p:nvSpPr>
          <p:spPr>
            <a:xfrm>
              <a:off x="320040" y="3950208"/>
              <a:ext cx="1234440" cy="365760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99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20040" y="4050791"/>
              <a:ext cx="12344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추종 모드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673352" y="3950208"/>
              <a:ext cx="1234440" cy="365760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99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673352" y="4050791"/>
              <a:ext cx="12344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안내 모드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026664" y="3950208"/>
              <a:ext cx="1234440" cy="365760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99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026664" y="4050791"/>
              <a:ext cx="12344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자율주행 모드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4379975" y="3950208"/>
              <a:ext cx="1234440" cy="365760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99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379975" y="4050791"/>
              <a:ext cx="12344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위치재조정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5733288" y="3950208"/>
              <a:ext cx="1234440" cy="365760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99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733288" y="4050791"/>
              <a:ext cx="123444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픽업 모드</a:t>
              </a:r>
            </a:p>
          </p:txBody>
        </p:sp>
      </p:grpSp>
      <p:cxnSp>
        <p:nvCxnSpPr>
          <p:cNvPr id="88" name="Connector 87"/>
          <p:cNvCxnSpPr/>
          <p:nvPr/>
        </p:nvCxnSpPr>
        <p:spPr>
          <a:xfrm flipH="1">
            <a:off x="3805039" y="1463040"/>
            <a:ext cx="3535724" cy="0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811112" y="1458468"/>
            <a:ext cx="0" cy="355340"/>
          </a:xfrm>
          <a:prstGeom prst="line">
            <a:avLst/>
          </a:prstGeom>
          <a:ln w="22225">
            <a:solidFill>
              <a:srgbClr val="00B0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4306824" y="1179576"/>
            <a:ext cx="201168" cy="201168"/>
          </a:xfrm>
          <a:prstGeom prst="ellipse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306824" y="121917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17720" y="1225278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C8FF"/>
                </a:solidFill>
                <a:latin typeface="Malgun Gothic"/>
              </a:rPr>
              <a:t>모드 번호 발행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206240" y="2286000"/>
            <a:ext cx="411480" cy="0"/>
          </a:xfrm>
          <a:prstGeom prst="line">
            <a:avLst/>
          </a:prstGeom>
          <a:ln w="22225">
            <a:solidFill>
              <a:srgbClr val="00C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4306824" y="2011680"/>
            <a:ext cx="201168" cy="201168"/>
          </a:xfrm>
          <a:prstGeom prst="ellipse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6824" y="204368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5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720840" y="2331720"/>
            <a:ext cx="612648" cy="0"/>
          </a:xfrm>
          <a:prstGeom prst="line">
            <a:avLst/>
          </a:prstGeom>
          <a:ln w="22225">
            <a:solidFill>
              <a:srgbClr val="00C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6922008" y="2048256"/>
            <a:ext cx="201168" cy="201168"/>
          </a:xfrm>
          <a:prstGeom prst="ellipse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22008" y="2080260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6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64408" y="2788920"/>
            <a:ext cx="4571" cy="411479"/>
          </a:xfrm>
          <a:prstGeom prst="line">
            <a:avLst/>
          </a:prstGeom>
          <a:ln w="22225">
            <a:solidFill>
              <a:srgbClr val="00C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/>
          <p:cNvGrpSpPr/>
          <p:nvPr/>
        </p:nvGrpSpPr>
        <p:grpSpPr>
          <a:xfrm>
            <a:off x="2999090" y="2873886"/>
            <a:ext cx="201239" cy="201168"/>
            <a:chOff x="2999090" y="2873886"/>
            <a:chExt cx="201239" cy="201168"/>
          </a:xfrm>
        </p:grpSpPr>
        <p:sp>
          <p:nvSpPr>
            <p:cNvPr id="100" name="Oval 99"/>
            <p:cNvSpPr/>
            <p:nvPr/>
          </p:nvSpPr>
          <p:spPr>
            <a:xfrm>
              <a:off x="2999161" y="2873886"/>
              <a:ext cx="201168" cy="201168"/>
            </a:xfrm>
            <a:prstGeom prst="ellipse">
              <a:avLst/>
            </a:prstGeom>
            <a:solidFill>
              <a:srgbClr val="0A1A35"/>
            </a:solidFill>
            <a:ln w="9525">
              <a:solidFill>
                <a:srgbClr val="00C8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999090" y="2905890"/>
              <a:ext cx="20116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C8FF"/>
                  </a:solidFill>
                  <a:latin typeface="Malgun Gothic"/>
                </a:rPr>
                <a:t>2</a:t>
              </a:r>
            </a:p>
          </p:txBody>
        </p:sp>
      </p:grpSp>
      <p:sp>
        <p:nvSpPr>
          <p:cNvPr id="103" name="Oval 102"/>
          <p:cNvSpPr/>
          <p:nvPr/>
        </p:nvSpPr>
        <p:spPr>
          <a:xfrm>
            <a:off x="3357132" y="3834218"/>
            <a:ext cx="201168" cy="201168"/>
          </a:xfrm>
          <a:prstGeom prst="ellipse">
            <a:avLst/>
          </a:prstGeom>
          <a:solidFill>
            <a:srgbClr val="0A1A35"/>
          </a:solidFill>
          <a:ln w="9525">
            <a:solidFill>
              <a:srgbClr val="FFE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8" name="그룹 137"/>
          <p:cNvGrpSpPr/>
          <p:nvPr/>
        </p:nvGrpSpPr>
        <p:grpSpPr>
          <a:xfrm>
            <a:off x="2319288" y="3203267"/>
            <a:ext cx="4668012" cy="902387"/>
            <a:chOff x="2327148" y="3140926"/>
            <a:chExt cx="4668012" cy="902387"/>
          </a:xfrm>
        </p:grpSpPr>
        <p:sp>
          <p:nvSpPr>
            <p:cNvPr id="73" name="Rectangle 72"/>
            <p:cNvSpPr/>
            <p:nvPr/>
          </p:nvSpPr>
          <p:spPr>
            <a:xfrm>
              <a:off x="2331720" y="3143212"/>
              <a:ext cx="1874519" cy="549582"/>
            </a:xfrm>
            <a:prstGeom prst="rect">
              <a:avLst/>
            </a:prstGeom>
            <a:solidFill>
              <a:srgbClr val="111827"/>
            </a:solidFill>
            <a:ln w="15875">
              <a:solidFill>
                <a:srgbClr val="FFE8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331720" y="3140926"/>
              <a:ext cx="1874519" cy="54864"/>
            </a:xfrm>
            <a:prstGeom prst="rect">
              <a:avLst/>
            </a:prstGeom>
            <a:solidFill>
              <a:srgbClr val="FFE8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31720" y="3270325"/>
              <a:ext cx="1874519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000" b="1">
                  <a:solidFill>
                    <a:srgbClr val="FFE873"/>
                  </a:solidFill>
                  <a:latin typeface="Malgun Gothic"/>
                </a:rPr>
                <a:t>agv_task_manager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327148" y="3493008"/>
              <a:ext cx="1874519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650" b="0">
                  <a:solidFill>
                    <a:srgbClr val="FFFFFF"/>
                  </a:solidFill>
                  <a:latin typeface="Malgun Gothic"/>
                </a:rPr>
                <a:t>로컬 태스크 매니저 (상시 대기)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43400" y="3419856"/>
              <a:ext cx="26517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750" b="0">
                  <a:solidFill>
                    <a:srgbClr val="FFE873"/>
                  </a:solidFill>
                  <a:latin typeface="Malgun Gothic"/>
                </a:rPr>
                <a:t>동적 런치  (매니저가 On / Off)</a:t>
              </a:r>
            </a:p>
          </p:txBody>
        </p:sp>
        <p:cxnSp>
          <p:nvCxnSpPr>
            <p:cNvPr id="102" name="Connector 101"/>
            <p:cNvCxnSpPr>
              <a:stCxn id="73" idx="2"/>
            </p:cNvCxnSpPr>
            <p:nvPr/>
          </p:nvCxnSpPr>
          <p:spPr>
            <a:xfrm flipH="1">
              <a:off x="3268979" y="3692794"/>
              <a:ext cx="1" cy="350519"/>
            </a:xfrm>
            <a:prstGeom prst="line">
              <a:avLst/>
            </a:prstGeom>
            <a:ln w="22225">
              <a:solidFill>
                <a:srgbClr val="FFE87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3364992" y="3810142"/>
              <a:ext cx="201168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FFE873"/>
                  </a:solidFill>
                  <a:latin typeface="Malgun Gothic"/>
                </a:rPr>
                <a:t>3</a:t>
              </a:r>
            </a:p>
          </p:txBody>
        </p:sp>
      </p:grpSp>
      <p:cxnSp>
        <p:nvCxnSpPr>
          <p:cNvPr id="105" name="Connector 104"/>
          <p:cNvCxnSpPr/>
          <p:nvPr/>
        </p:nvCxnSpPr>
        <p:spPr>
          <a:xfrm>
            <a:off x="1161288" y="2743200"/>
            <a:ext cx="0" cy="1344168"/>
          </a:xfrm>
          <a:prstGeom prst="line">
            <a:avLst/>
          </a:prstGeom>
          <a:ln w="22225">
            <a:solidFill>
              <a:srgbClr val="00B05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1243584" y="3291840"/>
            <a:ext cx="201168" cy="201168"/>
          </a:xfrm>
          <a:prstGeom prst="ellipse">
            <a:avLst/>
          </a:prstGeom>
          <a:solidFill>
            <a:srgbClr val="0A1A35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243584" y="332384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FF88"/>
                </a:solidFill>
                <a:latin typeface="Malgun Gothic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90472" y="33467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FF88"/>
                </a:solidFill>
                <a:latin typeface="Malgun Gothic"/>
              </a:rPr>
              <a:t>거리 · 각도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33488" y="3346704"/>
            <a:ext cx="1600200" cy="1266442"/>
          </a:xfrm>
          <a:prstGeom prst="rect">
            <a:avLst/>
          </a:prstGeom>
          <a:solidFill>
            <a:srgbClr val="0B1326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5" name="그룹 144"/>
          <p:cNvGrpSpPr/>
          <p:nvPr/>
        </p:nvGrpSpPr>
        <p:grpSpPr>
          <a:xfrm>
            <a:off x="7653528" y="3461004"/>
            <a:ext cx="1426464" cy="1097280"/>
            <a:chOff x="7443216" y="3273552"/>
            <a:chExt cx="1426464" cy="1097280"/>
          </a:xfrm>
        </p:grpSpPr>
        <p:sp>
          <p:nvSpPr>
            <p:cNvPr id="110" name="TextBox 109"/>
            <p:cNvSpPr txBox="1"/>
            <p:nvPr/>
          </p:nvSpPr>
          <p:spPr>
            <a:xfrm>
              <a:off x="7443216" y="3273552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700" b="1">
                  <a:solidFill>
                    <a:srgbClr val="00C8FF"/>
                  </a:solidFill>
                  <a:latin typeface="Malgun Gothic"/>
                </a:rPr>
                <a:t>FLOW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7443216" y="3529584"/>
              <a:ext cx="182880" cy="4572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7680960" y="3474720"/>
              <a:ext cx="11887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700" b="0">
                  <a:solidFill>
                    <a:srgbClr val="FFFFFF"/>
                  </a:solidFill>
                  <a:latin typeface="Malgun Gothic"/>
                </a:rPr>
                <a:t>제어 (모드)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7443216" y="3785615"/>
              <a:ext cx="182880" cy="45720"/>
            </a:xfrm>
            <a:prstGeom prst="rect">
              <a:avLst/>
            </a:prstGeom>
            <a:solidFill>
              <a:srgbClr val="FFE8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680960" y="3730752"/>
              <a:ext cx="11887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700" b="0">
                  <a:solidFill>
                    <a:srgbClr val="FFFFFF"/>
                  </a:solidFill>
                  <a:latin typeface="Malgun Gothic"/>
                </a:rPr>
                <a:t>런치 On/Off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443216" y="4041648"/>
              <a:ext cx="182880" cy="45720"/>
            </a:xfrm>
            <a:prstGeom prst="rect">
              <a:avLst/>
            </a:prstGeom>
            <a:solidFill>
              <a:srgbClr val="00FF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680960" y="3986784"/>
              <a:ext cx="11887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700" b="0">
                  <a:solidFill>
                    <a:srgbClr val="FFFFFF"/>
                  </a:solidFill>
                  <a:latin typeface="Malgun Gothic"/>
                </a:rPr>
                <a:t>데이터 (센서)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43216" y="4224528"/>
              <a:ext cx="137160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650" b="0">
                  <a:solidFill>
                    <a:srgbClr val="64748B"/>
                  </a:solidFill>
                  <a:latin typeface="Malgun Gothic"/>
                </a:rPr>
                <a:t>점선 = 스트리밍</a:t>
              </a:r>
            </a:p>
          </p:txBody>
        </p:sp>
      </p:grpSp>
      <p:sp>
        <p:nvSpPr>
          <p:cNvPr id="118" name="Rectangle 117"/>
          <p:cNvSpPr/>
          <p:nvPr/>
        </p:nvSpPr>
        <p:spPr>
          <a:xfrm>
            <a:off x="201168" y="4718304"/>
            <a:ext cx="8732520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01168" y="4773168"/>
            <a:ext cx="87325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모드 번호의 십의 자리가 카테고리를, 일의 자리가 목적지를 정한다  —  숫자 하나로 4개 기기 </a:t>
            </a:r>
            <a:r>
              <a:rPr lang="ko-KR" altLang="en-US" sz="900" b="1" smtClean="0">
                <a:solidFill>
                  <a:srgbClr val="FFFFFF"/>
                </a:solidFill>
                <a:latin typeface="Malgun Gothic"/>
              </a:rPr>
              <a:t>통합</a:t>
            </a:r>
            <a:endParaRPr sz="900" b="1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46" name="Connector 88"/>
          <p:cNvCxnSpPr>
            <a:stCxn id="55" idx="1"/>
            <a:endCxn id="51" idx="3"/>
          </p:cNvCxnSpPr>
          <p:nvPr/>
        </p:nvCxnSpPr>
        <p:spPr>
          <a:xfrm flipH="1" flipV="1">
            <a:off x="1965960" y="2308859"/>
            <a:ext cx="365760" cy="1"/>
          </a:xfrm>
          <a:prstGeom prst="line">
            <a:avLst/>
          </a:prstGeom>
          <a:ln w="22225">
            <a:solidFill>
              <a:srgbClr val="00F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88"/>
          <p:cNvCxnSpPr/>
          <p:nvPr/>
        </p:nvCxnSpPr>
        <p:spPr>
          <a:xfrm flipV="1">
            <a:off x="2781502" y="1559052"/>
            <a:ext cx="0" cy="258487"/>
          </a:xfrm>
          <a:prstGeom prst="line">
            <a:avLst/>
          </a:prstGeom>
          <a:ln w="22225">
            <a:solidFill>
              <a:srgbClr val="00FF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8" name="그룹 157"/>
          <p:cNvGrpSpPr/>
          <p:nvPr/>
        </p:nvGrpSpPr>
        <p:grpSpPr>
          <a:xfrm>
            <a:off x="2331719" y="1828800"/>
            <a:ext cx="1874520" cy="960120"/>
            <a:chOff x="2331719" y="1828800"/>
            <a:chExt cx="1874520" cy="960120"/>
          </a:xfrm>
        </p:grpSpPr>
        <p:sp>
          <p:nvSpPr>
            <p:cNvPr id="55" name="Rectangle 54"/>
            <p:cNvSpPr/>
            <p:nvPr/>
          </p:nvSpPr>
          <p:spPr>
            <a:xfrm>
              <a:off x="2331720" y="1828800"/>
              <a:ext cx="1874519" cy="960120"/>
            </a:xfrm>
            <a:prstGeom prst="rect">
              <a:avLst/>
            </a:prstGeom>
            <a:solidFill>
              <a:srgbClr val="111827"/>
            </a:solidFill>
            <a:ln w="22225">
              <a:solidFill>
                <a:srgbClr val="00FF8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331719" y="1832228"/>
              <a:ext cx="1874519" cy="64008"/>
            </a:xfrm>
            <a:prstGeom prst="rect">
              <a:avLst/>
            </a:prstGeom>
            <a:solidFill>
              <a:srgbClr val="00FF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00FF88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331720" y="1975104"/>
              <a:ext cx="1874519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300" b="1">
                  <a:solidFill>
                    <a:srgbClr val="00FF88"/>
                  </a:solidFill>
                  <a:latin typeface="Malgun Gothic"/>
                </a:rPr>
                <a:t>fsm_node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423160" y="2267712"/>
              <a:ext cx="169164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FFFFFF"/>
                  </a:solidFill>
                  <a:latin typeface="Malgun Gothic"/>
                </a:rPr>
                <a:t>모드 판단 · 바이패스
핸드셰이크 (ack 재발행)
모든 전환의 단일 관문</a:t>
              </a:r>
            </a:p>
          </p:txBody>
        </p:sp>
      </p:grpSp>
      <p:cxnSp>
        <p:nvCxnSpPr>
          <p:cNvPr id="132" name="Connector 95"/>
          <p:cNvCxnSpPr/>
          <p:nvPr/>
        </p:nvCxnSpPr>
        <p:spPr>
          <a:xfrm>
            <a:off x="6716268" y="2974470"/>
            <a:ext cx="612648" cy="0"/>
          </a:xfrm>
          <a:prstGeom prst="line">
            <a:avLst/>
          </a:prstGeom>
          <a:ln w="22225">
            <a:solidFill>
              <a:srgbClr val="00C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87"/>
          <p:cNvCxnSpPr/>
          <p:nvPr/>
        </p:nvCxnSpPr>
        <p:spPr>
          <a:xfrm flipH="1">
            <a:off x="3264408" y="2974470"/>
            <a:ext cx="3535724" cy="0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62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688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072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5528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795528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6" name="Shape 44"/>
          <p:cNvSpPr/>
          <p:nvPr/>
        </p:nvSpPr>
        <p:spPr>
          <a:xfrm>
            <a:off x="795528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7" name="Shape 45"/>
          <p:cNvSpPr/>
          <p:nvPr/>
        </p:nvSpPr>
        <p:spPr>
          <a:xfrm>
            <a:off x="795528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8" name="Shape 46"/>
          <p:cNvSpPr/>
          <p:nvPr/>
        </p:nvSpPr>
        <p:spPr>
          <a:xfrm>
            <a:off x="9052560" y="457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2560" y="13716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52560" y="22860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1" name="Shape 49"/>
          <p:cNvSpPr/>
          <p:nvPr/>
        </p:nvSpPr>
        <p:spPr>
          <a:xfrm>
            <a:off x="9052560" y="32004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052560" y="41148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5029200"/>
            <a:ext cx="27432" cy="2743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74320"/>
            <a:ext cx="64008" cy="7315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6" name="Text 54"/>
          <p:cNvSpPr/>
          <p:nvPr/>
        </p:nvSpPr>
        <p:spPr>
          <a:xfrm>
            <a:off x="502920" y="292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21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ROS2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통신모니터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— 15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개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토픽을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한 화면에서 추적한다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274320" y="1143000"/>
            <a:ext cx="8595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3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본문 내용 영역 ]</a:t>
            </a:r>
            <a:endParaRPr lang="en-US" sz="1400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8" y="1145877"/>
            <a:ext cx="8796984" cy="360612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21208" y="372784"/>
            <a:ext cx="82296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800" b="1" smtClean="0">
                <a:solidFill>
                  <a:srgbClr val="00C8FF"/>
                </a:solidFill>
                <a:latin typeface="Malgun Gothic"/>
              </a:rPr>
              <a:t>개발 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인프라   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·   ROS2 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토픽 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· 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노드 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· 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네트워크 통합 진단</a:t>
            </a:r>
            <a:endParaRPr sz="800" b="1">
              <a:solidFill>
                <a:srgbClr val="00C8FF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3900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6"/>
            <a:ext cx="9144000" cy="5103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2986" y="2057401"/>
            <a:ext cx="16954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smtClean="0">
                <a:solidFill>
                  <a:srgbClr val="FFFF00"/>
                </a:solidFill>
                <a:latin typeface="+mj-ea"/>
                <a:ea typeface="+mj-ea"/>
              </a:rPr>
              <a:t>‘</a:t>
            </a:r>
            <a:r>
              <a:rPr lang="ko-KR" altLang="en-US" sz="700" b="1" smtClean="0">
                <a:solidFill>
                  <a:srgbClr val="FFFF00"/>
                </a:solidFill>
                <a:latin typeface="+mj-ea"/>
                <a:ea typeface="+mj-ea"/>
              </a:rPr>
              <a:t>최초 </a:t>
            </a:r>
            <a:r>
              <a:rPr lang="en-US" altLang="ko-KR" sz="700" b="1">
                <a:solidFill>
                  <a:srgbClr val="FFFF00"/>
                </a:solidFill>
                <a:latin typeface="+mj-ea"/>
                <a:ea typeface="+mj-ea"/>
              </a:rPr>
              <a:t>1</a:t>
            </a:r>
            <a:r>
              <a:rPr lang="ko-KR" altLang="en-US" sz="700" b="1" smtClean="0">
                <a:solidFill>
                  <a:srgbClr val="FFFF00"/>
                </a:solidFill>
                <a:latin typeface="+mj-ea"/>
                <a:ea typeface="+mj-ea"/>
              </a:rPr>
              <a:t>인</a:t>
            </a:r>
            <a:r>
              <a:rPr lang="en-US" altLang="ko-KR" sz="700" b="1" smtClean="0">
                <a:solidFill>
                  <a:srgbClr val="FFFF00"/>
                </a:solidFill>
                <a:latin typeface="+mj-ea"/>
                <a:ea typeface="+mj-ea"/>
              </a:rPr>
              <a:t>’</a:t>
            </a:r>
            <a:r>
              <a:rPr lang="ko-KR" altLang="en-US" sz="700" b="1" smtClean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ko-KR" altLang="en-US" sz="700" b="1">
                <a:solidFill>
                  <a:srgbClr val="FFFF00"/>
                </a:solidFill>
                <a:latin typeface="+mj-ea"/>
                <a:ea typeface="+mj-ea"/>
              </a:rPr>
              <a:t>미탐지 시 이탈 상황 인지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3977639"/>
            <a:ext cx="8641080" cy="1024128"/>
          </a:xfrm>
          <a:prstGeom prst="rect">
            <a:avLst/>
          </a:prstGeom>
          <a:solidFill>
            <a:srgbClr val="021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4838" y="4024274"/>
            <a:ext cx="8525865" cy="897026"/>
          </a:xfrm>
          <a:prstGeom prst="roundRect">
            <a:avLst>
              <a:gd name="adj" fmla="val 10000"/>
            </a:avLst>
          </a:prstGeom>
          <a:solidFill>
            <a:srgbClr val="09162A"/>
          </a:solidFill>
          <a:ln w="12700">
            <a:solidFill>
              <a:srgbClr val="41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240" y="4252290"/>
            <a:ext cx="1975104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DD3E8"/>
                </a:solidFill>
                <a:latin typeface="Malgun Gothic"/>
              </a:rPr>
              <a:t>잘못된 </a:t>
            </a:r>
            <a:r>
              <a:rPr sz="1300" b="1" smtClean="0">
                <a:solidFill>
                  <a:srgbClr val="7DD3E8"/>
                </a:solidFill>
                <a:latin typeface="Malgun Gothic"/>
              </a:rPr>
              <a:t>사람을</a:t>
            </a:r>
            <a:r>
              <a:rPr lang="en-US" sz="1300" b="1" smtClean="0">
                <a:solidFill>
                  <a:srgbClr val="7DD3E8"/>
                </a:solidFill>
                <a:latin typeface="Malgun Gothic"/>
              </a:rPr>
              <a:t> </a:t>
            </a:r>
            <a:r>
              <a:rPr sz="1300" b="1" smtClean="0">
                <a:solidFill>
                  <a:srgbClr val="7DD3E8"/>
                </a:solidFill>
                <a:latin typeface="Malgun Gothic"/>
              </a:rPr>
              <a:t>따라가느니</a:t>
            </a:r>
            <a:endParaRPr sz="1300" b="1">
              <a:solidFill>
                <a:srgbClr val="7DD3E8"/>
              </a:solidFill>
              <a:latin typeface="Malgun Gothic"/>
            </a:endParaRPr>
          </a:p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DD3E8"/>
                </a:solidFill>
                <a:latin typeface="Malgun Gothic"/>
              </a:rPr>
              <a:t>차라리 멈춘다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078224"/>
            <a:ext cx="4251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8FA5BE"/>
                </a:solidFill>
                <a:latin typeface="Malgun Gothic"/>
              </a:rPr>
              <a:t>Core KPI   ·   실측 로그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4279392"/>
            <a:ext cx="1325880" cy="566928"/>
          </a:xfrm>
          <a:prstGeom prst="rect">
            <a:avLst/>
          </a:prstGeom>
          <a:solidFill>
            <a:srgbClr val="0E1F38"/>
          </a:solidFill>
          <a:ln w="9525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4306824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smtClean="0">
                <a:solidFill>
                  <a:srgbClr val="FF6B6B"/>
                </a:solidFill>
                <a:latin typeface="Malgun Gothic"/>
              </a:rPr>
              <a:t>0.</a:t>
            </a:r>
            <a:r>
              <a:rPr lang="en-US" sz="1500" b="1" smtClean="0">
                <a:solidFill>
                  <a:srgbClr val="FF6B6B"/>
                </a:solidFill>
                <a:latin typeface="Malgun Gothic"/>
              </a:rPr>
              <a:t>66</a:t>
            </a:r>
            <a:endParaRPr sz="1500" b="1">
              <a:solidFill>
                <a:srgbClr val="FF6B6B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4600" y="4544568"/>
            <a:ext cx="132588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750" b="1" smtClean="0">
                <a:solidFill>
                  <a:srgbClr val="8FA5BE"/>
                </a:solidFill>
                <a:latin typeface="Malgun Gothic"/>
              </a:rPr>
              <a:t>거부 후보</a:t>
            </a:r>
            <a:r>
              <a:rPr sz="750" b="1" smtClean="0">
                <a:solidFill>
                  <a:srgbClr val="8FA5BE"/>
                </a:solidFill>
                <a:latin typeface="Malgun Gothic"/>
              </a:rPr>
              <a:t> </a:t>
            </a:r>
            <a:r>
              <a:rPr sz="750" b="1">
                <a:solidFill>
                  <a:srgbClr val="8FA5BE"/>
                </a:solidFill>
                <a:latin typeface="Malgun Gothic"/>
              </a:rPr>
              <a:t>유사도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681728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627C99"/>
                </a:solidFill>
                <a:latin typeface="Malgun Gothic"/>
              </a:rPr>
              <a:t>게이트 차단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4279392"/>
            <a:ext cx="1325880" cy="566928"/>
          </a:xfrm>
          <a:prstGeom prst="rect">
            <a:avLst/>
          </a:prstGeom>
          <a:solidFill>
            <a:srgbClr val="0E1F38"/>
          </a:solidFill>
          <a:ln w="9525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77639" y="4306824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smtClean="0">
                <a:solidFill>
                  <a:srgbClr val="00FF88"/>
                </a:solidFill>
                <a:latin typeface="Malgun Gothic"/>
              </a:rPr>
              <a:t>0.</a:t>
            </a:r>
            <a:r>
              <a:rPr lang="en-US" sz="1500" b="1" smtClean="0">
                <a:solidFill>
                  <a:srgbClr val="00FF88"/>
                </a:solidFill>
                <a:latin typeface="Malgun Gothic"/>
              </a:rPr>
              <a:t>86</a:t>
            </a:r>
            <a:endParaRPr sz="1500" b="1">
              <a:solidFill>
                <a:srgbClr val="00FF88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77639" y="4544568"/>
            <a:ext cx="132588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8FA5BE"/>
                </a:solidFill>
                <a:latin typeface="Malgun Gothic"/>
              </a:rPr>
              <a:t>본인 </a:t>
            </a:r>
            <a:r>
              <a:rPr lang="ko-KR" altLang="en-US" sz="750" b="1" smtClean="0">
                <a:solidFill>
                  <a:srgbClr val="8FA5BE"/>
                </a:solidFill>
                <a:latin typeface="Malgun Gothic"/>
              </a:rPr>
              <a:t>재식별</a:t>
            </a:r>
            <a:endParaRPr sz="750" b="1">
              <a:solidFill>
                <a:srgbClr val="8FA5BE"/>
              </a:solidFill>
              <a:latin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77639" y="4681728"/>
            <a:ext cx="132588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627C99"/>
                </a:solidFill>
                <a:latin typeface="Malgun Gothic"/>
              </a:rPr>
              <a:t>재식별 </a:t>
            </a:r>
            <a:r>
              <a:rPr lang="en-US" sz="650" b="0" smtClean="0">
                <a:solidFill>
                  <a:srgbClr val="627C99"/>
                </a:solidFill>
                <a:latin typeface="Malgun Gothic"/>
              </a:rPr>
              <a:t>111</a:t>
            </a:r>
            <a:r>
              <a:rPr lang="ko-KR" altLang="en-US" sz="650" b="0" smtClean="0">
                <a:solidFill>
                  <a:srgbClr val="627C99"/>
                </a:solidFill>
                <a:latin typeface="Malgun Gothic"/>
              </a:rPr>
              <a:t>회 실측</a:t>
            </a:r>
            <a:endParaRPr sz="650" b="0">
              <a:solidFill>
                <a:srgbClr val="627C99"/>
              </a:solidFill>
              <a:latin typeface="Malgun Gothi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40679" y="4279392"/>
            <a:ext cx="1325880" cy="566928"/>
          </a:xfrm>
          <a:prstGeom prst="rect">
            <a:avLst/>
          </a:prstGeom>
          <a:solidFill>
            <a:srgbClr val="0E1F38"/>
          </a:solidFill>
          <a:ln w="9525">
            <a:solidFill>
              <a:srgbClr val="24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79" y="4306824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smtClean="0">
                <a:solidFill>
                  <a:srgbClr val="00C8FF"/>
                </a:solidFill>
                <a:latin typeface="Malgun Gothic"/>
              </a:rPr>
              <a:t>0.2</a:t>
            </a:r>
            <a:r>
              <a:rPr lang="en-US" sz="1500" b="1" smtClean="0">
                <a:solidFill>
                  <a:srgbClr val="00C8FF"/>
                </a:solidFill>
                <a:latin typeface="Malgun Gothic"/>
              </a:rPr>
              <a:t>0</a:t>
            </a:r>
            <a:endParaRPr sz="15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40679" y="4544568"/>
            <a:ext cx="132588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750" b="1" smtClean="0">
                <a:solidFill>
                  <a:srgbClr val="8FA5BE"/>
                </a:solidFill>
                <a:latin typeface="Malgun Gothic"/>
              </a:rPr>
              <a:t>중앙값 마진</a:t>
            </a:r>
            <a:endParaRPr sz="750" b="1">
              <a:solidFill>
                <a:srgbClr val="8FA5BE"/>
              </a:solidFill>
              <a:latin typeface="Malgun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40679" y="4681728"/>
            <a:ext cx="132588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650" b="0" smtClean="0">
                <a:solidFill>
                  <a:srgbClr val="627C99"/>
                </a:solidFill>
                <a:latin typeface="Malgun Gothic"/>
              </a:rPr>
              <a:t>본인 </a:t>
            </a:r>
            <a:r>
              <a:rPr lang="en-US" altLang="ko-KR" sz="650" b="0" smtClean="0">
                <a:solidFill>
                  <a:srgbClr val="627C99"/>
                </a:solidFill>
                <a:latin typeface="Malgun Gothic"/>
              </a:rPr>
              <a:t>0.86 – </a:t>
            </a:r>
            <a:r>
              <a:rPr lang="ko-KR" altLang="en-US" sz="650" b="0" smtClean="0">
                <a:solidFill>
                  <a:srgbClr val="627C99"/>
                </a:solidFill>
                <a:latin typeface="Malgun Gothic"/>
              </a:rPr>
              <a:t>후보 </a:t>
            </a:r>
            <a:r>
              <a:rPr lang="en-US" altLang="ko-KR" sz="650" b="0" smtClean="0">
                <a:solidFill>
                  <a:srgbClr val="627C99"/>
                </a:solidFill>
                <a:latin typeface="Malgun Gothic"/>
              </a:rPr>
              <a:t>0.66</a:t>
            </a:r>
            <a:endParaRPr sz="650" b="0">
              <a:solidFill>
                <a:srgbClr val="627C99"/>
              </a:solidFill>
              <a:latin typeface="Malgun Gothic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85829" y="4176035"/>
            <a:ext cx="10972" cy="676656"/>
          </a:xfrm>
          <a:prstGeom prst="rect">
            <a:avLst/>
          </a:prstGeom>
          <a:solidFill>
            <a:srgbClr val="2A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04304" y="4114800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A2A22"/>
          </a:solidFill>
          <a:ln w="19050">
            <a:solidFill>
              <a:srgbClr val="0A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04304" y="4160520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00FF88"/>
                </a:solidFill>
                <a:latin typeface="Malgun Gothic"/>
              </a:rPr>
              <a:t>재락(Re-lock) 성공률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4315968"/>
            <a:ext cx="17373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smtClean="0">
                <a:solidFill>
                  <a:srgbClr val="00FF88"/>
                </a:solidFill>
                <a:latin typeface="Malgun Gothic"/>
              </a:rPr>
              <a:t>9</a:t>
            </a:r>
            <a:r>
              <a:rPr lang="en-US" sz="1900" b="1" smtClean="0">
                <a:solidFill>
                  <a:srgbClr val="00FF88"/>
                </a:solidFill>
                <a:latin typeface="Malgun Gothic"/>
              </a:rPr>
              <a:t>5</a:t>
            </a:r>
            <a:r>
              <a:rPr sz="1900" b="1" smtClean="0">
                <a:solidFill>
                  <a:srgbClr val="00FF88"/>
                </a:solidFill>
                <a:latin typeface="Malgun Gothic"/>
              </a:rPr>
              <a:t>.</a:t>
            </a:r>
            <a:r>
              <a:rPr lang="en-US" sz="1900" b="1" smtClean="0">
                <a:solidFill>
                  <a:srgbClr val="00FF88"/>
                </a:solidFill>
                <a:latin typeface="Malgun Gothic"/>
              </a:rPr>
              <a:t>2</a:t>
            </a:r>
            <a:r>
              <a:rPr sz="1900" b="1" smtClean="0">
                <a:solidFill>
                  <a:srgbClr val="00FF88"/>
                </a:solidFill>
                <a:latin typeface="Malgun Gothic"/>
              </a:rPr>
              <a:t>%</a:t>
            </a:r>
            <a:endParaRPr sz="1900" b="1">
              <a:solidFill>
                <a:srgbClr val="00FF88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04304" y="4626864"/>
            <a:ext cx="1737360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600" smtClean="0">
                <a:solidFill>
                  <a:srgbClr val="627C99"/>
                </a:solidFill>
                <a:latin typeface="Malgun Gothic"/>
              </a:rPr>
              <a:t>msmt17 </a:t>
            </a:r>
            <a:r>
              <a:rPr lang="en-US" sz="600" smtClean="0">
                <a:solidFill>
                  <a:srgbClr val="627C99"/>
                </a:solidFill>
                <a:latin typeface="Malgun Gothic"/>
              </a:rPr>
              <a:t>· 21</a:t>
            </a:r>
            <a:r>
              <a:rPr lang="ko-KR" altLang="en-US" sz="600" smtClean="0">
                <a:solidFill>
                  <a:srgbClr val="627C99"/>
                </a:solidFill>
                <a:latin typeface="Malgun Gothic"/>
              </a:rPr>
              <a:t>회 언락 기준</a:t>
            </a:r>
            <a:r>
              <a:rPr lang="en-US" sz="600" smtClean="0">
                <a:solidFill>
                  <a:srgbClr val="627C99"/>
                </a:solidFill>
                <a:latin typeface="Malgun Gothic"/>
              </a:rPr>
              <a:t> </a:t>
            </a:r>
            <a:endParaRPr sz="600" b="0">
              <a:solidFill>
                <a:srgbClr val="627C99"/>
              </a:solidFill>
              <a:latin typeface="Malgun Gothic"/>
            </a:endParaRPr>
          </a:p>
        </p:txBody>
      </p:sp>
      <p:sp>
        <p:nvSpPr>
          <p:cNvPr id="29" name="Rectangle 23"/>
          <p:cNvSpPr/>
          <p:nvPr/>
        </p:nvSpPr>
        <p:spPr>
          <a:xfrm>
            <a:off x="6885829" y="4096808"/>
            <a:ext cx="10972" cy="676656"/>
          </a:xfrm>
          <a:prstGeom prst="rect">
            <a:avLst/>
          </a:prstGeom>
          <a:solidFill>
            <a:srgbClr val="2A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3"/>
          <p:cNvSpPr/>
          <p:nvPr/>
        </p:nvSpPr>
        <p:spPr>
          <a:xfrm>
            <a:off x="2409772" y="4169342"/>
            <a:ext cx="10972" cy="676656"/>
          </a:xfrm>
          <a:prstGeom prst="rect">
            <a:avLst/>
          </a:prstGeom>
          <a:solidFill>
            <a:srgbClr val="2A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3"/>
          <p:cNvSpPr/>
          <p:nvPr/>
        </p:nvSpPr>
        <p:spPr>
          <a:xfrm>
            <a:off x="2410951" y="4096808"/>
            <a:ext cx="10972" cy="676656"/>
          </a:xfrm>
          <a:prstGeom prst="rect">
            <a:avLst/>
          </a:prstGeom>
          <a:solidFill>
            <a:srgbClr val="2A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직사각형 3"/>
          <p:cNvSpPr/>
          <p:nvPr/>
        </p:nvSpPr>
        <p:spPr>
          <a:xfrm>
            <a:off x="5607050" y="1603375"/>
            <a:ext cx="495300" cy="3587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092" y="2601974"/>
            <a:ext cx="1785937" cy="237334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939" y="3452304"/>
            <a:ext cx="1299211" cy="1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62"/>
    </mc:Choice>
    <mc:Fallback xmlns="">
      <p:transition spd="slow" advTm="4966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888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79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55279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79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7160" y="164592"/>
            <a:ext cx="88696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" y="164592"/>
            <a:ext cx="64008" cy="7772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20116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04   FSM 시스템 부하 최적화   ·   엣지 실시간성 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11480"/>
            <a:ext cx="8229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속도를 포기해 부하를 잡고, </a:t>
            </a:r>
            <a:r>
              <a:rPr sz="1800" b="1" smtClean="0">
                <a:solidFill>
                  <a:srgbClr val="FFFFFF"/>
                </a:solidFill>
                <a:latin typeface="Malgun Gothic"/>
              </a:rPr>
              <a:t>구조를 </a:t>
            </a:r>
            <a:r>
              <a:rPr sz="1800" b="1">
                <a:solidFill>
                  <a:srgbClr val="FFFFFF"/>
                </a:solidFill>
                <a:latin typeface="Malgun Gothic"/>
              </a:rPr>
              <a:t>바꿔 속도를 되찾았다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1051560"/>
            <a:ext cx="4846320" cy="3017520"/>
          </a:xfrm>
          <a:prstGeom prst="rect">
            <a:avLst/>
          </a:prstGeom>
          <a:solidFill>
            <a:srgbClr val="0B1326"/>
          </a:solidFill>
          <a:ln w="9525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7472" y="11612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시스템 루프 주파수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353312"/>
            <a:ext cx="420624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800" b="1" smtClean="0">
                <a:solidFill>
                  <a:srgbClr val="00C8FF"/>
                </a:solidFill>
                <a:latin typeface="Malgun Gothic"/>
              </a:rPr>
              <a:t>목표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(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테두리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)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와 실제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(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채움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)</a:t>
            </a:r>
            <a:r>
              <a:rPr lang="ko-KR" altLang="en-US" sz="800" b="1">
                <a:solidFill>
                  <a:srgbClr val="00C8FF"/>
                </a:solidFill>
                <a:latin typeface="Malgun Gothic"/>
              </a:rPr>
              <a:t>의 차이</a:t>
            </a:r>
            <a:endParaRPr lang="en-US" altLang="ko-KR" sz="8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655064" y="3078480"/>
            <a:ext cx="713232" cy="5486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734056" y="2499360"/>
            <a:ext cx="713232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13048" y="1978152"/>
            <a:ext cx="713232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0" name="그룹 99"/>
          <p:cNvGrpSpPr/>
          <p:nvPr/>
        </p:nvGrpSpPr>
        <p:grpSpPr>
          <a:xfrm>
            <a:off x="384048" y="1632069"/>
            <a:ext cx="4480559" cy="1951910"/>
            <a:chOff x="384048" y="1719406"/>
            <a:chExt cx="4480559" cy="1951910"/>
          </a:xfrm>
        </p:grpSpPr>
        <p:sp>
          <p:nvSpPr>
            <p:cNvPr id="48" name="Rectangle 47"/>
            <p:cNvSpPr/>
            <p:nvPr/>
          </p:nvSpPr>
          <p:spPr>
            <a:xfrm>
              <a:off x="384048" y="3657600"/>
              <a:ext cx="4480559" cy="13716"/>
            </a:xfrm>
            <a:prstGeom prst="rect">
              <a:avLst/>
            </a:prstGeom>
            <a:solidFill>
              <a:srgbClr val="1E2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76072" y="1920240"/>
              <a:ext cx="713232" cy="1737360"/>
            </a:xfrm>
            <a:prstGeom prst="rect">
              <a:avLst/>
            </a:prstGeom>
            <a:noFill/>
            <a:ln w="15875">
              <a:solidFill>
                <a:srgbClr val="CC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76072" y="1719406"/>
              <a:ext cx="713232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1">
                  <a:solidFill>
                    <a:srgbClr val="FF6B6B"/>
                  </a:solidFill>
                  <a:latin typeface="Malgun Gothic"/>
                </a:rPr>
                <a:t>30 Hz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655064" y="3078480"/>
              <a:ext cx="713232" cy="579120"/>
            </a:xfrm>
            <a:prstGeom prst="rect">
              <a:avLst/>
            </a:prstGeom>
            <a:solidFill>
              <a:srgbClr val="0A1A35"/>
            </a:solidFill>
            <a:ln w="15875">
              <a:solidFill>
                <a:srgbClr val="6474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55064" y="2859024"/>
              <a:ext cx="713232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1">
                  <a:solidFill>
                    <a:srgbClr val="64748B"/>
                  </a:solidFill>
                  <a:latin typeface="Malgun Gothic"/>
                </a:rPr>
                <a:t>10 Hz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734056" y="2499360"/>
              <a:ext cx="713232" cy="1158240"/>
            </a:xfrm>
            <a:prstGeom prst="rect">
              <a:avLst/>
            </a:prstGeom>
            <a:solidFill>
              <a:srgbClr val="0A1A35"/>
            </a:solidFill>
            <a:ln w="15875">
              <a:solidFill>
                <a:srgbClr val="FFD6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FFD600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813048" y="1978152"/>
              <a:ext cx="713232" cy="1679447"/>
            </a:xfrm>
            <a:prstGeom prst="rect">
              <a:avLst/>
            </a:prstGeom>
            <a:solidFill>
              <a:srgbClr val="0A1A35"/>
            </a:solidFill>
            <a:ln w="15875">
              <a:solidFill>
                <a:srgbClr val="00FF8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792991" y="1772880"/>
              <a:ext cx="713232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1">
                  <a:solidFill>
                    <a:srgbClr val="00FF88"/>
                  </a:solidFill>
                  <a:latin typeface="Malgun Gothic"/>
                </a:rPr>
                <a:t>29 Hz</a:t>
              </a: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434766" y="3677321"/>
            <a:ext cx="4232715" cy="441748"/>
            <a:chOff x="448056" y="3877056"/>
            <a:chExt cx="4232715" cy="427822"/>
          </a:xfrm>
        </p:grpSpPr>
        <p:sp>
          <p:nvSpPr>
            <p:cNvPr id="52" name="TextBox 51"/>
            <p:cNvSpPr txBox="1"/>
            <p:nvPr/>
          </p:nvSpPr>
          <p:spPr>
            <a:xfrm>
              <a:off x="448056" y="3877056"/>
              <a:ext cx="969264" cy="208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FF6B6B"/>
                  </a:solidFill>
                  <a:latin typeface="Malgun Gothic"/>
                </a:rPr>
                <a:t>콜백 누적</a:t>
              </a:r>
            </a:p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FF6B6B"/>
                  </a:solidFill>
                  <a:latin typeface="Malgun Gothic"/>
                </a:rPr>
                <a:t>CPU </a:t>
              </a:r>
              <a:r>
                <a:rPr lang="en-US" sz="700" smtClean="0">
                  <a:solidFill>
                    <a:srgbClr val="FF6B6B"/>
                  </a:solidFill>
                  <a:latin typeface="Malgun Gothic"/>
                </a:rPr>
                <a:t>470~581</a:t>
              </a:r>
              <a:r>
                <a:rPr sz="700" b="0" smtClean="0">
                  <a:solidFill>
                    <a:srgbClr val="FF6B6B"/>
                  </a:solidFill>
                  <a:latin typeface="Malgun Gothic"/>
                </a:rPr>
                <a:t>%</a:t>
              </a:r>
              <a:endParaRPr sz="700" b="0">
                <a:solidFill>
                  <a:srgbClr val="FF6B6B"/>
                </a:solidFill>
                <a:latin typeface="Malgun Gothic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527048" y="3877056"/>
              <a:ext cx="969264" cy="208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64748B"/>
                  </a:solidFill>
                  <a:latin typeface="Malgun Gothic"/>
                </a:rPr>
                <a:t>부하는 잡힘</a:t>
              </a:r>
            </a:p>
            <a:p>
              <a:pPr algn="ctr">
                <a:spcAft>
                  <a:spcPts val="0"/>
                </a:spcAft>
              </a:pPr>
              <a:r>
                <a:rPr sz="700" b="0">
                  <a:solidFill>
                    <a:srgbClr val="64748B"/>
                  </a:solidFill>
                  <a:latin typeface="Malgun Gothic"/>
                </a:rPr>
                <a:t>반응 굼떠짐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606039" y="4012051"/>
              <a:ext cx="969264" cy="1937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ko-KR" altLang="en-US" sz="650">
                  <a:solidFill>
                    <a:srgbClr val="FFD600"/>
                  </a:solidFill>
                  <a:latin typeface="Malgun Gothic"/>
                </a:rPr>
                <a:t>타이머 </a:t>
              </a:r>
              <a:r>
                <a:rPr lang="en-US" altLang="ko-KR" sz="650">
                  <a:solidFill>
                    <a:srgbClr val="FFD600"/>
                  </a:solidFill>
                  <a:latin typeface="Malgun Gothic"/>
                </a:rPr>
                <a:t>20Hz (50ms)</a:t>
              </a:r>
            </a:p>
            <a:p>
              <a:pPr algn="ctr">
                <a:spcAft>
                  <a:spcPts val="0"/>
                </a:spcAft>
              </a:pPr>
              <a:r>
                <a:rPr lang="ko-KR" altLang="en-US" sz="650">
                  <a:solidFill>
                    <a:srgbClr val="FFD600"/>
                  </a:solidFill>
                  <a:latin typeface="Malgun Gothic"/>
                </a:rPr>
                <a:t>달성률 </a:t>
              </a:r>
              <a:r>
                <a:rPr lang="en-US" altLang="ko-KR" sz="650">
                  <a:solidFill>
                    <a:srgbClr val="FFD600"/>
                  </a:solidFill>
                  <a:latin typeface="Malgun Gothic"/>
                </a:rPr>
                <a:t>55%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711507" y="4014256"/>
              <a:ext cx="969264" cy="2906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ko-KR" altLang="en-US" sz="650" smtClean="0">
                  <a:solidFill>
                    <a:srgbClr val="00FF88"/>
                  </a:solidFill>
                  <a:latin typeface="Malgun Gothic"/>
                </a:rPr>
                <a:t>타이머 </a:t>
              </a:r>
              <a:r>
                <a:rPr lang="en-US" altLang="ko-KR" sz="650">
                  <a:solidFill>
                    <a:srgbClr val="00FF88"/>
                  </a:solidFill>
                  <a:latin typeface="Malgun Gothic"/>
                </a:rPr>
                <a:t>30Hz (33ms)</a:t>
              </a:r>
            </a:p>
            <a:p>
              <a:pPr algn="ctr">
                <a:spcAft>
                  <a:spcPts val="0"/>
                </a:spcAft>
              </a:pPr>
              <a:r>
                <a:rPr lang="ko-KR" altLang="en-US" sz="650">
                  <a:solidFill>
                    <a:srgbClr val="00FF88"/>
                  </a:solidFill>
                  <a:latin typeface="Malgun Gothic"/>
                </a:rPr>
                <a:t>달성률 </a:t>
              </a:r>
              <a:r>
                <a:rPr lang="en-US" altLang="ko-KR" sz="650">
                  <a:solidFill>
                    <a:srgbClr val="00FF88"/>
                  </a:solidFill>
                  <a:latin typeface="Malgun Gothic"/>
                </a:rPr>
                <a:t>96%</a:t>
              </a:r>
            </a:p>
            <a:p>
              <a:pPr algn="ctr">
                <a:spcAft>
                  <a:spcPts val="0"/>
                </a:spcAft>
              </a:pPr>
              <a:endParaRPr sz="650" b="0">
                <a:solidFill>
                  <a:srgbClr val="00FF88"/>
                </a:solidFill>
                <a:latin typeface="Malgun Gothic"/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5166360" y="1051560"/>
            <a:ext cx="3767328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166360" y="1051560"/>
            <a:ext cx="3767328" cy="45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294376" y="1197863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94376" y="12161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C8FF"/>
                </a:solidFill>
                <a:latin typeface="Malgun Gothic"/>
              </a:rPr>
              <a:t>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119786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프레임 다운샘플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0" y="1417319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RealSense 30 → 10 fps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94376" y="1618488"/>
            <a:ext cx="3511296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94376" y="1732787"/>
            <a:ext cx="35112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이미지 처리 연산량 감소   CPU </a:t>
            </a:r>
            <a:r>
              <a:rPr lang="en-US" sz="800" b="1" smtClean="0">
                <a:solidFill>
                  <a:srgbClr val="00C8FF"/>
                </a:solidFill>
                <a:latin typeface="Malgun Gothic"/>
              </a:rPr>
              <a:t>470~581%</a:t>
            </a:r>
            <a:r>
              <a:rPr sz="800" b="1" smtClean="0">
                <a:solidFill>
                  <a:srgbClr val="00C8FF"/>
                </a:solidFill>
                <a:latin typeface="Malgun Gothic"/>
              </a:rPr>
              <a:t> </a:t>
            </a:r>
            <a:r>
              <a:rPr sz="800" b="1">
                <a:solidFill>
                  <a:srgbClr val="00C8FF"/>
                </a:solidFill>
                <a:latin typeface="Malgun Gothic"/>
              </a:rPr>
              <a:t>→ </a:t>
            </a:r>
            <a:r>
              <a:rPr lang="en-US" sz="800" b="1" smtClean="0">
                <a:solidFill>
                  <a:srgbClr val="00C8FF"/>
                </a:solidFill>
                <a:latin typeface="Malgun Gothic"/>
              </a:rPr>
              <a:t>50~70</a:t>
            </a:r>
            <a:r>
              <a:rPr sz="800" b="1" smtClean="0">
                <a:solidFill>
                  <a:srgbClr val="00C8FF"/>
                </a:solidFill>
                <a:latin typeface="Malgun Gothic"/>
              </a:rPr>
              <a:t>%</a:t>
            </a:r>
            <a:endParaRPr sz="8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166360" y="2093976"/>
            <a:ext cx="3767328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166360" y="2093976"/>
            <a:ext cx="3767328" cy="457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294376" y="2240280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94376" y="2258568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0C8FF"/>
                </a:solidFill>
                <a:latin typeface="Malgun Gothic"/>
              </a:rPr>
              <a:t>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23560" y="22402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FP16 양자화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23560" y="2459736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YOLO11n → TensorRT engine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94376" y="2660904"/>
            <a:ext cx="3511296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94376" y="2777123"/>
            <a:ext cx="35112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GPU 추론 가속   Latency 32.2 </a:t>
            </a:r>
            <a:r>
              <a:rPr lang="ko-KR" altLang="en-US" sz="800" b="1" smtClean="0">
                <a:solidFill>
                  <a:srgbClr val="00C8FF"/>
                </a:solidFill>
                <a:latin typeface="Malgun Gothic"/>
              </a:rPr>
              <a:t>→ </a:t>
            </a:r>
            <a:r>
              <a:rPr lang="en-US" altLang="ko-KR" sz="800" b="1" smtClean="0">
                <a:solidFill>
                  <a:srgbClr val="00C8FF"/>
                </a:solidFill>
                <a:latin typeface="Malgun Gothic"/>
              </a:rPr>
              <a:t>14.2 </a:t>
            </a:r>
            <a:r>
              <a:rPr lang="en-US" altLang="ko-KR" sz="800" b="1">
                <a:solidFill>
                  <a:srgbClr val="00C8FF"/>
                </a:solidFill>
                <a:latin typeface="Malgun Gothic"/>
              </a:rPr>
              <a:t>ms (</a:t>
            </a:r>
            <a:r>
              <a:rPr lang="en-US" altLang="ko-KR" sz="800" b="1" smtClean="0">
                <a:solidFill>
                  <a:srgbClr val="00C8FF"/>
                </a:solidFill>
                <a:latin typeface="Malgun Gothic"/>
              </a:rPr>
              <a:t>2.27×)</a:t>
            </a:r>
            <a:endParaRPr sz="8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166360" y="3136392"/>
            <a:ext cx="3767328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166360" y="3136392"/>
            <a:ext cx="3767328" cy="457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294376" y="3282696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294376" y="330098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D600"/>
                </a:solidFill>
                <a:latin typeface="Malgun Gothic"/>
              </a:rPr>
              <a:t>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3560" y="32826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카메라 통합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3560" y="3502152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후방 웹캠 제거 · follow_node 전후방 겸용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94376" y="3703320"/>
            <a:ext cx="3511296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262431" y="3839211"/>
            <a:ext cx="35112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mtClean="0">
                <a:solidFill>
                  <a:srgbClr val="FFD600"/>
                </a:solidFill>
                <a:latin typeface="Malgun Gothic"/>
              </a:rPr>
              <a:t>YOLO</a:t>
            </a:r>
            <a:r>
              <a:rPr lang="en-US" sz="800" b="1" smtClean="0">
                <a:solidFill>
                  <a:srgbClr val="FFD600"/>
                </a:solidFill>
                <a:latin typeface="Malgun Gothic"/>
              </a:rPr>
              <a:t> 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추론</a:t>
            </a:r>
            <a:r>
              <a:rPr sz="800" b="1" smtClean="0">
                <a:solidFill>
                  <a:srgbClr val="FFD600"/>
                </a:solidFill>
                <a:latin typeface="Malgun Gothic"/>
              </a:rPr>
              <a:t> </a:t>
            </a:r>
            <a:r>
              <a:rPr lang="en-US" sz="800" b="1" smtClean="0">
                <a:solidFill>
                  <a:srgbClr val="FFD600"/>
                </a:solidFill>
                <a:latin typeface="Malgun Gothic"/>
              </a:rPr>
              <a:t>2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회 </a:t>
            </a:r>
            <a:r>
              <a:rPr sz="800" b="1" smtClean="0">
                <a:solidFill>
                  <a:srgbClr val="FFD600"/>
                </a:solidFill>
                <a:latin typeface="Malgun Gothic"/>
              </a:rPr>
              <a:t>→ 1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회 </a:t>
            </a:r>
            <a:r>
              <a:rPr lang="en-US" altLang="ko-KR" sz="800" b="1" smtClean="0">
                <a:solidFill>
                  <a:srgbClr val="FFD600"/>
                </a:solidFill>
                <a:latin typeface="Malgun Gothic"/>
              </a:rPr>
              <a:t>| 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타이머 </a:t>
            </a:r>
            <a:r>
              <a:rPr lang="en-US" altLang="ko-KR" sz="800" b="1" smtClean="0">
                <a:solidFill>
                  <a:srgbClr val="FFD600"/>
                </a:solidFill>
                <a:latin typeface="Malgun Gothic"/>
              </a:rPr>
              <a:t>10 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→ </a:t>
            </a:r>
            <a:r>
              <a:rPr lang="en-US" altLang="ko-KR" sz="800" b="1" smtClean="0">
                <a:solidFill>
                  <a:srgbClr val="FFD600"/>
                </a:solidFill>
                <a:latin typeface="Malgun Gothic"/>
              </a:rPr>
              <a:t>20 Hz </a:t>
            </a: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상향</a:t>
            </a:r>
            <a:endParaRPr lang="ko-KR" altLang="en-US" sz="800">
              <a:solidFill>
                <a:srgbClr val="FFD600"/>
              </a:solidFill>
              <a:latin typeface="Malgun Gothic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01168" y="4169663"/>
            <a:ext cx="8732520" cy="438912"/>
          </a:xfrm>
          <a:prstGeom prst="rect">
            <a:avLst/>
          </a:prstGeom>
          <a:solidFill>
            <a:srgbClr val="0A1A35"/>
          </a:solidFill>
          <a:ln w="127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8" name="그룹 117"/>
          <p:cNvGrpSpPr/>
          <p:nvPr/>
        </p:nvGrpSpPr>
        <p:grpSpPr>
          <a:xfrm>
            <a:off x="640005" y="4325344"/>
            <a:ext cx="7772550" cy="131424"/>
            <a:chOff x="673770" y="4318567"/>
            <a:chExt cx="7772550" cy="131424"/>
          </a:xfrm>
        </p:grpSpPr>
        <p:sp>
          <p:nvSpPr>
            <p:cNvPr id="96" name="TextBox 95"/>
            <p:cNvSpPr txBox="1"/>
            <p:nvPr/>
          </p:nvSpPr>
          <p:spPr>
            <a:xfrm>
              <a:off x="673770" y="4318567"/>
              <a:ext cx="786383" cy="1308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50" b="1">
                  <a:solidFill>
                    <a:srgbClr val="00FF88"/>
                  </a:solidFill>
                  <a:latin typeface="Malgun Gothic"/>
                </a:rPr>
                <a:t>최종 안정 상태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527048" y="4326880"/>
              <a:ext cx="6919272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00" b="0">
                  <a:solidFill>
                    <a:srgbClr val="94A3B8"/>
                  </a:solidFill>
                  <a:latin typeface="Malgun Gothic"/>
                </a:rPr>
                <a:t>YOLO11n TensorRT 단일 모델 (전·후방 겸용)   ·   전력 VDD_IN 4.6 W (15 W 모드 여유)   ·   GPU 15~50%   ·   메모리 4.5 / 7.4 GB   ·   Load avg 0.99</a:t>
              </a:r>
            </a:p>
          </p:txBody>
        </p:sp>
      </p:grpSp>
      <p:sp>
        <p:nvSpPr>
          <p:cNvPr id="98" name="Rectangle 97"/>
          <p:cNvSpPr/>
          <p:nvPr/>
        </p:nvSpPr>
        <p:spPr>
          <a:xfrm>
            <a:off x="201168" y="4718304"/>
            <a:ext cx="8732520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168" y="4773168"/>
            <a:ext cx="87325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900" b="1" smtClean="0">
                <a:solidFill>
                  <a:srgbClr val="FFFFFF"/>
                </a:solidFill>
                <a:latin typeface="Malgun Gothic"/>
              </a:rPr>
              <a:t>루프 </a:t>
            </a:r>
            <a:r>
              <a:rPr lang="en-US" altLang="ko-KR" sz="900" b="1" smtClean="0">
                <a:solidFill>
                  <a:srgbClr val="FFFFFF"/>
                </a:solidFill>
                <a:latin typeface="Malgun Gothic"/>
              </a:rPr>
              <a:t>90ms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- 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추론모델 </a:t>
            </a:r>
            <a:r>
              <a:rPr lang="en-US" altLang="ko-KR" sz="900" b="1" smtClean="0">
                <a:solidFill>
                  <a:srgbClr val="FFFFFF"/>
                </a:solidFill>
                <a:latin typeface="Malgun Gothic"/>
              </a:rPr>
              <a:t>14.2ms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= 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후처리 </a:t>
            </a:r>
            <a:r>
              <a:rPr lang="en-US" altLang="ko-KR" sz="900" b="1" smtClean="0">
                <a:solidFill>
                  <a:srgbClr val="FFFFFF"/>
                </a:solidFill>
                <a:latin typeface="Malgun Gothic"/>
              </a:rPr>
              <a:t>75.8ms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— 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병목은 모델이 아니라 후처리 구조에 있었다</a:t>
            </a:r>
            <a:endParaRPr sz="900" b="1">
              <a:solidFill>
                <a:srgbClr val="FFFFFF"/>
              </a:solidFill>
              <a:latin typeface="Malgun Gothic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1355598" y="3158109"/>
            <a:ext cx="242316" cy="237744"/>
            <a:chOff x="1357884" y="2527458"/>
            <a:chExt cx="242316" cy="237744"/>
          </a:xfrm>
        </p:grpSpPr>
        <p:sp>
          <p:nvSpPr>
            <p:cNvPr id="106" name="Rectangle 64"/>
            <p:cNvSpPr/>
            <p:nvPr/>
          </p:nvSpPr>
          <p:spPr>
            <a:xfrm>
              <a:off x="1357884" y="2527458"/>
              <a:ext cx="237744" cy="237744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0A1A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362456" y="2578322"/>
              <a:ext cx="23774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/>
                </a:rPr>
                <a:t>▶</a:t>
              </a: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2432685" y="2872271"/>
            <a:ext cx="242316" cy="237744"/>
            <a:chOff x="1357884" y="2527458"/>
            <a:chExt cx="242316" cy="237744"/>
          </a:xfrm>
        </p:grpSpPr>
        <p:sp>
          <p:nvSpPr>
            <p:cNvPr id="113" name="Rectangle 64"/>
            <p:cNvSpPr/>
            <p:nvPr/>
          </p:nvSpPr>
          <p:spPr>
            <a:xfrm>
              <a:off x="1357884" y="2527458"/>
              <a:ext cx="237744" cy="237744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0A1A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362456" y="2578322"/>
              <a:ext cx="23774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/>
                </a:rPr>
                <a:t>▶</a:t>
              </a:r>
            </a:p>
          </p:txBody>
        </p:sp>
      </p:grpSp>
      <p:grpSp>
        <p:nvGrpSpPr>
          <p:cNvPr id="115" name="그룹 114"/>
          <p:cNvGrpSpPr/>
          <p:nvPr/>
        </p:nvGrpSpPr>
        <p:grpSpPr>
          <a:xfrm>
            <a:off x="3504864" y="2616239"/>
            <a:ext cx="242316" cy="237744"/>
            <a:chOff x="1357884" y="2527458"/>
            <a:chExt cx="242316" cy="237744"/>
          </a:xfrm>
        </p:grpSpPr>
        <p:sp>
          <p:nvSpPr>
            <p:cNvPr id="116" name="Rectangle 64"/>
            <p:cNvSpPr/>
            <p:nvPr/>
          </p:nvSpPr>
          <p:spPr>
            <a:xfrm>
              <a:off x="1357884" y="2527458"/>
              <a:ext cx="237744" cy="237744"/>
            </a:xfrm>
            <a:prstGeom prst="rect">
              <a:avLst/>
            </a:prstGeom>
            <a:solidFill>
              <a:srgbClr val="0A1A35"/>
            </a:solidFill>
            <a:ln w="9525">
              <a:solidFill>
                <a:srgbClr val="0A1A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362456" y="2578322"/>
              <a:ext cx="23774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Malgun Gothic"/>
                </a:rPr>
                <a:t>▶</a:t>
              </a: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484632" y="2616942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6B6B"/>
                </a:solidFill>
                <a:latin typeface="Malgun Gothic"/>
              </a:rPr>
              <a:t>시도 · 실패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65692" y="3218025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algun Gothic"/>
              </a:rPr>
              <a:t>강제 감속</a:t>
            </a:r>
          </a:p>
        </p:txBody>
      </p:sp>
      <p:sp>
        <p:nvSpPr>
          <p:cNvPr id="109" name="Rectangle 61"/>
          <p:cNvSpPr/>
          <p:nvPr/>
        </p:nvSpPr>
        <p:spPr>
          <a:xfrm>
            <a:off x="2734056" y="2880359"/>
            <a:ext cx="713232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734056" y="2674620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D600"/>
                </a:solidFill>
                <a:latin typeface="Malgun Gothic"/>
              </a:rPr>
              <a:t>11.1 Hz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3454" y="1590457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64748B"/>
                </a:solidFill>
                <a:latin typeface="Malgun Gothic"/>
              </a:rPr>
              <a:t>설정 30 Hz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92749" y="2270863"/>
            <a:ext cx="100584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64748B"/>
                </a:solidFill>
                <a:latin typeface="Malgun Gothic"/>
              </a:rPr>
              <a:t>설정 </a:t>
            </a:r>
            <a:r>
              <a:rPr lang="en-US" sz="650" b="0" smtClean="0">
                <a:solidFill>
                  <a:srgbClr val="64748B"/>
                </a:solidFill>
                <a:latin typeface="Malgun Gothic"/>
              </a:rPr>
              <a:t>2</a:t>
            </a:r>
            <a:r>
              <a:rPr sz="650" b="0" smtClean="0">
                <a:solidFill>
                  <a:srgbClr val="64748B"/>
                </a:solidFill>
                <a:latin typeface="Malgun Gothic"/>
              </a:rPr>
              <a:t>0 </a:t>
            </a:r>
            <a:r>
              <a:rPr sz="650" b="0">
                <a:solidFill>
                  <a:srgbClr val="64748B"/>
                </a:solidFill>
                <a:latin typeface="Malgun Gothic"/>
              </a:rPr>
              <a:t>Hz</a:t>
            </a:r>
          </a:p>
        </p:txBody>
      </p:sp>
      <p:sp>
        <p:nvSpPr>
          <p:cNvPr id="126" name="Rectangle 68"/>
          <p:cNvSpPr/>
          <p:nvPr/>
        </p:nvSpPr>
        <p:spPr>
          <a:xfrm>
            <a:off x="3803930" y="1942374"/>
            <a:ext cx="713232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636572" y="3647986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smtClean="0">
                <a:solidFill>
                  <a:srgbClr val="FFD600"/>
                </a:solidFill>
                <a:latin typeface="Malgun Gothic"/>
              </a:rPr>
              <a:t>Python</a:t>
            </a:r>
            <a:endParaRPr sz="800" b="1">
              <a:solidFill>
                <a:srgbClr val="FFD600"/>
              </a:solidFill>
              <a:latin typeface="Malgun Gothic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695532" y="3650976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0FF88"/>
                </a:solidFill>
                <a:latin typeface="Malgun Gothic"/>
              </a:rPr>
              <a:t>C</a:t>
            </a:r>
            <a:r>
              <a:rPr sz="800" b="1" smtClean="0">
                <a:solidFill>
                  <a:srgbClr val="00FF88"/>
                </a:solidFill>
                <a:latin typeface="Malgun Gothic"/>
              </a:rPr>
              <a:t>++</a:t>
            </a:r>
            <a:endParaRPr sz="800" b="1">
              <a:solidFill>
                <a:srgbClr val="00FF88"/>
              </a:solidFill>
              <a:latin typeface="Malgun Gothic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2642616" y="3174807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b="1" smtClean="0">
                <a:solidFill>
                  <a:srgbClr val="FFD600"/>
                </a:solidFill>
                <a:latin typeface="Malgun Gothic"/>
              </a:rPr>
              <a:t>회복 시도</a:t>
            </a:r>
            <a:endParaRPr sz="800" b="1">
              <a:solidFill>
                <a:srgbClr val="FFD600"/>
              </a:solidFill>
              <a:latin typeface="Malgun Gothic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734793" y="2728892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800" b="1" smtClean="0">
                <a:solidFill>
                  <a:srgbClr val="00FF88"/>
                </a:solidFill>
                <a:latin typeface="Malgun Gothic"/>
              </a:rPr>
              <a:t>병목 제거</a:t>
            </a:r>
            <a:endParaRPr sz="800" b="1">
              <a:solidFill>
                <a:srgbClr val="00FF88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4972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79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55279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7160" y="164592"/>
            <a:ext cx="88696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" y="164592"/>
            <a:ext cx="64008" cy="7772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20116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05   Vision 인지 파이프라인 고도화   ·   Re-ID 견고성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11480"/>
            <a:ext cx="6858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측정이 한계를 드러냈고, </a:t>
            </a:r>
            <a:r>
              <a:rPr sz="1800" b="1" smtClean="0">
                <a:solidFill>
                  <a:srgbClr val="FFFFFF"/>
                </a:solidFill>
                <a:latin typeface="Malgun Gothic"/>
              </a:rPr>
              <a:t>구조를 </a:t>
            </a:r>
            <a:r>
              <a:rPr sz="1800" b="1">
                <a:solidFill>
                  <a:srgbClr val="FFFFFF"/>
                </a:solidFill>
                <a:latin typeface="Malgun Gothic"/>
              </a:rPr>
              <a:t>바꿔서 넘어섰다</a:t>
            </a:r>
          </a:p>
        </p:txBody>
      </p:sp>
      <p:pic>
        <p:nvPicPr>
          <p:cNvPr id="45" name="Picture 44" descr="rei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346" y="299466"/>
            <a:ext cx="1684894" cy="64236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201168" y="1051560"/>
            <a:ext cx="4315968" cy="1920240"/>
          </a:xfrm>
          <a:prstGeom prst="rect">
            <a:avLst/>
          </a:prstGeom>
          <a:solidFill>
            <a:srgbClr val="111827"/>
          </a:solidFill>
          <a:ln w="1587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01168" y="1051560"/>
            <a:ext cx="4315968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7472" y="1179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C8FF"/>
                </a:solidFill>
                <a:latin typeface="Malgun Gothic"/>
              </a:rPr>
              <a:t>①  재식별 도입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31135" y="1207007"/>
            <a:ext cx="21396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V1  ·  OSNet + 색상 게이트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1435607"/>
            <a:ext cx="4023359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7472" y="153619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진단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1536192"/>
            <a:ext cx="35844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BoT-SORT 기본 트래커 — 끼어들기 · 가림에 타깃 끊김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1828800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적용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1828800"/>
            <a:ext cx="3584448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DeepOCSORT + OSNet_x0_25_msmt17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max_age 30 → 300 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(</a:t>
            </a:r>
            <a:r>
              <a:rPr lang="en-US" sz="800" b="0" smtClean="0">
                <a:solidFill>
                  <a:srgbClr val="94A3B8"/>
                </a:solidFill>
                <a:latin typeface="Malgun Gothic"/>
              </a:rPr>
              <a:t>300</a:t>
            </a:r>
            <a:r>
              <a:rPr lang="ko-KR" altLang="en-US" sz="800" b="0" smtClean="0">
                <a:solidFill>
                  <a:srgbClr val="94A3B8"/>
                </a:solidFill>
                <a:latin typeface="Malgun Gothic"/>
              </a:rPr>
              <a:t>프레임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 </a:t>
            </a:r>
            <a:r>
              <a:rPr sz="800" b="0">
                <a:solidFill>
                  <a:srgbClr val="94A3B8"/>
                </a:solidFill>
                <a:latin typeface="Malgun Gothic"/>
              </a:rPr>
              <a:t>유지)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" y="2304288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한계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" y="2304288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F6B6B"/>
                </a:solidFill>
                <a:latin typeface="Malgun Gothic"/>
              </a:rPr>
              <a:t>부분 가림은 버팀. 완전 가림 시 락 해제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FF6B6B"/>
                </a:solidFill>
                <a:latin typeface="Malgun Gothic"/>
              </a:rPr>
              <a:t>같은 옷색 · 조명 변화 → 색상 게이트 무력화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26864" y="1051560"/>
            <a:ext cx="4315968" cy="1920240"/>
          </a:xfrm>
          <a:prstGeom prst="rect">
            <a:avLst/>
          </a:prstGeom>
          <a:solidFill>
            <a:srgbClr val="111827"/>
          </a:solidFill>
          <a:ln w="1587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26864" y="1051560"/>
            <a:ext cx="4315968" cy="54864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73168" y="1179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D600"/>
                </a:solidFill>
                <a:latin typeface="Malgun Gothic"/>
              </a:rPr>
              <a:t>②  오인식 방지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1" y="1207007"/>
            <a:ext cx="21396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7A99BB"/>
                </a:solidFill>
                <a:latin typeface="Malgun Gothic"/>
              </a:rPr>
              <a:t>V2  ·  CLIP-ReID + 3중 게이트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73168" y="1435607"/>
            <a:ext cx="4023359" cy="18288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73168" y="153619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D600"/>
                </a:solidFill>
                <a:latin typeface="Malgun Gothic"/>
              </a:rPr>
              <a:t>진단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93792" y="1536192"/>
            <a:ext cx="3584448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측정 결과 </a:t>
            </a:r>
            <a:r>
              <a:rPr lang="ko-KR" altLang="en-US" sz="800" b="0" smtClean="0">
                <a:solidFill>
                  <a:srgbClr val="94A3B8"/>
                </a:solidFill>
                <a:latin typeface="Malgun Gothic"/>
              </a:rPr>
              <a:t>거부된 후보 유사도가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 </a:t>
            </a:r>
            <a:r>
              <a:rPr sz="800" b="0">
                <a:solidFill>
                  <a:srgbClr val="94A3B8"/>
                </a:solidFill>
                <a:latin typeface="Malgun Gothic"/>
              </a:rPr>
              <a:t>0.94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까지</a:t>
            </a:r>
            <a:endParaRPr sz="800" b="0">
              <a:solidFill>
                <a:srgbClr val="94A3B8"/>
              </a:solidFill>
              <a:latin typeface="Malgun Gothic"/>
            </a:endParaRP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Re-ID 점수 단독으로는 타인 분리 불가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3168" y="1934463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D600"/>
                </a:solidFill>
                <a:latin typeface="Malgun Gothic"/>
              </a:rPr>
              <a:t>적용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93792" y="1934463"/>
            <a:ext cx="3584448" cy="394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OSNet → CLIP-ReID (msmt17) 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교체</a:t>
            </a:r>
            <a:endParaRPr lang="en-US" sz="800" b="0" smtClean="0">
              <a:solidFill>
                <a:srgbClr val="94A3B8"/>
              </a:solidFill>
              <a:latin typeface="Malgun Gothic"/>
            </a:endParaRPr>
          </a:p>
          <a:p>
            <a:pPr>
              <a:spcAft>
                <a:spcPts val="100"/>
              </a:spcAft>
            </a:pPr>
            <a:r>
              <a:rPr lang="ko-KR" altLang="en-US" sz="800">
                <a:solidFill>
                  <a:srgbClr val="94A3B8"/>
                </a:solidFill>
                <a:latin typeface="Malgun Gothic"/>
              </a:rPr>
              <a:t>실내 포함 대규모 학습 </a:t>
            </a:r>
            <a:r>
              <a:rPr lang="en-US" altLang="ko-KR" sz="800">
                <a:solidFill>
                  <a:srgbClr val="94A3B8"/>
                </a:solidFill>
                <a:latin typeface="Malgun Gothic"/>
              </a:rPr>
              <a:t>(4,101</a:t>
            </a:r>
            <a:r>
              <a:rPr lang="ko-KR" altLang="en-US" sz="800">
                <a:solidFill>
                  <a:srgbClr val="94A3B8"/>
                </a:solidFill>
                <a:latin typeface="Malgun Gothic"/>
              </a:rPr>
              <a:t>명 </a:t>
            </a:r>
            <a:r>
              <a:rPr lang="en-US" altLang="ko-KR" sz="800">
                <a:solidFill>
                  <a:srgbClr val="94A3B8"/>
                </a:solidFill>
                <a:latin typeface="Malgun Gothic"/>
              </a:rPr>
              <a:t>/ 126K) — </a:t>
            </a:r>
            <a:r>
              <a:rPr lang="ko-KR" altLang="en-US" sz="800">
                <a:solidFill>
                  <a:srgbClr val="94A3B8"/>
                </a:solidFill>
                <a:latin typeface="Malgun Gothic"/>
              </a:rPr>
              <a:t>리테일 환경에 근접</a:t>
            </a:r>
            <a:endParaRPr sz="800" b="0">
              <a:solidFill>
                <a:srgbClr val="94A3B8"/>
              </a:solidFill>
              <a:latin typeface="Malgun Gothic"/>
            </a:endParaRP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방향(side) + 거리(dist) + 색상(HSV) 3중 게이트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73168" y="2505290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D600"/>
                </a:solidFill>
                <a:latin typeface="Malgun Gothic"/>
              </a:rPr>
              <a:t>효과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93792" y="2506060"/>
            <a:ext cx="3584448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00FF88"/>
                </a:solidFill>
                <a:latin typeface="Malgun Gothic"/>
              </a:rPr>
              <a:t>완전 가림 후에도 재락 성공</a:t>
            </a:r>
          </a:p>
          <a:p>
            <a:pPr algn="l">
              <a:spcAft>
                <a:spcPts val="100"/>
              </a:spcAft>
            </a:pPr>
            <a:r>
              <a:rPr lang="ko-KR" altLang="en-US" sz="800" smtClean="0">
                <a:solidFill>
                  <a:srgbClr val="00FF88"/>
                </a:solidFill>
                <a:latin typeface="Malgun Gothic"/>
              </a:rPr>
              <a:t>거부 판정</a:t>
            </a:r>
            <a:r>
              <a:rPr sz="800" b="0" smtClean="0">
                <a:solidFill>
                  <a:srgbClr val="00FF88"/>
                </a:solidFill>
                <a:latin typeface="Malgun Gothic"/>
              </a:rPr>
              <a:t> 5,988</a:t>
            </a:r>
            <a:r>
              <a:rPr lang="ko-KR" altLang="en-US" sz="800" b="0" smtClean="0">
                <a:solidFill>
                  <a:srgbClr val="00FF88"/>
                </a:solidFill>
                <a:latin typeface="Malgun Gothic"/>
              </a:rPr>
              <a:t>회</a:t>
            </a:r>
            <a:r>
              <a:rPr sz="800" b="0" smtClean="0">
                <a:solidFill>
                  <a:srgbClr val="00FF88"/>
                </a:solidFill>
                <a:latin typeface="Malgun Gothic"/>
              </a:rPr>
              <a:t> </a:t>
            </a:r>
            <a:r>
              <a:rPr lang="en-US" sz="800" b="0" smtClean="0">
                <a:solidFill>
                  <a:srgbClr val="00FF88"/>
                </a:solidFill>
                <a:latin typeface="Malgun Gothic"/>
              </a:rPr>
              <a:t>( </a:t>
            </a:r>
            <a:r>
              <a:rPr lang="en-US" sz="800" smtClean="0">
                <a:solidFill>
                  <a:srgbClr val="00FF88"/>
                </a:solidFill>
                <a:latin typeface="Malgun Gothic"/>
              </a:rPr>
              <a:t>ID 49</a:t>
            </a:r>
            <a:r>
              <a:rPr lang="ko-KR" altLang="en-US" sz="800" smtClean="0">
                <a:solidFill>
                  <a:srgbClr val="00FF88"/>
                </a:solidFill>
                <a:latin typeface="Malgun Gothic"/>
              </a:rPr>
              <a:t>개 </a:t>
            </a:r>
            <a:r>
              <a:rPr lang="en-US" altLang="ko-KR" sz="800" smtClean="0">
                <a:solidFill>
                  <a:srgbClr val="00FF88"/>
                </a:solidFill>
                <a:latin typeface="Malgun Gothic"/>
              </a:rPr>
              <a:t>) </a:t>
            </a:r>
            <a:r>
              <a:rPr sz="800" b="0" smtClean="0">
                <a:solidFill>
                  <a:srgbClr val="00FF88"/>
                </a:solidFill>
                <a:latin typeface="Malgun Gothic"/>
              </a:rPr>
              <a:t>— </a:t>
            </a:r>
            <a:r>
              <a:rPr sz="800" b="0">
                <a:solidFill>
                  <a:srgbClr val="00FF88"/>
                </a:solidFill>
                <a:latin typeface="Malgun Gothic"/>
              </a:rPr>
              <a:t>색상 57% · 거리 23% · 방향 20%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201168" y="3154680"/>
            <a:ext cx="8732520" cy="1380744"/>
            <a:chOff x="201168" y="3127248"/>
            <a:chExt cx="8732520" cy="1380744"/>
          </a:xfrm>
        </p:grpSpPr>
        <p:sp>
          <p:nvSpPr>
            <p:cNvPr id="9" name="Rectangle 8"/>
            <p:cNvSpPr/>
            <p:nvPr/>
          </p:nvSpPr>
          <p:spPr>
            <a:xfrm>
              <a:off x="137160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6888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46888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6616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56616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6344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6344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76072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6072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0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858000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55279" y="32918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955279" y="4206240"/>
              <a:ext cx="27432" cy="27432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01168" y="3127248"/>
              <a:ext cx="8732520" cy="45720"/>
            </a:xfrm>
            <a:prstGeom prst="rect">
              <a:avLst/>
            </a:prstGeom>
            <a:solidFill>
              <a:srgbClr val="00C8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01168" y="3172968"/>
              <a:ext cx="8732520" cy="237744"/>
            </a:xfrm>
            <a:prstGeom prst="rect">
              <a:avLst/>
            </a:prstGeom>
            <a:solidFill>
              <a:srgbClr val="0A1828"/>
            </a:solidFill>
            <a:ln w="635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01168" y="3227832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50" b="1">
                  <a:solidFill>
                    <a:srgbClr val="7A99BB"/>
                  </a:solidFill>
                  <a:latin typeface="Malgun Gothic"/>
                </a:rPr>
                <a:t>구 분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61288" y="3227832"/>
              <a:ext cx="3246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50" b="1">
                  <a:solidFill>
                    <a:srgbClr val="7A99BB"/>
                  </a:solidFill>
                  <a:latin typeface="Malgun Gothic"/>
                </a:rPr>
                <a:t>지 표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407408" y="3227832"/>
              <a:ext cx="14173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50" b="1">
                  <a:solidFill>
                    <a:srgbClr val="7A99BB"/>
                  </a:solidFill>
                  <a:latin typeface="Malgun Gothic"/>
                </a:rPr>
                <a:t>목 표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824728" y="3227832"/>
              <a:ext cx="310896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50" b="1">
                  <a:solidFill>
                    <a:srgbClr val="00C8FF"/>
                  </a:solidFill>
                  <a:latin typeface="Malgun Gothic"/>
                </a:rPr>
                <a:t>측정 · 현황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01168" y="3410712"/>
              <a:ext cx="8732520" cy="219456"/>
            </a:xfrm>
            <a:prstGeom prst="rect">
              <a:avLst/>
            </a:prstGeom>
            <a:solidFill>
              <a:srgbClr val="0D1E30"/>
            </a:solidFill>
            <a:ln w="508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01168" y="3456432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FF88"/>
                  </a:solidFill>
                  <a:latin typeface="Malgun Gothic"/>
                </a:rPr>
                <a:t>견고성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252728" y="3456432"/>
              <a:ext cx="3063239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00" b="0">
                  <a:solidFill>
                    <a:srgbClr val="94A3B8"/>
                  </a:solidFill>
                  <a:latin typeface="Malgun Gothic"/>
                </a:rPr>
                <a:t>완전 가림 · 이탈 후 RELOCK 성공률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407408" y="3456432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0">
                  <a:solidFill>
                    <a:srgbClr val="64748B"/>
                  </a:solidFill>
                  <a:latin typeface="Malgun Gothic"/>
                </a:rPr>
                <a:t>≥ 90%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824728" y="3456432"/>
              <a:ext cx="310896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FF88"/>
                  </a:solidFill>
                  <a:latin typeface="Malgun Gothic"/>
                </a:rPr>
                <a:t>95.2%  (20/21)  ✓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01168" y="3630168"/>
              <a:ext cx="8732520" cy="219456"/>
            </a:xfrm>
            <a:prstGeom prst="rect">
              <a:avLst/>
            </a:prstGeom>
            <a:solidFill>
              <a:srgbClr val="111827"/>
            </a:solidFill>
            <a:ln w="508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01168" y="3675887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FF88"/>
                  </a:solidFill>
                  <a:latin typeface="Malgun Gothic"/>
                </a:rPr>
                <a:t>견고성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252728" y="3675887"/>
              <a:ext cx="3063239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800" b="0">
                  <a:solidFill>
                    <a:srgbClr val="94A3B8"/>
                  </a:solidFill>
                  <a:latin typeface="Malgun Gothic"/>
                </a:rPr>
                <a:t>본인 재식별 유사도 (CLIP sim)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407408" y="3675887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0">
                  <a:solidFill>
                    <a:srgbClr val="64748B"/>
                  </a:solidFill>
                  <a:latin typeface="Malgun Gothic"/>
                </a:rPr>
                <a:t>≥ 0.6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24728" y="3675887"/>
              <a:ext cx="310896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FF88"/>
                  </a:solidFill>
                  <a:latin typeface="Malgun Gothic"/>
                </a:rPr>
                <a:t>중앙 0.86  </a:t>
              </a: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(111</a:t>
              </a:r>
              <a:r>
                <a:rPr lang="ko-KR" altLang="en-US" sz="800" b="1" smtClean="0">
                  <a:solidFill>
                    <a:srgbClr val="00FF88"/>
                  </a:solidFill>
                  <a:latin typeface="Malgun Gothic"/>
                </a:rPr>
                <a:t>회</a:t>
              </a: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)  </a:t>
              </a:r>
              <a:r>
                <a:rPr sz="800" b="1">
                  <a:solidFill>
                    <a:srgbClr val="00FF88"/>
                  </a:solidFill>
                  <a:latin typeface="Malgun Gothic"/>
                </a:rPr>
                <a:t>✓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01168" y="3849624"/>
              <a:ext cx="8732520" cy="219456"/>
            </a:xfrm>
            <a:prstGeom prst="rect">
              <a:avLst/>
            </a:prstGeom>
            <a:solidFill>
              <a:srgbClr val="0D1E30"/>
            </a:solidFill>
            <a:ln w="508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01168" y="3895344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FF88"/>
                  </a:solidFill>
                  <a:latin typeface="Malgun Gothic"/>
                </a:rPr>
                <a:t>견고성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252728" y="3895344"/>
              <a:ext cx="3063239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lang="ko-KR" altLang="en-US" sz="800" smtClean="0">
                  <a:solidFill>
                    <a:srgbClr val="94A3B8"/>
                  </a:solidFill>
                  <a:latin typeface="Malgun Gothic"/>
                </a:rPr>
                <a:t>후보 거부</a:t>
              </a:r>
              <a:r>
                <a:rPr sz="800" b="0" smtClean="0">
                  <a:solidFill>
                    <a:srgbClr val="94A3B8"/>
                  </a:solidFill>
                  <a:latin typeface="Malgun Gothic"/>
                </a:rPr>
                <a:t> </a:t>
              </a:r>
              <a:r>
                <a:rPr sz="800" b="0">
                  <a:solidFill>
                    <a:srgbClr val="94A3B8"/>
                  </a:solidFill>
                  <a:latin typeface="Malgun Gothic"/>
                </a:rPr>
                <a:t>(3중 게이트 누적)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407408" y="3895344"/>
              <a:ext cx="14173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0">
                  <a:solidFill>
                    <a:srgbClr val="64748B"/>
                  </a:solidFill>
                  <a:latin typeface="Malgun Gothic"/>
                </a:rPr>
                <a:t>—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824728" y="3895344"/>
              <a:ext cx="310896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5,988</a:t>
              </a:r>
              <a:r>
                <a:rPr lang="ko-KR" altLang="en-US" sz="800" b="1" smtClean="0">
                  <a:solidFill>
                    <a:srgbClr val="00FF88"/>
                  </a:solidFill>
                  <a:latin typeface="Malgun Gothic"/>
                </a:rPr>
                <a:t>회 거부</a:t>
              </a: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 </a:t>
              </a:r>
              <a:r>
                <a:rPr lang="en-US" altLang="ko-KR" sz="800" b="1" smtClean="0">
                  <a:solidFill>
                    <a:srgbClr val="00FF88"/>
                  </a:solidFill>
                  <a:latin typeface="Malgun Gothic"/>
                </a:rPr>
                <a:t>·</a:t>
              </a: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 </a:t>
              </a:r>
              <a:r>
                <a:rPr lang="en-US" sz="800" b="1" smtClean="0">
                  <a:solidFill>
                    <a:srgbClr val="00FF88"/>
                  </a:solidFill>
                  <a:latin typeface="Malgun Gothic"/>
                </a:rPr>
                <a:t>ID 49</a:t>
              </a:r>
              <a:r>
                <a:rPr lang="ko-KR" altLang="en-US" sz="800" b="1" smtClean="0">
                  <a:solidFill>
                    <a:srgbClr val="00FF88"/>
                  </a:solidFill>
                  <a:latin typeface="Malgun Gothic"/>
                </a:rPr>
                <a:t>개</a:t>
              </a:r>
              <a:r>
                <a:rPr sz="800" b="1" smtClean="0">
                  <a:solidFill>
                    <a:srgbClr val="00FF88"/>
                  </a:solidFill>
                  <a:latin typeface="Malgun Gothic"/>
                </a:rPr>
                <a:t>  </a:t>
              </a:r>
              <a:r>
                <a:rPr sz="800" b="1">
                  <a:solidFill>
                    <a:srgbClr val="00FF88"/>
                  </a:solidFill>
                  <a:latin typeface="Malgun Gothic"/>
                </a:rPr>
                <a:t>✓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01168" y="4069080"/>
              <a:ext cx="8732520" cy="219456"/>
            </a:xfrm>
            <a:prstGeom prst="rect">
              <a:avLst/>
            </a:prstGeom>
            <a:solidFill>
              <a:srgbClr val="111827"/>
            </a:solidFill>
            <a:ln w="508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01168" y="4114800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C8FF"/>
                  </a:solidFill>
                  <a:latin typeface="Malgun Gothic"/>
                </a:rPr>
                <a:t>가속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252728" y="4114800"/>
              <a:ext cx="3063239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ko-KR" altLang="en-US" sz="800">
                  <a:solidFill>
                    <a:srgbClr val="94A3B8"/>
                  </a:solidFill>
                  <a:latin typeface="Malgun Gothic"/>
                </a:rPr>
                <a:t>추론 </a:t>
              </a:r>
              <a:r>
                <a:rPr lang="en-US" altLang="ko-KR" sz="800">
                  <a:solidFill>
                    <a:srgbClr val="94A3B8"/>
                  </a:solidFill>
                  <a:latin typeface="Malgun Gothic"/>
                </a:rPr>
                <a:t>Latency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407408" y="4114800"/>
              <a:ext cx="141732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ko-KR" sz="800">
                  <a:solidFill>
                    <a:srgbClr val="64748B"/>
                  </a:solidFill>
                  <a:latin typeface="Malgun Gothic"/>
                </a:rPr>
                <a:t>&lt; 35 ms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824728" y="4114800"/>
              <a:ext cx="310896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ko-KR" sz="800" b="1">
                  <a:solidFill>
                    <a:srgbClr val="00C8FF"/>
                  </a:solidFill>
                  <a:latin typeface="Malgun Gothic"/>
                </a:rPr>
                <a:t>32.2 → 14.2 ms  (2.27×)  ✓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01168" y="4288536"/>
              <a:ext cx="8732520" cy="219456"/>
            </a:xfrm>
            <a:prstGeom prst="rect">
              <a:avLst/>
            </a:prstGeom>
            <a:solidFill>
              <a:srgbClr val="0D1E30"/>
            </a:solidFill>
            <a:ln w="5080">
              <a:solidFill>
                <a:srgbClr val="1E2D4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01168" y="4334256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800" b="1">
                  <a:solidFill>
                    <a:srgbClr val="00C8FF"/>
                  </a:solidFill>
                  <a:latin typeface="Malgun Gothic"/>
                </a:rPr>
                <a:t>가속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252728" y="4334256"/>
              <a:ext cx="3063239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ko-KR" altLang="en-US" sz="800">
                  <a:solidFill>
                    <a:srgbClr val="94A3B8"/>
                  </a:solidFill>
                  <a:latin typeface="Malgun Gothic"/>
                </a:rPr>
                <a:t>시스템 루프 </a:t>
              </a:r>
              <a:r>
                <a:rPr lang="en-US" altLang="ko-KR" sz="800" smtClean="0">
                  <a:solidFill>
                    <a:srgbClr val="94A3B8"/>
                  </a:solidFill>
                  <a:latin typeface="Malgun Gothic"/>
                </a:rPr>
                <a:t>(C++ </a:t>
              </a:r>
              <a:r>
                <a:rPr lang="ko-KR" altLang="en-US" sz="800" smtClean="0">
                  <a:solidFill>
                    <a:srgbClr val="94A3B8"/>
                  </a:solidFill>
                  <a:latin typeface="Malgun Gothic"/>
                </a:rPr>
                <a:t>파이프라인</a:t>
              </a:r>
              <a:r>
                <a:rPr lang="en-US" altLang="ko-KR" sz="800" smtClean="0">
                  <a:solidFill>
                    <a:srgbClr val="94A3B8"/>
                  </a:solidFill>
                  <a:latin typeface="Malgun Gothic"/>
                </a:rPr>
                <a:t>)</a:t>
              </a:r>
              <a:endParaRPr lang="en-US" altLang="ko-KR" sz="800">
                <a:solidFill>
                  <a:srgbClr val="94A3B8"/>
                </a:solidFill>
                <a:latin typeface="Malgun Gothic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407408" y="4334256"/>
              <a:ext cx="141732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ko-KR" sz="800">
                  <a:solidFill>
                    <a:srgbClr val="64748B"/>
                  </a:solidFill>
                  <a:latin typeface="Malgun Gothic"/>
                </a:rPr>
                <a:t>≥ 20 Hz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24728" y="4334256"/>
              <a:ext cx="3108960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ko-KR" sz="800" b="1">
                  <a:solidFill>
                    <a:srgbClr val="00C8FF"/>
                  </a:solidFill>
                  <a:latin typeface="Malgun Gothic"/>
                </a:rPr>
                <a:t>11.1</a:t>
              </a:r>
              <a:r>
                <a:rPr lang="ko-KR" altLang="en-US" sz="800" b="1">
                  <a:solidFill>
                    <a:srgbClr val="00C8FF"/>
                  </a:solidFill>
                  <a:latin typeface="Malgun Gothic"/>
                </a:rPr>
                <a:t> → </a:t>
              </a:r>
              <a:r>
                <a:rPr lang="en-US" altLang="ko-KR" sz="800" b="1">
                  <a:solidFill>
                    <a:srgbClr val="00C8FF"/>
                  </a:solidFill>
                  <a:latin typeface="Malgun Gothic"/>
                </a:rPr>
                <a:t>29 Hz (</a:t>
              </a:r>
              <a:r>
                <a:rPr lang="ko-KR" altLang="en-US" sz="800" b="1">
                  <a:solidFill>
                    <a:srgbClr val="00C8FF"/>
                  </a:solidFill>
                  <a:latin typeface="Malgun Gothic"/>
                </a:rPr>
                <a:t>달성률 </a:t>
              </a:r>
              <a:r>
                <a:rPr lang="en-US" altLang="ko-KR" sz="800" b="1">
                  <a:solidFill>
                    <a:srgbClr val="00C8FF"/>
                  </a:solidFill>
                  <a:latin typeface="Malgun Gothic"/>
                </a:rPr>
                <a:t>55% </a:t>
              </a:r>
              <a:r>
                <a:rPr lang="ko-KR" altLang="en-US" sz="800" b="1">
                  <a:solidFill>
                    <a:srgbClr val="00C8FF"/>
                  </a:solidFill>
                  <a:latin typeface="Malgun Gothic"/>
                </a:rPr>
                <a:t>→ </a:t>
              </a:r>
              <a:r>
                <a:rPr lang="en-US" altLang="ko-KR" sz="800" b="1">
                  <a:solidFill>
                    <a:srgbClr val="00C8FF"/>
                  </a:solidFill>
                  <a:latin typeface="Malgun Gothic"/>
                </a:rPr>
                <a:t>96%)  </a:t>
              </a:r>
              <a:r>
                <a:rPr lang="ko-KR" altLang="en-US" sz="800" b="1">
                  <a:solidFill>
                    <a:srgbClr val="00C8FF"/>
                  </a:solidFill>
                  <a:latin typeface="Malgun Gothic"/>
                </a:rPr>
                <a:t>✓</a:t>
              </a:r>
            </a:p>
          </p:txBody>
        </p:sp>
      </p:grpSp>
      <p:sp>
        <p:nvSpPr>
          <p:cNvPr id="104" name="Rectangle 103"/>
          <p:cNvSpPr/>
          <p:nvPr/>
        </p:nvSpPr>
        <p:spPr>
          <a:xfrm>
            <a:off x="201168" y="4718304"/>
            <a:ext cx="8732520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80511" y="4796027"/>
            <a:ext cx="87325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n-US" sz="900" b="1" smtClean="0">
                <a:solidFill>
                  <a:srgbClr val="FFFFFF"/>
                </a:solidFill>
                <a:latin typeface="Malgun Gothic"/>
              </a:rPr>
              <a:t>유사도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0.94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짜리 후보도 걸러냈다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— 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점수가 아니라 </a:t>
            </a:r>
            <a:r>
              <a:rPr lang="en-US" altLang="ko-KR" sz="900" b="1">
                <a:solidFill>
                  <a:srgbClr val="FFFFFF"/>
                </a:solidFill>
                <a:latin typeface="Malgun Gothic"/>
              </a:rPr>
              <a:t>3</a:t>
            </a:r>
            <a:r>
              <a:rPr lang="ko-KR" altLang="en-US" sz="900" b="1">
                <a:solidFill>
                  <a:srgbClr val="FFFFFF"/>
                </a:solidFill>
                <a:latin typeface="Malgun Gothic"/>
              </a:rPr>
              <a:t>중 게이트가 해냈다</a:t>
            </a:r>
            <a:endParaRPr sz="900" b="1">
              <a:solidFill>
                <a:srgbClr val="FFFFFF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114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5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6888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8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888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888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6616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6616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616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0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0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0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0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79" y="14630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955279" y="23774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55279" y="32918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79" y="4206240"/>
            <a:ext cx="27432" cy="27432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7160" y="164592"/>
            <a:ext cx="88696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7160" y="164592"/>
            <a:ext cx="64008" cy="77724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201168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06   Vision 인지 파이프라인 </a:t>
            </a:r>
            <a:r>
              <a:rPr sz="800" b="1" smtClean="0">
                <a:solidFill>
                  <a:srgbClr val="00C8FF"/>
                </a:solidFill>
                <a:latin typeface="Malgun Gothic"/>
              </a:rPr>
              <a:t>고도화   ·   Re-ID 실증 영상</a:t>
            </a:r>
            <a:endParaRPr sz="8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2608" y="411480"/>
            <a:ext cx="6858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b="1" smtClean="0">
                <a:solidFill>
                  <a:srgbClr val="FFFFFF"/>
                </a:solidFill>
                <a:latin typeface="Malgun Gothic"/>
              </a:rPr>
              <a:t>사람이 사라지면 로봇은 무엇을 해야 하는가</a:t>
            </a:r>
            <a:endParaRPr sz="1800" b="1">
              <a:solidFill>
                <a:srgbClr val="7AD8F0"/>
              </a:solidFill>
              <a:latin typeface="Malgun Gothic"/>
            </a:endParaRPr>
          </a:p>
        </p:txBody>
      </p:sp>
      <p:pic>
        <p:nvPicPr>
          <p:cNvPr id="45" name="Picture 44" descr="rei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343" y="276606"/>
            <a:ext cx="1463040" cy="55778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329184" y="1024128"/>
            <a:ext cx="4855464" cy="3730752"/>
          </a:xfrm>
          <a:prstGeom prst="rect">
            <a:avLst/>
          </a:prstGeom>
          <a:solidFill>
            <a:srgbClr val="0A1A35"/>
          </a:solidFill>
          <a:ln w="127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9184" y="1024128"/>
            <a:ext cx="4855464" cy="54864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" y="2615184"/>
            <a:ext cx="48554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A99BB"/>
                </a:solidFill>
                <a:latin typeface="Malgun Gothic"/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" y="2907792"/>
            <a:ext cx="48554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7A99BB"/>
                </a:solidFill>
                <a:latin typeface="Malgun Gothic"/>
              </a:rPr>
              <a:t>실증 영상 삽입 영역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3127248"/>
            <a:ext cx="485546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0.36, 1.12  ·  5.31 × 4.08 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462272"/>
            <a:ext cx="456285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C8FF"/>
                </a:solidFill>
                <a:latin typeface="Malgun Gothic"/>
              </a:rPr>
              <a:t>V1 부분 가림</a:t>
            </a:r>
            <a:r>
              <a:rPr sz="800" b="0">
                <a:solidFill>
                  <a:srgbClr val="64748B"/>
                </a:solidFill>
                <a:latin typeface="Malgun Gothic"/>
              </a:rPr>
              <a:t>  →  </a:t>
            </a:r>
            <a:r>
              <a:rPr sz="800" b="1">
                <a:solidFill>
                  <a:srgbClr val="FFD600"/>
                </a:solidFill>
                <a:latin typeface="Malgun Gothic"/>
              </a:rPr>
              <a:t>V2 완전 가림</a:t>
            </a:r>
            <a:r>
              <a:rPr sz="800" b="0">
                <a:solidFill>
                  <a:srgbClr val="64748B"/>
                </a:solidFill>
                <a:latin typeface="Malgun Gothic"/>
              </a:rPr>
              <a:t>  →  </a:t>
            </a:r>
            <a:r>
              <a:rPr sz="800" b="1">
                <a:solidFill>
                  <a:srgbClr val="00FF88"/>
                </a:solidFill>
                <a:latin typeface="Malgun Gothic"/>
              </a:rPr>
              <a:t>V3 락 유지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1024128"/>
            <a:ext cx="3584448" cy="1033271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349240" y="1024128"/>
            <a:ext cx="3584448" cy="45720"/>
          </a:xfrm>
          <a:prstGeom prst="rect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77255" y="1161288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00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77255" y="1179576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C8FF"/>
                </a:solidFill>
                <a:latin typeface="Malgun Gothic"/>
              </a:rPr>
              <a:t>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88152" y="1170432"/>
            <a:ext cx="2103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C8FF"/>
                </a:solidFill>
                <a:latin typeface="Malgun Gothic"/>
              </a:rPr>
              <a:t>부분 </a:t>
            </a:r>
            <a:r>
              <a:rPr sz="1100" b="1" smtClean="0">
                <a:solidFill>
                  <a:srgbClr val="00C8FF"/>
                </a:solidFill>
                <a:latin typeface="Malgun Gothic"/>
              </a:rPr>
              <a:t>가림</a:t>
            </a:r>
            <a:endParaRPr sz="1100" b="1">
              <a:solidFill>
                <a:srgbClr val="00C8FF"/>
              </a:solidFill>
              <a:latin typeface="Malgun Gothi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86600" y="1197864"/>
            <a:ext cx="1709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V1 · OSNet + 색상 게이트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77255" y="1463040"/>
            <a:ext cx="3328415" cy="9144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95544" y="155448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C8FF"/>
                </a:solidFill>
                <a:latin typeface="Malgun Gothic"/>
              </a:rPr>
              <a:t>장면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79" y="1545336"/>
            <a:ext cx="28895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800" b="0" smtClean="0">
                <a:solidFill>
                  <a:srgbClr val="FFFFFF"/>
                </a:solidFill>
                <a:latin typeface="Malgun Gothic"/>
              </a:rPr>
              <a:t>부분 </a:t>
            </a:r>
            <a:r>
              <a:rPr sz="800" b="0" smtClean="0">
                <a:solidFill>
                  <a:srgbClr val="FFFFFF"/>
                </a:solidFill>
                <a:latin typeface="Malgun Gothic"/>
              </a:rPr>
              <a:t>가림 </a:t>
            </a:r>
            <a:r>
              <a:rPr sz="800" b="0">
                <a:solidFill>
                  <a:srgbClr val="FFFFFF"/>
                </a:solidFill>
                <a:latin typeface="Malgun Gothic"/>
              </a:rPr>
              <a:t>중에도 </a:t>
            </a:r>
            <a:r>
              <a:rPr lang="ko-KR" altLang="en-US" sz="800" smtClean="0">
                <a:solidFill>
                  <a:srgbClr val="FFFFFF"/>
                </a:solidFill>
                <a:latin typeface="Malgun Gothic"/>
              </a:rPr>
              <a:t>최초 </a:t>
            </a:r>
            <a:r>
              <a:rPr lang="en-US" altLang="ko-KR" sz="800" smtClean="0">
                <a:solidFill>
                  <a:srgbClr val="FFFFFF"/>
                </a:solidFill>
                <a:latin typeface="Malgun Gothic"/>
              </a:rPr>
              <a:t>1</a:t>
            </a:r>
            <a:r>
              <a:rPr lang="ko-KR" altLang="en-US" sz="800" smtClean="0">
                <a:solidFill>
                  <a:srgbClr val="FFFFFF"/>
                </a:solidFill>
                <a:latin typeface="Malgun Gothic"/>
              </a:rPr>
              <a:t>인 </a:t>
            </a:r>
            <a:r>
              <a:rPr lang="ko-KR" altLang="en-US" sz="800" b="0" smtClean="0">
                <a:solidFill>
                  <a:srgbClr val="FFFFFF"/>
                </a:solidFill>
                <a:latin typeface="Malgun Gothic"/>
              </a:rPr>
              <a:t>락 유지</a:t>
            </a:r>
            <a:endParaRPr sz="800" b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95544" y="179222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C8FF"/>
                </a:solidFill>
                <a:latin typeface="Malgun Gothic"/>
              </a:rPr>
              <a:t>한계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79" y="1783080"/>
            <a:ext cx="28895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6B6B"/>
                </a:solidFill>
                <a:latin typeface="Malgun Gothic"/>
              </a:rPr>
              <a:t>완전히 사라지면 락 해제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49240" y="2167128"/>
            <a:ext cx="3584448" cy="1033271"/>
          </a:xfrm>
          <a:prstGeom prst="rect">
            <a:avLst/>
          </a:prstGeom>
          <a:solidFill>
            <a:srgbClr val="111827"/>
          </a:solidFill>
          <a:ln w="127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349240" y="2167128"/>
            <a:ext cx="3584448" cy="4572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477255" y="2304288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255" y="2322576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D600"/>
                </a:solidFill>
                <a:latin typeface="Malgun Gothic"/>
              </a:rPr>
              <a:t>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88152" y="2313432"/>
            <a:ext cx="76809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D600"/>
                </a:solidFill>
                <a:latin typeface="Malgun Gothic"/>
              </a:rPr>
              <a:t>완전 </a:t>
            </a:r>
            <a:r>
              <a:rPr sz="1100" b="1" smtClean="0">
                <a:solidFill>
                  <a:srgbClr val="FFD600"/>
                </a:solidFill>
                <a:latin typeface="Malgun Gothic"/>
              </a:rPr>
              <a:t>가림</a:t>
            </a:r>
            <a:endParaRPr sz="1100" b="1">
              <a:solidFill>
                <a:srgbClr val="FFD600"/>
              </a:solidFill>
              <a:latin typeface="Malgun Gothic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086600" y="2340864"/>
            <a:ext cx="1709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V2 · CLIP-ReID(msmt17) + 3중 게이트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255" y="2606040"/>
            <a:ext cx="3328415" cy="9144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95544" y="269748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D600"/>
                </a:solidFill>
                <a:latin typeface="Malgun Gothic"/>
              </a:rPr>
              <a:t>장면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79" y="2688336"/>
            <a:ext cx="28895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800" b="0" smtClean="0">
                <a:solidFill>
                  <a:srgbClr val="FFFFFF"/>
                </a:solidFill>
                <a:latin typeface="Malgun Gothic"/>
              </a:rPr>
              <a:t>일정시간 완전가림 후에도 최초 </a:t>
            </a:r>
            <a:r>
              <a:rPr lang="en-US" altLang="ko-KR" sz="800" b="0" smtClean="0">
                <a:solidFill>
                  <a:srgbClr val="FFFFFF"/>
                </a:solidFill>
                <a:latin typeface="Malgun Gothic"/>
              </a:rPr>
              <a:t>1</a:t>
            </a:r>
            <a:r>
              <a:rPr lang="ko-KR" altLang="en-US" sz="800" b="0" smtClean="0">
                <a:solidFill>
                  <a:srgbClr val="FFFFFF"/>
                </a:solidFill>
                <a:latin typeface="Malgun Gothic"/>
              </a:rPr>
              <a:t>인 </a:t>
            </a:r>
            <a:r>
              <a:rPr lang="ko-KR" altLang="en-US" sz="800">
                <a:solidFill>
                  <a:srgbClr val="FFFFFF"/>
                </a:solidFill>
                <a:latin typeface="Malgun Gothic"/>
              </a:rPr>
              <a:t>락</a:t>
            </a:r>
            <a:r>
              <a:rPr lang="ko-KR" altLang="en-US" sz="800" b="0" smtClean="0">
                <a:solidFill>
                  <a:srgbClr val="FFFFFF"/>
                </a:solidFill>
                <a:latin typeface="Malgun Gothic"/>
              </a:rPr>
              <a:t> 유지</a:t>
            </a:r>
            <a:endParaRPr sz="800" b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95544" y="293522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FD600"/>
                </a:solidFill>
                <a:latin typeface="Malgun Gothic"/>
              </a:rPr>
              <a:t>결과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79" y="2926080"/>
            <a:ext cx="28895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00FF88"/>
                </a:solidFill>
                <a:latin typeface="Malgun Gothic"/>
              </a:rPr>
              <a:t>재락 성공률 </a:t>
            </a:r>
            <a:r>
              <a:rPr sz="800" b="1">
                <a:solidFill>
                  <a:srgbClr val="00FF88"/>
                </a:solidFill>
                <a:latin typeface="Malgun Gothic"/>
              </a:rPr>
              <a:t>95.2%</a:t>
            </a:r>
            <a:r>
              <a:rPr sz="800" b="0">
                <a:solidFill>
                  <a:srgbClr val="00FF88"/>
                </a:solidFill>
                <a:latin typeface="Malgun Gothic"/>
              </a:rPr>
              <a:t>  (20/21 · msmt17 구간)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3310128"/>
            <a:ext cx="3584448" cy="1033271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349240" y="3310128"/>
            <a:ext cx="3584448" cy="4572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477255" y="3447288"/>
            <a:ext cx="237744" cy="237744"/>
          </a:xfrm>
          <a:prstGeom prst="rect">
            <a:avLst/>
          </a:prstGeom>
          <a:solidFill>
            <a:srgbClr val="0A1A35"/>
          </a:solidFill>
          <a:ln w="952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77255" y="3465576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FF88"/>
                </a:solidFill>
                <a:latin typeface="Malgun Gothic"/>
              </a:rPr>
              <a:t>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88152" y="3456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FF88"/>
                </a:solidFill>
                <a:latin typeface="Malgun Gothic"/>
              </a:rPr>
              <a:t>락을 놓칠 틈을 줄이다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86600" y="3483864"/>
            <a:ext cx="1709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>
                <a:solidFill>
                  <a:srgbClr val="64748B"/>
                </a:solidFill>
                <a:latin typeface="Malgun Gothic"/>
              </a:rPr>
              <a:t>V3 · C++ / TensorRT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77255" y="3749039"/>
            <a:ext cx="3328415" cy="9144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95544" y="384048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FF88"/>
                </a:solidFill>
                <a:latin typeface="Malgun Gothic"/>
              </a:rPr>
              <a:t>장면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79" y="3831336"/>
            <a:ext cx="28895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Malgun Gothic"/>
              </a:rPr>
              <a:t>부분·완전 가림 모두 추종 유지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95544" y="407822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00FF88"/>
                </a:solidFill>
                <a:latin typeface="Malgun Gothic"/>
              </a:rPr>
              <a:t>근거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79" y="4069080"/>
            <a:ext cx="28895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algun Gothic"/>
              </a:rPr>
              <a:t>29Hz — 판정 주기 </a:t>
            </a:r>
            <a:r>
              <a:rPr sz="800" b="0" smtClean="0">
                <a:solidFill>
                  <a:srgbClr val="94A3B8"/>
                </a:solidFill>
                <a:latin typeface="Malgun Gothic"/>
              </a:rPr>
              <a:t>단축</a:t>
            </a:r>
            <a:endParaRPr sz="800" b="0">
              <a:solidFill>
                <a:srgbClr val="94A3B8"/>
              </a:solidFill>
              <a:latin typeface="Malgun Gothic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349240" y="4453128"/>
            <a:ext cx="3584448" cy="2743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49240" y="4517136"/>
            <a:ext cx="3584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algun Gothic"/>
              </a:rPr>
              <a:t>버티는 것과 되찾는 것은 다른 문제였다</a:t>
            </a:r>
          </a:p>
        </p:txBody>
      </p:sp>
    </p:spTree>
    <p:extLst>
      <p:ext uri="{BB962C8B-B14F-4D97-AF65-F5344CB8AC3E}">
        <p14:creationId xmlns:p14="http://schemas.microsoft.com/office/powerpoint/2010/main" val="920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1013</Words>
  <Application>Microsoft Office PowerPoint</Application>
  <PresentationFormat>화면 슬라이드 쇼(16:9)</PresentationFormat>
  <Paragraphs>226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60</cp:revision>
  <dcterms:created xsi:type="dcterms:W3CDTF">2013-01-27T09:14:16Z</dcterms:created>
  <dcterms:modified xsi:type="dcterms:W3CDTF">2026-07-12T02:39:44Z</dcterms:modified>
  <cp:category/>
</cp:coreProperties>
</file>