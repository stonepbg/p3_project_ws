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1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0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70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8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65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0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25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0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98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29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06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66C00-9AC0-4505-9702-9A7574338A7C}" type="datetimeFigureOut">
              <a:rPr lang="ko-KR" altLang="en-US" smtClean="0"/>
              <a:t>2026-06-24 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55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금주 태스크 및 달성도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422958"/>
              </p:ext>
            </p:extLst>
          </p:nvPr>
        </p:nvGraphicFramePr>
        <p:xfrm>
          <a:off x="435529" y="1304792"/>
          <a:ext cx="11124155" cy="5025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855">
                  <a:extLst>
                    <a:ext uri="{9D8B030D-6E8A-4147-A177-3AD203B41FA5}">
                      <a16:colId xmlns:a16="http://schemas.microsoft.com/office/drawing/2014/main" val="895881381"/>
                    </a:ext>
                  </a:extLst>
                </a:gridCol>
                <a:gridCol w="4175316">
                  <a:extLst>
                    <a:ext uri="{9D8B030D-6E8A-4147-A177-3AD203B41FA5}">
                      <a16:colId xmlns:a16="http://schemas.microsoft.com/office/drawing/2014/main" val="1748858203"/>
                    </a:ext>
                  </a:extLst>
                </a:gridCol>
                <a:gridCol w="1937385">
                  <a:extLst>
                    <a:ext uri="{9D8B030D-6E8A-4147-A177-3AD203B41FA5}">
                      <a16:colId xmlns:a16="http://schemas.microsoft.com/office/drawing/2014/main" val="2633628798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969080293"/>
                    </a:ext>
                  </a:extLst>
                </a:gridCol>
              </a:tblGrid>
              <a:tr h="884403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금주 </a:t>
                      </a:r>
                      <a:r>
                        <a:rPr lang="ko-KR" altLang="en-US" dirty="0" err="1" smtClean="0">
                          <a:latin typeface="+mn-ea"/>
                          <a:ea typeface="+mn-ea"/>
                        </a:rPr>
                        <a:t>테스크</a:t>
                      </a:r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달성도 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>
                          <a:latin typeface="+mn-ea"/>
                          <a:ea typeface="+mn-ea"/>
                        </a:rPr>
                        <a:t>미달성</a:t>
                      </a:r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 원인 및 대처 방안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128791"/>
                  </a:ext>
                </a:extLst>
              </a:tr>
              <a:tr h="884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 smtClean="0">
                          <a:latin typeface="+mn-ea"/>
                          <a:ea typeface="+mn-ea"/>
                        </a:rPr>
                        <a:t>김완식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err="1" smtClean="0"/>
                        <a:t>follow_node</a:t>
                      </a:r>
                      <a:r>
                        <a:rPr lang="en-US" altLang="ko-KR" sz="1400" dirty="0" smtClean="0"/>
                        <a:t> CPU </a:t>
                      </a:r>
                      <a:r>
                        <a:rPr lang="ko-KR" altLang="en-US" sz="1400" dirty="0" smtClean="0"/>
                        <a:t>과부하 디버깅 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전후방 </a:t>
                      </a:r>
                      <a:r>
                        <a:rPr lang="en-US" altLang="ko-KR" sz="1400" dirty="0" smtClean="0"/>
                        <a:t>YOLO11n </a:t>
                      </a:r>
                      <a:r>
                        <a:rPr lang="ko-KR" altLang="en-US" sz="1400" dirty="0" smtClean="0"/>
                        <a:t>동시 구동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타이머 </a:t>
                      </a:r>
                      <a:r>
                        <a:rPr lang="en-US" altLang="ko-KR" sz="1400" dirty="0" smtClean="0"/>
                        <a:t>30Hz→10Hz) 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err="1" smtClean="0"/>
                        <a:t>comm_monitor_node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구현 </a:t>
                      </a:r>
                      <a:r>
                        <a:rPr lang="en-US" altLang="ko-KR" sz="1400" dirty="0" smtClean="0"/>
                        <a:t>(ROS2 </a:t>
                      </a:r>
                      <a:r>
                        <a:rPr lang="ko-KR" altLang="en-US" sz="1400" dirty="0" smtClean="0"/>
                        <a:t>통신 모니터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이벤트 </a:t>
                      </a:r>
                      <a:r>
                        <a:rPr lang="en-US" altLang="ko-KR" sz="1400" dirty="0" smtClean="0"/>
                        <a:t>7</a:t>
                      </a:r>
                      <a:r>
                        <a:rPr lang="ko-KR" altLang="en-US" sz="1400" dirty="0" smtClean="0"/>
                        <a:t>개</a:t>
                      </a:r>
                      <a:r>
                        <a:rPr lang="en-US" altLang="ko-KR" sz="1400" dirty="0" smtClean="0"/>
                        <a:t>+</a:t>
                      </a:r>
                      <a:r>
                        <a:rPr lang="ko-KR" altLang="en-US" sz="1400" dirty="0" smtClean="0"/>
                        <a:t>스트리밍 </a:t>
                      </a:r>
                      <a:r>
                        <a:rPr lang="en-US" altLang="ko-KR" sz="1400" dirty="0" smtClean="0"/>
                        <a:t>2</a:t>
                      </a:r>
                      <a:r>
                        <a:rPr lang="ko-KR" altLang="en-US" sz="1400" dirty="0" smtClean="0"/>
                        <a:t>개</a:t>
                      </a:r>
                      <a:r>
                        <a:rPr lang="en-US" altLang="ko-KR" sz="1400" dirty="0" smtClean="0"/>
                        <a:t>+ping/RSSI) 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2</a:t>
                      </a:r>
                      <a:r>
                        <a:rPr lang="ko-KR" altLang="en-US" sz="1400" dirty="0" smtClean="0"/>
                        <a:t>차 고도화 방향 결정 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en-US" altLang="ko-KR" sz="1400" dirty="0" err="1" smtClean="0"/>
                        <a:t>TensorRT</a:t>
                      </a:r>
                      <a:r>
                        <a:rPr lang="en-US" altLang="ko-KR" sz="1400" dirty="0" smtClean="0"/>
                        <a:t> FP16 </a:t>
                      </a:r>
                      <a:r>
                        <a:rPr lang="ko-KR" altLang="en-US" sz="1400" dirty="0" smtClean="0"/>
                        <a:t>양자화 완료</a:t>
                      </a:r>
                      <a:r>
                        <a:rPr lang="en-US" altLang="ko-KR" sz="1400" dirty="0" smtClean="0"/>
                        <a:t>, Deep </a:t>
                      </a:r>
                      <a:r>
                        <a:rPr lang="en-US" altLang="ko-KR" sz="1400" dirty="0" err="1" smtClean="0"/>
                        <a:t>OC-SORT+OSNet</a:t>
                      </a:r>
                      <a:r>
                        <a:rPr lang="en-US" altLang="ko-KR" sz="1400" dirty="0" smtClean="0"/>
                        <a:t> Re-ID </a:t>
                      </a:r>
                      <a:r>
                        <a:rPr lang="ko-KR" altLang="en-US" sz="1400" dirty="0" smtClean="0"/>
                        <a:t>설계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smtClean="0">
                          <a:latin typeface="+mn-ea"/>
                          <a:ea typeface="+mn-ea"/>
                        </a:rPr>
                        <a:t>80%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sz="18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smtClean="0"/>
                        <a:t>Re-ID </a:t>
                      </a:r>
                      <a:r>
                        <a:rPr lang="ko-KR" altLang="en-US" sz="1400" dirty="0" smtClean="0"/>
                        <a:t>테스트 결과 절반의 성공 더 고도화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4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원인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 </a:t>
                      </a:r>
                      <a:r>
                        <a:rPr lang="en-US" altLang="ko-KR" sz="1400" dirty="0" err="1" smtClean="0"/>
                        <a:t>follow_node</a:t>
                      </a:r>
                      <a:r>
                        <a:rPr lang="en-US" altLang="ko-KR" sz="1400" dirty="0" smtClean="0"/>
                        <a:t> CPU </a:t>
                      </a:r>
                      <a:r>
                        <a:rPr lang="ko-KR" altLang="en-US" sz="1400" dirty="0" smtClean="0"/>
                        <a:t>폭주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581%) </a:t>
                      </a:r>
                      <a:r>
                        <a:rPr lang="ko-KR" altLang="en-US" sz="1400" dirty="0" smtClean="0"/>
                        <a:t>원인 추적과 부하 안정화에 예상보다 시간 소요</a:t>
                      </a:r>
                      <a:r>
                        <a:rPr lang="en-US" altLang="ko-KR" sz="1400" dirty="0" smtClean="0"/>
                        <a:t> </a:t>
                      </a:r>
                    </a:p>
                    <a:p>
                      <a:pPr latinLnBrk="1"/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대처 방안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1400" dirty="0" smtClean="0"/>
                        <a:t>다음 주 </a:t>
                      </a:r>
                      <a:r>
                        <a:rPr lang="en-US" altLang="ko-KR" sz="1400" dirty="0" err="1" smtClean="0"/>
                        <a:t>BoxMOT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기반 </a:t>
                      </a:r>
                      <a:r>
                        <a:rPr lang="en-US" altLang="ko-KR" sz="1400" dirty="0" smtClean="0"/>
                        <a:t>Re-ID </a:t>
                      </a:r>
                      <a:r>
                        <a:rPr lang="ko-KR" altLang="en-US" sz="1400" dirty="0" smtClean="0"/>
                        <a:t>모듈 신규 통합 </a:t>
                      </a:r>
                      <a:r>
                        <a:rPr lang="en-US" altLang="ko-KR" sz="1400" dirty="0" smtClean="0"/>
                        <a:t>+ MoveIt2 </a:t>
                      </a:r>
                      <a:r>
                        <a:rPr lang="ko-KR" altLang="en-US" sz="1400" dirty="0" smtClean="0"/>
                        <a:t>연동 후 </a:t>
                      </a:r>
                      <a:r>
                        <a:rPr lang="en-US" altLang="ko-KR" sz="1400" dirty="0" err="1" smtClean="0"/>
                        <a:t>comm_monitor_node</a:t>
                      </a:r>
                      <a:r>
                        <a:rPr lang="ko-KR" altLang="en-US" sz="1400" dirty="0" smtClean="0"/>
                        <a:t>로 부하 </a:t>
                      </a:r>
                      <a:r>
                        <a:rPr lang="ko-KR" altLang="en-US" sz="1400" dirty="0" err="1" smtClean="0"/>
                        <a:t>재측정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751304"/>
                  </a:ext>
                </a:extLst>
              </a:tr>
              <a:tr h="1000214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4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ko-KR" sz="14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4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16467"/>
                  </a:ext>
                </a:extLst>
              </a:tr>
              <a:tr h="884403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621153"/>
                  </a:ext>
                </a:extLst>
              </a:tr>
              <a:tr h="884403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866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45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4644" y="138622"/>
            <a:ext cx="10515600" cy="1325563"/>
          </a:xfrm>
        </p:spPr>
        <p:txBody>
          <a:bodyPr/>
          <a:lstStyle/>
          <a:p>
            <a:r>
              <a:rPr lang="ko-KR" altLang="en-US" dirty="0" smtClean="0"/>
              <a:t>딥 </a:t>
            </a:r>
            <a:r>
              <a:rPr lang="ko-KR" altLang="en-US" dirty="0" err="1" smtClean="0"/>
              <a:t>다이브</a:t>
            </a:r>
            <a:r>
              <a:rPr lang="ko-KR" altLang="en-US" dirty="0"/>
              <a:t>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트러블 슈팅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김완식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624113" y="1090864"/>
            <a:ext cx="11038497" cy="5454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000"/>
              </a:lnSpc>
            </a:pPr>
            <a:r>
              <a:rPr lang="en-US" altLang="ko-KR" sz="1600" dirty="0" smtClean="0">
                <a:solidFill>
                  <a:srgbClr val="FF0000"/>
                </a:solidFill>
                <a:latin typeface="+mn-ea"/>
                <a:ea typeface="+mn-ea"/>
              </a:rPr>
              <a:t>1. </a:t>
            </a:r>
            <a:r>
              <a:rPr lang="ko-KR" altLang="ko-KR" sz="1600" b="1" dirty="0">
                <a:solidFill>
                  <a:srgbClr val="FF0000"/>
                </a:solidFill>
                <a:latin typeface="+mn-ea"/>
                <a:ea typeface="+mn-ea"/>
              </a:rPr>
              <a:t>문제 </a:t>
            </a:r>
            <a:r>
              <a:rPr lang="ko-KR" altLang="ko-KR" sz="1600" b="1" dirty="0" smtClean="0">
                <a:solidFill>
                  <a:srgbClr val="FF0000"/>
                </a:solidFill>
                <a:latin typeface="+mn-ea"/>
                <a:ea typeface="+mn-ea"/>
              </a:rPr>
              <a:t>상황</a:t>
            </a:r>
            <a:endParaRPr lang="en-US" altLang="ko-KR" sz="1400" b="1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ts val="2000"/>
              </a:lnSpc>
            </a:pP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en-US" altLang="ko-KR" sz="1400" dirty="0" smtClean="0">
                <a:latin typeface="+mn-ea"/>
                <a:ea typeface="+mn-ea"/>
              </a:rPr>
              <a:t>- </a:t>
            </a:r>
            <a:r>
              <a:rPr lang="ko-KR" altLang="en-US" sz="1400" dirty="0"/>
              <a:t>전방</a:t>
            </a:r>
            <a:r>
              <a:rPr lang="en-US" altLang="ko-KR" sz="1400" dirty="0"/>
              <a:t>(</a:t>
            </a:r>
            <a:r>
              <a:rPr lang="en-US" altLang="ko-KR" sz="1400" dirty="0" err="1"/>
              <a:t>follow_node</a:t>
            </a:r>
            <a:r>
              <a:rPr lang="en-US" altLang="ko-KR" sz="1400" dirty="0"/>
              <a:t>) + </a:t>
            </a:r>
            <a:r>
              <a:rPr lang="ko-KR" altLang="en-US" sz="1400" dirty="0"/>
              <a:t>후방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rear_cam_node</a:t>
            </a:r>
            <a:r>
              <a:rPr lang="en-US" altLang="ko-KR" sz="1400" dirty="0"/>
              <a:t>) YOLO11n </a:t>
            </a:r>
            <a:r>
              <a:rPr lang="ko-KR" altLang="en-US" sz="1400" dirty="0"/>
              <a:t>동시 구동 시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follow_node</a:t>
            </a:r>
            <a:r>
              <a:rPr lang="en-US" altLang="ko-KR" sz="1400" dirty="0"/>
              <a:t> CPU</a:t>
            </a:r>
            <a:r>
              <a:rPr lang="ko-KR" altLang="en-US" sz="1400" dirty="0"/>
              <a:t>가 최대 </a:t>
            </a:r>
            <a:r>
              <a:rPr lang="en-US" altLang="ko-KR" sz="1400" dirty="0"/>
              <a:t>581%</a:t>
            </a:r>
            <a:r>
              <a:rPr lang="ko-KR" altLang="en-US" sz="1400" dirty="0"/>
              <a:t>까지 폭주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rear_cam_node</a:t>
            </a:r>
            <a:r>
              <a:rPr lang="ko-KR" altLang="en-US" sz="1400" dirty="0"/>
              <a:t>는 </a:t>
            </a:r>
            <a:r>
              <a:rPr lang="en-US" altLang="ko-KR" sz="1400" dirty="0"/>
              <a:t>11%</a:t>
            </a:r>
            <a:r>
              <a:rPr lang="ko-KR" altLang="en-US" sz="1400" dirty="0"/>
              <a:t>로 정상인데 </a:t>
            </a:r>
            <a:r>
              <a:rPr lang="en-US" altLang="ko-KR" sz="1400" dirty="0" err="1"/>
              <a:t>follow_node</a:t>
            </a:r>
            <a:r>
              <a:rPr lang="ko-KR" altLang="en-US" sz="1400" dirty="0"/>
              <a:t>만 비정상적으로 </a:t>
            </a:r>
            <a:r>
              <a:rPr lang="ko-KR" altLang="en-US" sz="1400" dirty="0" smtClean="0"/>
              <a:t>높음</a:t>
            </a:r>
            <a:endParaRPr lang="en-US" altLang="ko-KR" sz="1400" dirty="0" smtClean="0"/>
          </a:p>
          <a:p>
            <a:pPr>
              <a:lnSpc>
                <a:spcPts val="2000"/>
              </a:lnSpc>
            </a:pPr>
            <a:endParaRPr lang="en-US" altLang="ko-KR" sz="1400" dirty="0" smtClean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600" b="1" dirty="0" smtClean="0">
                <a:solidFill>
                  <a:schemeClr val="accent2"/>
                </a:solidFill>
                <a:latin typeface="+mn-ea"/>
                <a:ea typeface="+mn-ea"/>
              </a:rPr>
              <a:t>2. </a:t>
            </a:r>
            <a:r>
              <a:rPr lang="ko-KR" altLang="ko-KR" sz="1600" b="1" dirty="0" smtClean="0">
                <a:solidFill>
                  <a:schemeClr val="accent2"/>
                </a:solidFill>
                <a:latin typeface="+mn-ea"/>
                <a:ea typeface="+mn-ea"/>
              </a:rPr>
              <a:t>원인 </a:t>
            </a:r>
            <a:r>
              <a:rPr lang="ko-KR" altLang="ko-KR" sz="1600" b="1" dirty="0">
                <a:solidFill>
                  <a:schemeClr val="accent2"/>
                </a:solidFill>
                <a:latin typeface="+mn-ea"/>
                <a:ea typeface="+mn-ea"/>
              </a:rPr>
              <a:t>분석 및 문제 정의 가설 검증 </a:t>
            </a:r>
            <a:endParaRPr lang="en-US" altLang="ko-KR" sz="16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en-US" altLang="ko-KR" sz="1400" dirty="0" smtClean="0">
                <a:latin typeface="+mn-ea"/>
                <a:ea typeface="+mn-ea"/>
              </a:rPr>
              <a:t>- </a:t>
            </a:r>
            <a:r>
              <a:rPr lang="ko-KR" altLang="ko-KR" sz="1400" dirty="0" smtClean="0">
                <a:latin typeface="+mn-ea"/>
                <a:ea typeface="+mn-ea"/>
              </a:rPr>
              <a:t>원인</a:t>
            </a:r>
            <a:r>
              <a:rPr lang="ko-KR" altLang="ko-KR" sz="1400" dirty="0">
                <a:latin typeface="+mn-ea"/>
                <a:ea typeface="+mn-ea"/>
              </a:rPr>
              <a:t>: </a:t>
            </a:r>
            <a:r>
              <a:rPr lang="en-US" altLang="ko-KR" sz="1400" dirty="0" err="1">
                <a:latin typeface="+mn-ea"/>
                <a:ea typeface="+mn-ea"/>
              </a:rPr>
              <a:t>follow_node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추론 루프가 </a:t>
            </a:r>
            <a:r>
              <a:rPr lang="ko-KR" altLang="en-US" sz="1400" dirty="0" err="1">
                <a:latin typeface="+mn-ea"/>
                <a:ea typeface="+mn-ea"/>
              </a:rPr>
              <a:t>리얼센스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30</a:t>
            </a:r>
            <a:r>
              <a:rPr lang="ko-KR" altLang="en-US" sz="1400" dirty="0">
                <a:latin typeface="+mn-ea"/>
                <a:ea typeface="+mn-ea"/>
              </a:rPr>
              <a:t>프레임 입력 속도를 못 따라가 </a:t>
            </a:r>
            <a:r>
              <a:rPr lang="ko-KR" altLang="en-US" sz="1400" dirty="0" err="1">
                <a:latin typeface="+mn-ea"/>
                <a:ea typeface="+mn-ea"/>
              </a:rPr>
              <a:t>콜백이</a:t>
            </a:r>
            <a:r>
              <a:rPr lang="ko-KR" altLang="en-US" sz="1400" dirty="0">
                <a:latin typeface="+mn-ea"/>
                <a:ea typeface="+mn-ea"/>
              </a:rPr>
              <a:t> 누적</a:t>
            </a:r>
            <a:r>
              <a:rPr lang="en-US" altLang="ko-KR" sz="1400" dirty="0">
                <a:latin typeface="+mn-ea"/>
                <a:ea typeface="+mn-ea"/>
              </a:rPr>
              <a:t>·</a:t>
            </a:r>
            <a:r>
              <a:rPr lang="ko-KR" altLang="en-US" sz="1400" dirty="0">
                <a:latin typeface="+mn-ea"/>
                <a:ea typeface="+mn-ea"/>
              </a:rPr>
              <a:t>지연됨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 smtClean="0">
                <a:latin typeface="+mn-ea"/>
                <a:ea typeface="+mn-ea"/>
              </a:rPr>
              <a:t> </a:t>
            </a:r>
            <a:r>
              <a:rPr lang="en-US" altLang="ko-KR" sz="1400" dirty="0" smtClean="0">
                <a:latin typeface="+mn-ea"/>
                <a:ea typeface="+mn-ea"/>
              </a:rPr>
              <a:t>- </a:t>
            </a:r>
            <a:r>
              <a:rPr lang="ko-KR" altLang="ko-KR" sz="1400" dirty="0" smtClean="0">
                <a:latin typeface="+mn-ea"/>
                <a:ea typeface="+mn-ea"/>
              </a:rPr>
              <a:t>현상</a:t>
            </a:r>
            <a:r>
              <a:rPr lang="ko-KR" altLang="ko-KR" sz="1400" dirty="0">
                <a:latin typeface="+mn-ea"/>
                <a:ea typeface="+mn-ea"/>
              </a:rPr>
              <a:t>: </a:t>
            </a:r>
            <a:r>
              <a:rPr lang="en-US" altLang="ko-KR" sz="1400" dirty="0">
                <a:latin typeface="+mn-ea"/>
                <a:ea typeface="+mn-ea"/>
              </a:rPr>
              <a:t>GPU</a:t>
            </a:r>
            <a:r>
              <a:rPr lang="ko-KR" altLang="en-US" sz="1400" dirty="0">
                <a:latin typeface="+mn-ea"/>
                <a:ea typeface="+mn-ea"/>
              </a:rPr>
              <a:t>는 </a:t>
            </a:r>
            <a:r>
              <a:rPr lang="en-US" altLang="ko-KR" sz="1400" dirty="0">
                <a:latin typeface="+mn-ea"/>
                <a:ea typeface="+mn-ea"/>
              </a:rPr>
              <a:t>25% </a:t>
            </a:r>
            <a:r>
              <a:rPr lang="ko-KR" altLang="en-US" sz="1400" dirty="0">
                <a:latin typeface="+mn-ea"/>
                <a:ea typeface="+mn-ea"/>
              </a:rPr>
              <a:t>수준으로 한가한데 </a:t>
            </a:r>
            <a:r>
              <a:rPr lang="en-US" altLang="ko-KR" sz="1400" dirty="0">
                <a:latin typeface="+mn-ea"/>
                <a:ea typeface="+mn-ea"/>
              </a:rPr>
              <a:t>CPU</a:t>
            </a:r>
            <a:r>
              <a:rPr lang="ko-KR" altLang="en-US" sz="1400" dirty="0">
                <a:latin typeface="+mn-ea"/>
                <a:ea typeface="+mn-ea"/>
              </a:rPr>
              <a:t>만 </a:t>
            </a:r>
            <a:r>
              <a:rPr lang="en-US" altLang="ko-KR" sz="1400" dirty="0">
                <a:latin typeface="+mn-ea"/>
                <a:ea typeface="+mn-ea"/>
              </a:rPr>
              <a:t>400~580%</a:t>
            </a:r>
            <a:r>
              <a:rPr lang="ko-KR" altLang="en-US" sz="1400" dirty="0">
                <a:latin typeface="+mn-ea"/>
                <a:ea typeface="+mn-ea"/>
              </a:rPr>
              <a:t>대로 터짐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  <a:r>
              <a:rPr lang="en-US" altLang="ko-KR" sz="1400" dirty="0" err="1">
                <a:latin typeface="+mn-ea"/>
                <a:ea typeface="+mn-ea"/>
              </a:rPr>
              <a:t>rear_cam_node</a:t>
            </a:r>
            <a:r>
              <a:rPr lang="ko-KR" altLang="en-US" sz="1400" dirty="0">
                <a:latin typeface="+mn-ea"/>
                <a:ea typeface="+mn-ea"/>
              </a:rPr>
              <a:t>는 같은 엔진을 쓰지만 </a:t>
            </a:r>
            <a:r>
              <a:rPr lang="en-US" altLang="ko-KR" sz="1400" dirty="0" err="1">
                <a:latin typeface="+mn-ea"/>
                <a:ea typeface="+mn-ea"/>
              </a:rPr>
              <a:t>model.predict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단순 검출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  <a:r>
              <a:rPr lang="ko-KR" altLang="en-US" sz="1400" dirty="0">
                <a:latin typeface="+mn-ea"/>
                <a:ea typeface="+mn-ea"/>
              </a:rPr>
              <a:t>라 양자화 효과를 그대로 받아 </a:t>
            </a:r>
            <a:r>
              <a:rPr lang="en-US" altLang="ko-KR" sz="1400" dirty="0">
                <a:latin typeface="+mn-ea"/>
                <a:ea typeface="+mn-ea"/>
              </a:rPr>
              <a:t>5.9%</a:t>
            </a:r>
            <a:r>
              <a:rPr lang="ko-KR" altLang="en-US" sz="1400" dirty="0">
                <a:latin typeface="+mn-ea"/>
                <a:ea typeface="+mn-ea"/>
              </a:rPr>
              <a:t>까지 떨어짐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endParaRPr lang="ko-KR" altLang="ko-KR" sz="1400" dirty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600" b="1" dirty="0" smtClean="0">
                <a:solidFill>
                  <a:schemeClr val="accent5"/>
                </a:solidFill>
                <a:latin typeface="+mn-ea"/>
                <a:ea typeface="+mn-ea"/>
              </a:rPr>
              <a:t>3. </a:t>
            </a:r>
            <a:r>
              <a:rPr lang="ko-KR" altLang="ko-KR" sz="1600" b="1" dirty="0" smtClean="0">
                <a:solidFill>
                  <a:schemeClr val="accent5"/>
                </a:solidFill>
                <a:latin typeface="+mn-ea"/>
                <a:ea typeface="+mn-ea"/>
              </a:rPr>
              <a:t>해결 </a:t>
            </a:r>
            <a:r>
              <a:rPr lang="ko-KR" altLang="ko-KR" sz="1600" b="1" dirty="0" smtClean="0">
                <a:solidFill>
                  <a:schemeClr val="accent5"/>
                </a:solidFill>
                <a:latin typeface="+mn-ea"/>
                <a:ea typeface="+mn-ea"/>
              </a:rPr>
              <a:t>과정</a:t>
            </a:r>
            <a:endParaRPr lang="en-US" altLang="ko-KR" sz="1400" dirty="0" smtClean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 smtClean="0">
                <a:latin typeface="+mn-ea"/>
                <a:ea typeface="+mn-ea"/>
              </a:rPr>
              <a:t>- </a:t>
            </a:r>
            <a:r>
              <a:rPr lang="ko-KR" altLang="en-US" sz="1400" dirty="0" smtClean="0">
                <a:latin typeface="+mn-ea"/>
                <a:ea typeface="+mn-ea"/>
              </a:rPr>
              <a:t>응급 </a:t>
            </a:r>
            <a:r>
              <a:rPr lang="ko-KR" altLang="en-US" sz="1400" dirty="0">
                <a:latin typeface="+mn-ea"/>
                <a:ea typeface="+mn-ea"/>
              </a:rPr>
              <a:t>처리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입력 단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endParaRPr lang="en-US" altLang="ko-KR" sz="1400" dirty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ko-KR" altLang="en-US" sz="1400" dirty="0" err="1">
                <a:latin typeface="+mn-ea"/>
                <a:ea typeface="+mn-ea"/>
              </a:rPr>
              <a:t>리얼센스</a:t>
            </a:r>
            <a:r>
              <a:rPr lang="ko-KR" altLang="en-US" sz="1400" dirty="0">
                <a:latin typeface="+mn-ea"/>
                <a:ea typeface="+mn-ea"/>
              </a:rPr>
              <a:t> 프레임을 </a:t>
            </a:r>
            <a:r>
              <a:rPr lang="en-US" altLang="ko-KR" sz="1400" dirty="0">
                <a:latin typeface="+mn-ea"/>
                <a:ea typeface="+mn-ea"/>
              </a:rPr>
              <a:t>30→10</a:t>
            </a:r>
            <a:r>
              <a:rPr lang="ko-KR" altLang="en-US" sz="1400" dirty="0">
                <a:latin typeface="+mn-ea"/>
                <a:ea typeface="+mn-ea"/>
              </a:rPr>
              <a:t>프레임으로 낮춰 이미지 처리 </a:t>
            </a:r>
            <a:r>
              <a:rPr lang="ko-KR" altLang="en-US" sz="1400" dirty="0" err="1">
                <a:latin typeface="+mn-ea"/>
                <a:ea typeface="+mn-ea"/>
              </a:rPr>
              <a:t>연산량</a:t>
            </a:r>
            <a:r>
              <a:rPr lang="ko-KR" altLang="en-US" sz="1400" dirty="0">
                <a:latin typeface="+mn-ea"/>
                <a:ea typeface="+mn-ea"/>
              </a:rPr>
              <a:t> 자체를 줄임</a:t>
            </a:r>
            <a:r>
              <a:rPr lang="en-US" altLang="ko-KR" sz="1400" dirty="0">
                <a:latin typeface="+mn-ea"/>
                <a:ea typeface="+mn-ea"/>
              </a:rPr>
              <a:t>. </a:t>
            </a:r>
            <a:r>
              <a:rPr lang="en-US" altLang="ko-KR" sz="1400" dirty="0" smtClean="0">
                <a:latin typeface="+mn-ea"/>
                <a:ea typeface="+mn-ea"/>
              </a:rPr>
              <a:t>64~80</a:t>
            </a:r>
            <a:r>
              <a:rPr lang="en-US" altLang="ko-KR" sz="1400" dirty="0">
                <a:latin typeface="+mn-ea"/>
                <a:ea typeface="+mn-ea"/>
              </a:rPr>
              <a:t>%</a:t>
            </a:r>
            <a:r>
              <a:rPr lang="ko-KR" altLang="en-US" sz="1400" dirty="0">
                <a:latin typeface="+mn-ea"/>
                <a:ea typeface="+mn-ea"/>
              </a:rPr>
              <a:t>대로 안정됨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  <a:endParaRPr lang="en-US" altLang="ko-KR" sz="1400" dirty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 smtClean="0">
                <a:latin typeface="+mn-ea"/>
                <a:ea typeface="+mn-ea"/>
              </a:rPr>
              <a:t>- </a:t>
            </a:r>
            <a:r>
              <a:rPr lang="ko-KR" altLang="en-US" sz="1400" dirty="0" smtClean="0">
                <a:latin typeface="+mn-ea"/>
                <a:ea typeface="+mn-ea"/>
              </a:rPr>
              <a:t>타이머 </a:t>
            </a:r>
            <a:r>
              <a:rPr lang="ko-KR" altLang="en-US" sz="1400" dirty="0">
                <a:latin typeface="+mn-ea"/>
                <a:ea typeface="+mn-ea"/>
              </a:rPr>
              <a:t>주기 조정 </a:t>
            </a:r>
            <a:r>
              <a:rPr lang="en-US" altLang="ko-KR" sz="1400" dirty="0" smtClean="0">
                <a:latin typeface="+mn-ea"/>
                <a:ea typeface="+mn-ea"/>
              </a:rPr>
              <a:t>(</a:t>
            </a:r>
            <a:r>
              <a:rPr lang="ko-KR" altLang="en-US" sz="1400" dirty="0" smtClean="0">
                <a:latin typeface="+mn-ea"/>
                <a:ea typeface="+mn-ea"/>
              </a:rPr>
              <a:t>연산 단</a:t>
            </a:r>
            <a:r>
              <a:rPr lang="en-US" altLang="ko-KR" sz="1400" dirty="0" smtClean="0">
                <a:latin typeface="+mn-ea"/>
                <a:ea typeface="+mn-ea"/>
              </a:rPr>
              <a:t>: </a:t>
            </a:r>
            <a:r>
              <a:rPr lang="ko-KR" altLang="en-US" sz="1400" dirty="0" err="1" smtClean="0">
                <a:latin typeface="+mn-ea"/>
                <a:ea typeface="+mn-ea"/>
              </a:rPr>
              <a:t>콜백</a:t>
            </a:r>
            <a:r>
              <a:rPr lang="ko-KR" altLang="en-US" sz="1400" dirty="0" smtClean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적체 해소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  <a:endParaRPr lang="en-US" altLang="ko-KR" sz="1400" dirty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 err="1">
                <a:latin typeface="+mn-ea"/>
                <a:ea typeface="+mn-ea"/>
              </a:rPr>
              <a:t>follow_node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추론 타이머를 </a:t>
            </a:r>
            <a:r>
              <a:rPr lang="en-US" altLang="ko-KR" sz="1400" dirty="0">
                <a:latin typeface="+mn-ea"/>
                <a:ea typeface="+mn-ea"/>
              </a:rPr>
              <a:t>30Hz→10Hz</a:t>
            </a:r>
            <a:r>
              <a:rPr lang="ko-KR" altLang="en-US" sz="1400" dirty="0">
                <a:latin typeface="+mn-ea"/>
                <a:ea typeface="+mn-ea"/>
              </a:rPr>
              <a:t>로 낮춰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추론 속도가 못 따라가 </a:t>
            </a:r>
            <a:r>
              <a:rPr lang="ko-KR" altLang="en-US" sz="1400" dirty="0" err="1">
                <a:latin typeface="+mn-ea"/>
                <a:ea typeface="+mn-ea"/>
              </a:rPr>
              <a:t>콜백이</a:t>
            </a:r>
            <a:r>
              <a:rPr lang="ko-KR" altLang="en-US" sz="1400" dirty="0">
                <a:latin typeface="+mn-ea"/>
                <a:ea typeface="+mn-ea"/>
              </a:rPr>
              <a:t> 밀리던 근본 원인을 제거함</a:t>
            </a:r>
            <a:r>
              <a:rPr lang="en-US" altLang="ko-KR" sz="1400" dirty="0">
                <a:latin typeface="+mn-ea"/>
                <a:ea typeface="+mn-ea"/>
              </a:rPr>
              <a:t>. CPU </a:t>
            </a:r>
            <a:r>
              <a:rPr lang="ko-KR" altLang="en-US" sz="1400" dirty="0">
                <a:latin typeface="+mn-ea"/>
                <a:ea typeface="+mn-ea"/>
              </a:rPr>
              <a:t>약 </a:t>
            </a:r>
            <a:r>
              <a:rPr lang="en-US" altLang="ko-KR" sz="1400" dirty="0">
                <a:latin typeface="+mn-ea"/>
                <a:ea typeface="+mn-ea"/>
              </a:rPr>
              <a:t>400%→80%</a:t>
            </a:r>
            <a:r>
              <a:rPr lang="ko-KR" altLang="en-US" sz="1400" dirty="0">
                <a:latin typeface="+mn-ea"/>
                <a:ea typeface="+mn-ea"/>
              </a:rPr>
              <a:t>대로 즉시 효과 확인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endParaRPr lang="en-US" altLang="ko-KR" sz="1400" dirty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ko-KR" altLang="ko-KR" sz="1400" b="1" dirty="0" smtClean="0">
                <a:solidFill>
                  <a:srgbClr val="00B050"/>
                </a:solidFill>
                <a:latin typeface="+mn-ea"/>
                <a:ea typeface="+mn-ea"/>
              </a:rPr>
              <a:t>4</a:t>
            </a:r>
            <a:r>
              <a:rPr lang="ko-KR" altLang="ko-KR" sz="1400" b="1" dirty="0">
                <a:solidFill>
                  <a:srgbClr val="00B050"/>
                </a:solidFill>
                <a:latin typeface="+mn-ea"/>
                <a:ea typeface="+mn-ea"/>
              </a:rPr>
              <a:t>. 결과 및 배운 점 </a:t>
            </a:r>
            <a:r>
              <a:rPr lang="ko-KR" altLang="ko-KR" sz="1400" b="1" dirty="0" smtClean="0">
                <a:solidFill>
                  <a:srgbClr val="00B050"/>
                </a:solidFill>
                <a:latin typeface="+mn-ea"/>
                <a:ea typeface="+mn-ea"/>
              </a:rPr>
              <a:t>결과</a:t>
            </a:r>
            <a:endParaRPr lang="en-US" altLang="ko-KR" sz="1400" b="1" dirty="0" smtClean="0">
              <a:solidFill>
                <a:srgbClr val="00B050"/>
              </a:solidFill>
              <a:latin typeface="+mn-ea"/>
              <a:ea typeface="+mn-ea"/>
            </a:endParaRPr>
          </a:p>
          <a:p>
            <a:pPr>
              <a:lnSpc>
                <a:spcPts val="2000"/>
              </a:lnSpc>
            </a:pPr>
            <a:r>
              <a:rPr lang="en-US" altLang="ko-KR" sz="1400" b="1" dirty="0" smtClean="0">
                <a:latin typeface="+mn-ea"/>
                <a:ea typeface="+mn-ea"/>
              </a:rPr>
              <a:t> - </a:t>
            </a:r>
            <a:r>
              <a:rPr lang="ko-KR" altLang="en-US" sz="1400" dirty="0"/>
              <a:t>타이머 </a:t>
            </a:r>
            <a:r>
              <a:rPr lang="en-US" altLang="ko-KR" sz="1400" dirty="0"/>
              <a:t>10Hz + </a:t>
            </a:r>
            <a:r>
              <a:rPr lang="ko-KR" altLang="en-US" sz="1400" dirty="0"/>
              <a:t>양자화 적용 최종 상태에서 </a:t>
            </a:r>
            <a:r>
              <a:rPr lang="en-US" altLang="ko-KR" sz="1400" dirty="0" err="1"/>
              <a:t>follow_node</a:t>
            </a:r>
            <a:r>
              <a:rPr lang="en-US" altLang="ko-KR" sz="1400" dirty="0"/>
              <a:t> </a:t>
            </a:r>
            <a:r>
              <a:rPr lang="ko-KR" altLang="en-US" sz="1400" dirty="0"/>
              <a:t>약 </a:t>
            </a:r>
            <a:r>
              <a:rPr lang="en-US" altLang="ko-KR" sz="1400" dirty="0"/>
              <a:t>50~70%, </a:t>
            </a:r>
            <a:r>
              <a:rPr lang="en-US" altLang="ko-KR" sz="1400" dirty="0" err="1"/>
              <a:t>rear_cam_node</a:t>
            </a:r>
            <a:r>
              <a:rPr lang="en-US" altLang="ko-KR" sz="1400" dirty="0"/>
              <a:t> </a:t>
            </a:r>
            <a:r>
              <a:rPr lang="ko-KR" altLang="en-US" sz="1400" dirty="0"/>
              <a:t>약 </a:t>
            </a:r>
            <a:r>
              <a:rPr lang="en-US" altLang="ko-KR" sz="1400" dirty="0"/>
              <a:t>21%, VDD_IN 4.6W</a:t>
            </a:r>
            <a:r>
              <a:rPr lang="ko-KR" altLang="en-US" sz="1400" dirty="0"/>
              <a:t>로 </a:t>
            </a:r>
            <a:r>
              <a:rPr lang="ko-KR" altLang="en-US" sz="1400" dirty="0" err="1"/>
              <a:t>안정화됨</a:t>
            </a:r>
            <a:r>
              <a:rPr lang="en-US" altLang="ko-KR" sz="1400" dirty="0"/>
              <a:t>. </a:t>
            </a:r>
            <a:r>
              <a:rPr lang="ko-KR" altLang="en-US" sz="1400" dirty="0"/>
              <a:t>전방</a:t>
            </a:r>
            <a:r>
              <a:rPr lang="en-US" altLang="ko-KR" sz="1400" dirty="0"/>
              <a:t>+</a:t>
            </a:r>
            <a:r>
              <a:rPr lang="ko-KR" altLang="en-US" sz="1400" dirty="0"/>
              <a:t>후방 </a:t>
            </a:r>
            <a:r>
              <a:rPr lang="en-US" altLang="ko-KR" sz="1400" dirty="0"/>
              <a:t>YOLO 2</a:t>
            </a:r>
            <a:r>
              <a:rPr lang="ko-KR" altLang="en-US" sz="1400" dirty="0"/>
              <a:t>개 동시 구동에서도 </a:t>
            </a:r>
            <a:r>
              <a:rPr lang="en-US" altLang="ko-KR" sz="1400" dirty="0"/>
              <a:t>CPU·</a:t>
            </a:r>
            <a:r>
              <a:rPr lang="ko-KR" altLang="en-US" sz="1400" dirty="0"/>
              <a:t>메모리</a:t>
            </a:r>
            <a:r>
              <a:rPr lang="en-US" altLang="ko-KR" sz="1400" dirty="0"/>
              <a:t>·</a:t>
            </a:r>
            <a:r>
              <a:rPr lang="ko-KR" altLang="en-US" sz="1400" dirty="0"/>
              <a:t>전력 모두 여유 확보</a:t>
            </a:r>
            <a:r>
              <a:rPr lang="en-US" altLang="ko-KR" sz="1400" dirty="0"/>
              <a:t>.</a:t>
            </a:r>
            <a:endParaRPr lang="en-US" altLang="ko-KR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981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330</Words>
  <Application>Microsoft Office PowerPoint</Application>
  <PresentationFormat>와이드스크린</PresentationFormat>
  <Paragraphs>27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금주 태스크 및 달성도</vt:lpstr>
      <vt:lpstr>딥 다이브 &amp; 트러블 슈팅 (김완식)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완수상병_1주차 진행상황발표</dc:title>
  <dc:creator>user</dc:creator>
  <cp:lastModifiedBy>user</cp:lastModifiedBy>
  <cp:revision>38</cp:revision>
  <dcterms:created xsi:type="dcterms:W3CDTF">2026-06-17T02:40:06Z</dcterms:created>
  <dcterms:modified xsi:type="dcterms:W3CDTF">2026-06-24T06:28:18Z</dcterms:modified>
</cp:coreProperties>
</file>