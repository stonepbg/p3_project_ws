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66E"/>
    <a:srgbClr val="FC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4446" y="546661"/>
            <a:ext cx="14630400" cy="76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4000" b="1" smtClean="0">
                <a:solidFill>
                  <a:srgbClr val="1E293B"/>
                </a:solidFill>
                <a:latin typeface="Cambria"/>
              </a:rPr>
              <a:t>FSM </a:t>
            </a:r>
            <a:r>
              <a:rPr sz="4000" b="1" smtClean="0">
                <a:solidFill>
                  <a:srgbClr val="1E293B"/>
                </a:solidFill>
                <a:latin typeface="Cambria"/>
              </a:rPr>
              <a:t>시스템 </a:t>
            </a:r>
            <a:r>
              <a:rPr sz="4000" b="1">
                <a:solidFill>
                  <a:srgbClr val="1E293B"/>
                </a:solidFill>
                <a:latin typeface="Cambria"/>
              </a:rPr>
              <a:t>부하 최적화 — 엣지 실시간성 확보</a:t>
            </a:r>
          </a:p>
        </p:txBody>
      </p:sp>
      <p:pic>
        <p:nvPicPr>
          <p:cNvPr id="3" name="Picture 2" descr="cpu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820" y="2043314"/>
            <a:ext cx="7393311" cy="58090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95046" y="7861629"/>
            <a:ext cx="13609200" cy="776159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120000"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Noto Sans CJK KR"/>
              </a:rPr>
              <a:t>최종 안정 상태 </a:t>
            </a:r>
            <a:r>
              <a:rPr sz="1400" b="1" smtClean="0">
                <a:solidFill>
                  <a:srgbClr val="0F766E"/>
                </a:solidFill>
                <a:latin typeface="Noto Sans CJK KR"/>
              </a:rPr>
              <a:t>(</a:t>
            </a:r>
            <a:r>
              <a:rPr sz="1400" b="1">
                <a:solidFill>
                  <a:srgbClr val="0F766E"/>
                </a:solidFill>
                <a:latin typeface="Noto Sans CJK KR"/>
              </a:rPr>
              <a:t>전·후방 YOLO11n 2모델 동시 구동</a:t>
            </a:r>
            <a:r>
              <a:rPr sz="1400" b="1" smtClean="0">
                <a:solidFill>
                  <a:srgbClr val="0F766E"/>
                </a:solidFill>
                <a:latin typeface="Noto Sans CJK KR"/>
              </a:rPr>
              <a:t>)</a:t>
            </a:r>
            <a:r>
              <a:rPr lang="en-US" sz="1400" b="1" smtClean="0">
                <a:solidFill>
                  <a:srgbClr val="0F766E"/>
                </a:solidFill>
                <a:latin typeface="Noto Sans CJK KR"/>
              </a:rPr>
              <a:t> </a:t>
            </a:r>
            <a:r>
              <a:rPr lang="en-US" altLang="ko-KR" sz="1400" smtClean="0">
                <a:solidFill>
                  <a:srgbClr val="475569"/>
                </a:solidFill>
                <a:latin typeface="Noto Sans CJK KR"/>
              </a:rPr>
              <a:t>·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전력 </a:t>
            </a:r>
            <a:r>
              <a:rPr sz="1400">
                <a:solidFill>
                  <a:srgbClr val="475569"/>
                </a:solidFill>
                <a:latin typeface="Noto Sans CJK KR"/>
              </a:rPr>
              <a:t>VDD_IN 4.6W (15W 모드 여유)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·</a:t>
            </a:r>
            <a:r>
              <a:rPr lang="en-US" sz="1400" smtClean="0">
                <a:solidFill>
                  <a:srgbClr val="475569"/>
                </a:solidFill>
                <a:latin typeface="Noto Sans CJK KR"/>
              </a:rPr>
              <a:t>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GPU </a:t>
            </a:r>
            <a:r>
              <a:rPr sz="1400">
                <a:solidFill>
                  <a:srgbClr val="475569"/>
                </a:solidFill>
                <a:latin typeface="Noto Sans CJK KR"/>
              </a:rPr>
              <a:t>15~50%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· 메모리 </a:t>
            </a:r>
            <a:r>
              <a:rPr sz="1400">
                <a:solidFill>
                  <a:srgbClr val="475569"/>
                </a:solidFill>
                <a:latin typeface="Noto Sans CJK KR"/>
              </a:rPr>
              <a:t>4.5 / 7.4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GB · Load </a:t>
            </a:r>
            <a:r>
              <a:rPr sz="1400">
                <a:solidFill>
                  <a:srgbClr val="475569"/>
                </a:solidFill>
                <a:latin typeface="Noto Sans CJK KR"/>
              </a:rPr>
              <a:t>avg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0.99 </a:t>
            </a:r>
            <a:r>
              <a:rPr sz="1400">
                <a:solidFill>
                  <a:srgbClr val="475569"/>
                </a:solidFill>
                <a:latin typeface="Noto Sans CJK KR"/>
              </a:rPr>
              <a:t>· </a:t>
            </a:r>
            <a:r>
              <a:rPr sz="1400" smtClean="0">
                <a:solidFill>
                  <a:srgbClr val="475569"/>
                </a:solidFill>
                <a:latin typeface="Noto Sans CJK KR"/>
              </a:rPr>
              <a:t> </a:t>
            </a:r>
            <a:r>
              <a:rPr sz="1400">
                <a:solidFill>
                  <a:srgbClr val="475569"/>
                </a:solidFill>
                <a:latin typeface="Noto Sans CJK KR"/>
              </a:rPr>
              <a:t>rear_cam 21%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9448800" y="2034028"/>
            <a:ext cx="5555446" cy="5457017"/>
            <a:chOff x="8090400" y="1475714"/>
            <a:chExt cx="5144954" cy="5250714"/>
          </a:xfrm>
        </p:grpSpPr>
        <p:sp>
          <p:nvSpPr>
            <p:cNvPr id="5" name="Rectangle 4"/>
            <p:cNvSpPr/>
            <p:nvPr/>
          </p:nvSpPr>
          <p:spPr>
            <a:xfrm>
              <a:off x="8090400" y="2826428"/>
              <a:ext cx="5144954" cy="11800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0000" tIns="150000" rtlCol="0" anchor="ctr"/>
            <a:lstStyle/>
            <a:p>
              <a:r>
                <a:rPr sz="1800" b="1">
                  <a:solidFill>
                    <a:srgbClr val="0F766E"/>
                  </a:solidFill>
                  <a:latin typeface="Noto Sans CJK KR"/>
                </a:rPr>
                <a:t>① 프레임 다운샘플   </a:t>
              </a:r>
              <a:r>
                <a:rPr sz="1500" b="1">
                  <a:solidFill>
                    <a:srgbClr val="1E293B"/>
                  </a:solidFill>
                  <a:latin typeface="Noto Sans CJK KR"/>
                </a:rPr>
                <a:t>RealSense 30 → 10fps</a:t>
              </a:r>
            </a:p>
            <a:p>
              <a:pPr>
                <a:spcBef>
                  <a:spcPts val="400"/>
                </a:spcBef>
              </a:pPr>
              <a:r>
                <a:rPr sz="1400">
                  <a:solidFill>
                    <a:srgbClr val="475569"/>
                  </a:solidFill>
                  <a:latin typeface="Noto Sans CJK KR"/>
                </a:rPr>
                <a:t>이미지 처리 연산량 감소 (CPU 394→87%)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0400" y="2826428"/>
              <a:ext cx="90000" cy="1180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8090400" y="4186428"/>
              <a:ext cx="5144954" cy="11800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0000" tIns="150000" rtlCol="0" anchor="ctr"/>
            <a:lstStyle/>
            <a:p>
              <a:r>
                <a:rPr sz="1800" b="1">
                  <a:solidFill>
                    <a:srgbClr val="0F766E"/>
                  </a:solidFill>
                  <a:latin typeface="Noto Sans CJK KR"/>
                </a:rPr>
                <a:t>② 루프 주기 조정   </a:t>
              </a:r>
              <a:r>
                <a:rPr sz="1500" b="1">
                  <a:solidFill>
                    <a:srgbClr val="1E293B"/>
                  </a:solidFill>
                  <a:latin typeface="Noto Sans CJK KR"/>
                </a:rPr>
                <a:t>타이머 30 → 10Hz</a:t>
              </a:r>
            </a:p>
            <a:p>
              <a:pPr>
                <a:spcBef>
                  <a:spcPts val="400"/>
                </a:spcBef>
              </a:pPr>
              <a:r>
                <a:rPr sz="1400">
                  <a:solidFill>
                    <a:srgbClr val="475569"/>
                  </a:solidFill>
                  <a:latin typeface="Noto Sans CJK KR"/>
                </a:rPr>
                <a:t>추론이 못 따라가 밀리던 콜백 해소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090400" y="4186428"/>
              <a:ext cx="90000" cy="1180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8090400" y="5546428"/>
              <a:ext cx="5144954" cy="11800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0000" tIns="150000" rtlCol="0" anchor="ctr"/>
            <a:lstStyle/>
            <a:p>
              <a:r>
                <a:rPr sz="1800" b="1">
                  <a:solidFill>
                    <a:srgbClr val="0F766E"/>
                  </a:solidFill>
                  <a:latin typeface="Noto Sans CJK KR"/>
                </a:rPr>
                <a:t>③ FP16 양자화   </a:t>
              </a:r>
              <a:r>
                <a:rPr sz="1500" b="1">
                  <a:solidFill>
                    <a:srgbClr val="1E293B"/>
                  </a:solidFill>
                  <a:latin typeface="Noto Sans CJK KR"/>
                </a:rPr>
                <a:t>YOLO11n → TensorRT engine</a:t>
              </a:r>
            </a:p>
            <a:p>
              <a:pPr>
                <a:spcBef>
                  <a:spcPts val="400"/>
                </a:spcBef>
              </a:pPr>
              <a:r>
                <a:rPr sz="1400">
                  <a:solidFill>
                    <a:srgbClr val="475569"/>
                  </a:solidFill>
                  <a:latin typeface="Noto Sans CJK KR"/>
                </a:rPr>
                <a:t>rear_cam 23→5.9% · GPU 추론 가속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090400" y="5546428"/>
              <a:ext cx="90000" cy="1180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Rectangle 4"/>
            <p:cNvSpPr/>
            <p:nvPr/>
          </p:nvSpPr>
          <p:spPr>
            <a:xfrm>
              <a:off x="8090400" y="1475714"/>
              <a:ext cx="5144954" cy="11800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0000" tIns="150000" rtlCol="0" anchor="ctr"/>
            <a:lstStyle/>
            <a:p>
              <a:pPr algn="ctr"/>
              <a:endParaRPr lang="ko-KR" altLang="en-US" sz="1600">
                <a:solidFill>
                  <a:schemeClr val="tx1"/>
                </a:solidFill>
                <a:latin typeface="Noto Sans CJK KR"/>
              </a:endParaRPr>
            </a:p>
          </p:txBody>
        </p:sp>
        <p:sp>
          <p:nvSpPr>
            <p:cNvPr id="15" name="Rectangle 5"/>
            <p:cNvSpPr/>
            <p:nvPr/>
          </p:nvSpPr>
          <p:spPr>
            <a:xfrm>
              <a:off x="8090400" y="1485000"/>
              <a:ext cx="90000" cy="1180000"/>
            </a:xfrm>
            <a:prstGeom prst="rect">
              <a:avLst/>
            </a:prstGeom>
            <a:solidFill>
              <a:srgbClr val="FC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11561" y="1923973"/>
              <a:ext cx="8206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smtClean="0">
                  <a:solidFill>
                    <a:srgbClr val="FF0000"/>
                  </a:solidFill>
                  <a:latin typeface="Noto Sans CJK KR"/>
                </a:rPr>
                <a:t>분석</a:t>
              </a:r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97815" y="1888552"/>
              <a:ext cx="35755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>
                  <a:solidFill>
                    <a:srgbClr val="FF0000"/>
                  </a:solidFill>
                  <a:latin typeface="+mj-ea"/>
                  <a:ea typeface="+mj-ea"/>
                </a:rPr>
                <a:t>·</a:t>
              </a:r>
              <a:r>
                <a:rPr lang="en-US" altLang="ko-KR" sz="1600">
                  <a:latin typeface="+mj-ea"/>
                  <a:ea typeface="+mj-ea"/>
                </a:rPr>
                <a:t> 30Hz </a:t>
              </a:r>
              <a:r>
                <a:rPr lang="ko-KR" altLang="en-US" sz="1600">
                  <a:latin typeface="+mj-ea"/>
                  <a:ea typeface="+mj-ea"/>
                </a:rPr>
                <a:t>추론을 못 따라가 콜백 누적 </a:t>
              </a:r>
              <a:endParaRPr lang="en-US" altLang="ko-KR" sz="1600">
                <a:latin typeface="+mj-ea"/>
                <a:ea typeface="+mj-ea"/>
              </a:endParaRPr>
            </a:p>
            <a:p>
              <a:r>
                <a:rPr lang="en-US" altLang="ko-KR" sz="1600">
                  <a:solidFill>
                    <a:srgbClr val="FF0000"/>
                  </a:solidFill>
                  <a:latin typeface="+mj-ea"/>
                  <a:ea typeface="+mj-ea"/>
                </a:rPr>
                <a:t>· </a:t>
              </a:r>
              <a:r>
                <a:rPr lang="en-US" altLang="ko-KR" sz="1600">
                  <a:latin typeface="+mj-ea"/>
                  <a:ea typeface="+mj-ea"/>
                </a:rPr>
                <a:t>BoT-SORT </a:t>
              </a:r>
              <a:r>
                <a:rPr lang="ko-KR" altLang="en-US" sz="1600">
                  <a:latin typeface="+mj-ea"/>
                  <a:ea typeface="+mj-ea"/>
                </a:rPr>
                <a:t>추적기가 </a:t>
              </a:r>
              <a:r>
                <a:rPr lang="en-US" altLang="ko-KR" sz="1600">
                  <a:latin typeface="+mj-ea"/>
                  <a:ea typeface="+mj-ea"/>
                </a:rPr>
                <a:t>CPU</a:t>
              </a:r>
              <a:r>
                <a:rPr lang="ko-KR" altLang="en-US" sz="1600">
                  <a:latin typeface="+mj-ea"/>
                  <a:ea typeface="+mj-ea"/>
                </a:rPr>
                <a:t>에서 구동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109</Words>
  <Application>Microsoft Office PowerPoint</Application>
  <PresentationFormat>사용자 지정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CJK KR</vt:lpstr>
      <vt:lpstr>맑은 고딕</vt:lpstr>
      <vt:lpstr>Arial</vt:lpstr>
      <vt:lpstr>Calibri</vt:lpstr>
      <vt:lpstr>Cambria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2026-06-30T00:43:46Z</dcterms:modified>
  <cp:category/>
</cp:coreProperties>
</file>