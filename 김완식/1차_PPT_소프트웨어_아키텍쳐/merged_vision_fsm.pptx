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302" r:id="rId2"/>
    <p:sldId id="303" r:id="rId3"/>
    <p:sldId id="304" r:id="rId4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F3F6"/>
    <a:srgbClr val="F4F4F2"/>
    <a:srgbClr val="F5F4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2" d="100"/>
          <a:sy n="72" d="100"/>
        </p:scale>
        <p:origin x="852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337332-7DA8-4FF1-BB08-1A790CDB992A}" type="datetimeFigureOut">
              <a:rPr lang="ko-KR" altLang="en-US" smtClean="0"/>
              <a:t>2026-06-27 (Sat)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D96989-4F0F-4B73-95DB-12DBB89806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4037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3246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9726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6600" y="683494"/>
            <a:ext cx="146304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 · FSM 시스템 구성과 모드 체계</a:t>
            </a:r>
            <a:endParaRPr lang="en-US" sz="4000" dirty="0"/>
          </a:p>
        </p:txBody>
      </p:sp>
      <p:pic>
        <p:nvPicPr>
          <p:cNvPr id="4" name="Image 0" descr="fsm_internal_state_desig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894" y="2209800"/>
            <a:ext cx="7000000" cy="6451740"/>
          </a:xfrm>
          <a:prstGeom prst="rect">
            <a:avLst/>
          </a:prstGeom>
        </p:spPr>
      </p:pic>
      <p:grpSp>
        <p:nvGrpSpPr>
          <p:cNvPr id="37" name="그룹 36"/>
          <p:cNvGrpSpPr/>
          <p:nvPr/>
        </p:nvGrpSpPr>
        <p:grpSpPr>
          <a:xfrm>
            <a:off x="7899400" y="2362176"/>
            <a:ext cx="3710910" cy="2399412"/>
            <a:chOff x="8044340" y="2333664"/>
            <a:chExt cx="3817460" cy="2631024"/>
          </a:xfrm>
        </p:grpSpPr>
        <p:sp>
          <p:nvSpPr>
            <p:cNvPr id="5" name="Rounded Rectangle 4"/>
            <p:cNvSpPr/>
            <p:nvPr/>
          </p:nvSpPr>
          <p:spPr>
            <a:xfrm>
              <a:off x="8044340" y="2333664"/>
              <a:ext cx="3817460" cy="2631024"/>
            </a:xfrm>
            <a:prstGeom prst="roundRect">
              <a:avLst>
                <a:gd name="adj" fmla="val 6000"/>
              </a:avLst>
            </a:prstGeom>
            <a:solidFill>
              <a:srgbClr val="F1F3F6"/>
            </a:solidFill>
            <a:ln w="12700">
              <a:solidFill>
                <a:srgbClr val="D9DFE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ea"/>
                <a:ea typeface="+mj-ea"/>
              </a:endParaRPr>
            </a:p>
          </p:txBody>
        </p:sp>
        <p:sp>
          <p:nvSpPr>
            <p:cNvPr id="6" name="Oval 5"/>
            <p:cNvSpPr/>
            <p:nvPr/>
          </p:nvSpPr>
          <p:spPr>
            <a:xfrm>
              <a:off x="8344340" y="2633664"/>
              <a:ext cx="200000" cy="20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ea"/>
                <a:ea typeface="+mj-ea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664674" y="2532585"/>
              <a:ext cx="2244480" cy="420000"/>
            </a:xfrm>
            <a:prstGeom prst="rect">
              <a:avLst/>
            </a:prstGeom>
            <a:noFill/>
          </p:spPr>
          <p:txBody>
            <a:bodyPr wrap="square"/>
            <a:lstStyle/>
            <a:p>
              <a:r>
                <a:rPr sz="1800" b="1" dirty="0" err="1">
                  <a:solidFill>
                    <a:srgbClr val="1E293B"/>
                  </a:solidFill>
                  <a:latin typeface="+mj-ea"/>
                  <a:ea typeface="+mj-ea"/>
                </a:rPr>
                <a:t>fsm_node</a:t>
              </a:r>
              <a:endParaRPr sz="1800" b="1" dirty="0">
                <a:solidFill>
                  <a:srgbClr val="1E293B"/>
                </a:solidFill>
                <a:latin typeface="+mj-ea"/>
                <a:ea typeface="+mj-ea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341939" y="3135740"/>
              <a:ext cx="3002365" cy="934263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>
                <a:lnSpc>
                  <a:spcPct val="125000"/>
                </a:lnSpc>
              </a:pPr>
              <a:r>
                <a:rPr lang="en-US" altLang="ko-KR" sz="1600" dirty="0">
                  <a:solidFill>
                    <a:srgbClr val="475569"/>
                  </a:solidFill>
                  <a:latin typeface="+mj-ea"/>
                </a:rPr>
                <a:t>· </a:t>
              </a:r>
              <a:r>
                <a:rPr sz="1600" dirty="0" smtClean="0">
                  <a:solidFill>
                    <a:srgbClr val="475569"/>
                  </a:solidFill>
                  <a:latin typeface="+mj-ea"/>
                  <a:ea typeface="+mj-ea"/>
                </a:rPr>
                <a:t>5</a:t>
              </a:r>
              <a:r>
                <a:rPr sz="1600" dirty="0">
                  <a:solidFill>
                    <a:srgbClr val="475569"/>
                  </a:solidFill>
                  <a:latin typeface="+mj-ea"/>
                  <a:ea typeface="+mj-ea"/>
                </a:rPr>
                <a:t>개 </a:t>
              </a:r>
              <a:r>
                <a:rPr sz="1600" dirty="0" err="1">
                  <a:solidFill>
                    <a:srgbClr val="475569"/>
                  </a:solidFill>
                  <a:latin typeface="+mj-ea"/>
                  <a:ea typeface="+mj-ea"/>
                </a:rPr>
                <a:t>모드</a:t>
              </a:r>
              <a:r>
                <a:rPr sz="1600" dirty="0">
                  <a:solidFill>
                    <a:srgbClr val="475569"/>
                  </a:solidFill>
                  <a:latin typeface="+mj-ea"/>
                  <a:ea typeface="+mj-ea"/>
                </a:rPr>
                <a:t> </a:t>
              </a:r>
              <a:r>
                <a:rPr sz="1600" dirty="0" err="1" smtClean="0">
                  <a:solidFill>
                    <a:srgbClr val="475569"/>
                  </a:solidFill>
                  <a:latin typeface="+mj-ea"/>
                  <a:ea typeface="+mj-ea"/>
                </a:rPr>
                <a:t>전환</a:t>
              </a:r>
              <a:endParaRPr lang="en-US" sz="1600" dirty="0" smtClean="0">
                <a:solidFill>
                  <a:srgbClr val="475569"/>
                </a:solidFill>
                <a:latin typeface="+mj-ea"/>
                <a:ea typeface="+mj-ea"/>
              </a:endParaRPr>
            </a:p>
            <a:p>
              <a:pPr>
                <a:lnSpc>
                  <a:spcPct val="125000"/>
                </a:lnSpc>
              </a:pPr>
              <a:endParaRPr sz="1600" dirty="0">
                <a:solidFill>
                  <a:srgbClr val="475569"/>
                </a:solidFill>
                <a:latin typeface="+mj-ea"/>
                <a:ea typeface="+mj-ea"/>
              </a:endParaRPr>
            </a:p>
            <a:p>
              <a:pPr>
                <a:lnSpc>
                  <a:spcPct val="125000"/>
                </a:lnSpc>
              </a:pPr>
              <a:r>
                <a:rPr lang="en-US" altLang="ko-KR" sz="1600" dirty="0">
                  <a:solidFill>
                    <a:srgbClr val="475569"/>
                  </a:solidFill>
                  <a:latin typeface="+mj-ea"/>
                </a:rPr>
                <a:t>· </a:t>
              </a:r>
              <a:r>
                <a:rPr sz="1600" dirty="0" smtClean="0">
                  <a:solidFill>
                    <a:srgbClr val="475569"/>
                  </a:solidFill>
                  <a:latin typeface="+mj-ea"/>
                  <a:ea typeface="+mj-ea"/>
                </a:rPr>
                <a:t>AGV </a:t>
              </a:r>
              <a:r>
                <a:rPr lang="ko-KR" altLang="en-US" sz="1600" dirty="0" smtClean="0">
                  <a:solidFill>
                    <a:srgbClr val="475569"/>
                  </a:solidFill>
                  <a:latin typeface="+mj-ea"/>
                  <a:ea typeface="+mj-ea"/>
                </a:rPr>
                <a:t>모드 </a:t>
              </a:r>
              <a:endParaRPr lang="en-US" altLang="ko-KR" sz="1600" dirty="0" smtClean="0">
                <a:solidFill>
                  <a:srgbClr val="475569"/>
                </a:solidFill>
                <a:latin typeface="+mj-ea"/>
                <a:ea typeface="+mj-ea"/>
              </a:endParaRPr>
            </a:p>
            <a:p>
              <a:pPr>
                <a:lnSpc>
                  <a:spcPct val="125000"/>
                </a:lnSpc>
              </a:pPr>
              <a:r>
                <a:rPr lang="en-US" sz="1600" dirty="0">
                  <a:solidFill>
                    <a:srgbClr val="475569"/>
                  </a:solidFill>
                  <a:latin typeface="+mj-ea"/>
                  <a:ea typeface="+mj-ea"/>
                </a:rPr>
                <a:t>(</a:t>
              </a:r>
              <a:r>
                <a:rPr sz="1600" dirty="0" err="1" smtClean="0">
                  <a:solidFill>
                    <a:srgbClr val="475569"/>
                  </a:solidFill>
                  <a:latin typeface="+mj-ea"/>
                  <a:ea typeface="+mj-ea"/>
                </a:rPr>
                <a:t>바이패스</a:t>
              </a:r>
              <a:r>
                <a:rPr lang="en-US" sz="1600" dirty="0">
                  <a:solidFill>
                    <a:srgbClr val="475569"/>
                  </a:solidFill>
                  <a:latin typeface="+mj-ea"/>
                  <a:ea typeface="+mj-ea"/>
                </a:rPr>
                <a:t>,</a:t>
              </a:r>
              <a:r>
                <a:rPr sz="1600" dirty="0" smtClean="0">
                  <a:solidFill>
                    <a:srgbClr val="475569"/>
                  </a:solidFill>
                  <a:latin typeface="+mj-ea"/>
                  <a:ea typeface="+mj-ea"/>
                </a:rPr>
                <a:t> </a:t>
              </a:r>
              <a:r>
                <a:rPr sz="1600" dirty="0" err="1" smtClean="0">
                  <a:solidFill>
                    <a:srgbClr val="475569"/>
                  </a:solidFill>
                  <a:latin typeface="+mj-ea"/>
                  <a:ea typeface="+mj-ea"/>
                </a:rPr>
                <a:t>핸드셰이크</a:t>
              </a:r>
              <a:r>
                <a:rPr lang="en-US" sz="1600" dirty="0" smtClean="0">
                  <a:solidFill>
                    <a:srgbClr val="475569"/>
                  </a:solidFill>
                  <a:latin typeface="+mj-ea"/>
                  <a:ea typeface="+mj-ea"/>
                </a:rPr>
                <a:t>)</a:t>
              </a:r>
              <a:endParaRPr sz="1600" dirty="0">
                <a:solidFill>
                  <a:srgbClr val="475569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35" name="그룹 34"/>
          <p:cNvGrpSpPr/>
          <p:nvPr/>
        </p:nvGrpSpPr>
        <p:grpSpPr>
          <a:xfrm>
            <a:off x="7899400" y="5279476"/>
            <a:ext cx="3815080" cy="3235392"/>
            <a:chOff x="8046720" y="5274404"/>
            <a:chExt cx="3815080" cy="3235392"/>
          </a:xfrm>
        </p:grpSpPr>
        <p:sp>
          <p:nvSpPr>
            <p:cNvPr id="9" name="Rounded Rectangle 8"/>
            <p:cNvSpPr/>
            <p:nvPr/>
          </p:nvSpPr>
          <p:spPr>
            <a:xfrm>
              <a:off x="8046720" y="5274404"/>
              <a:ext cx="3815080" cy="3235392"/>
            </a:xfrm>
            <a:prstGeom prst="roundRect">
              <a:avLst>
                <a:gd name="adj" fmla="val 6000"/>
              </a:avLst>
            </a:prstGeom>
            <a:solidFill>
              <a:srgbClr val="F1F3F6"/>
            </a:solidFill>
            <a:ln w="12700">
              <a:solidFill>
                <a:srgbClr val="D9DFE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ea"/>
                <a:ea typeface="+mj-ea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8386720" y="5574404"/>
              <a:ext cx="199753" cy="20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ea"/>
                <a:ea typeface="+mj-ea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649740" y="5466292"/>
              <a:ext cx="2407320" cy="420000"/>
            </a:xfrm>
            <a:prstGeom prst="rect">
              <a:avLst/>
            </a:prstGeom>
            <a:noFill/>
          </p:spPr>
          <p:txBody>
            <a:bodyPr wrap="square"/>
            <a:lstStyle/>
            <a:p>
              <a:r>
                <a:rPr sz="1800" b="1" dirty="0" err="1">
                  <a:solidFill>
                    <a:srgbClr val="1E293B"/>
                  </a:solidFill>
                  <a:latin typeface="+mj-ea"/>
                  <a:ea typeface="+mj-ea"/>
                </a:rPr>
                <a:t>follow_node</a:t>
              </a:r>
              <a:endParaRPr sz="1800" b="1" dirty="0">
                <a:solidFill>
                  <a:srgbClr val="1E293B"/>
                </a:solidFill>
                <a:latin typeface="+mj-ea"/>
                <a:ea typeface="+mj-ea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344340" y="6074404"/>
              <a:ext cx="3380014" cy="2247280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>
                <a:lnSpc>
                  <a:spcPct val="125000"/>
                </a:lnSpc>
              </a:pPr>
              <a:r>
                <a:rPr lang="en-US" altLang="ko-KR" sz="1600" dirty="0">
                  <a:solidFill>
                    <a:srgbClr val="475569"/>
                  </a:solidFill>
                  <a:latin typeface="+mj-ea"/>
                </a:rPr>
                <a:t>· </a:t>
              </a:r>
              <a:r>
                <a:rPr sz="1600" dirty="0" err="1" smtClean="0">
                  <a:solidFill>
                    <a:srgbClr val="475569"/>
                  </a:solidFill>
                  <a:latin typeface="+mj-ea"/>
                  <a:ea typeface="+mj-ea"/>
                </a:rPr>
                <a:t>전방</a:t>
              </a:r>
              <a:r>
                <a:rPr sz="1600" dirty="0" smtClean="0">
                  <a:solidFill>
                    <a:srgbClr val="475569"/>
                  </a:solidFill>
                  <a:latin typeface="+mj-ea"/>
                  <a:ea typeface="+mj-ea"/>
                </a:rPr>
                <a:t> </a:t>
              </a:r>
              <a:r>
                <a:rPr sz="1600" dirty="0" err="1" smtClean="0">
                  <a:solidFill>
                    <a:srgbClr val="475569"/>
                  </a:solidFill>
                  <a:latin typeface="+mj-ea"/>
                  <a:ea typeface="+mj-ea"/>
                </a:rPr>
                <a:t>추종</a:t>
              </a:r>
              <a:endParaRPr lang="en-US" sz="1600" dirty="0" smtClean="0">
                <a:solidFill>
                  <a:srgbClr val="475569"/>
                </a:solidFill>
                <a:latin typeface="+mj-ea"/>
                <a:ea typeface="+mj-ea"/>
              </a:endParaRPr>
            </a:p>
            <a:p>
              <a:pPr>
                <a:lnSpc>
                  <a:spcPct val="125000"/>
                </a:lnSpc>
              </a:pPr>
              <a:r>
                <a:rPr lang="en-US" altLang="ko-KR" sz="1600" dirty="0">
                  <a:solidFill>
                    <a:srgbClr val="475569"/>
                  </a:solidFill>
                  <a:latin typeface="+mj-ea"/>
                </a:rPr>
                <a:t>· </a:t>
              </a:r>
              <a:r>
                <a:rPr sz="1600" dirty="0" smtClean="0">
                  <a:solidFill>
                    <a:srgbClr val="475569"/>
                  </a:solidFill>
                  <a:latin typeface="+mj-ea"/>
                  <a:ea typeface="+mj-ea"/>
                </a:rPr>
                <a:t>RealSense </a:t>
              </a:r>
              <a:r>
                <a:rPr sz="1600" dirty="0">
                  <a:solidFill>
                    <a:srgbClr val="475569"/>
                  </a:solidFill>
                  <a:latin typeface="+mj-ea"/>
                  <a:ea typeface="+mj-ea"/>
                </a:rPr>
                <a:t>D435 (30→10fps)</a:t>
              </a:r>
            </a:p>
            <a:p>
              <a:pPr>
                <a:lnSpc>
                  <a:spcPct val="125000"/>
                </a:lnSpc>
              </a:pPr>
              <a:r>
                <a:rPr lang="en-US" altLang="ko-KR" sz="1600" dirty="0">
                  <a:solidFill>
                    <a:srgbClr val="475569"/>
                  </a:solidFill>
                  <a:latin typeface="+mj-ea"/>
                </a:rPr>
                <a:t>· </a:t>
              </a:r>
              <a:r>
                <a:rPr sz="1600" dirty="0" smtClean="0">
                  <a:solidFill>
                    <a:srgbClr val="475569"/>
                  </a:solidFill>
                  <a:latin typeface="+mj-ea"/>
                  <a:ea typeface="+mj-ea"/>
                </a:rPr>
                <a:t>YOLO11n </a:t>
              </a:r>
              <a:r>
                <a:rPr sz="1600" dirty="0" err="1">
                  <a:solidFill>
                    <a:srgbClr val="475569"/>
                  </a:solidFill>
                  <a:latin typeface="+mj-ea"/>
                  <a:ea typeface="+mj-ea"/>
                </a:rPr>
                <a:t>TensorRT</a:t>
              </a:r>
              <a:r>
                <a:rPr sz="1600" dirty="0">
                  <a:solidFill>
                    <a:srgbClr val="475569"/>
                  </a:solidFill>
                  <a:latin typeface="+mj-ea"/>
                  <a:ea typeface="+mj-ea"/>
                </a:rPr>
                <a:t> FP16 </a:t>
              </a:r>
              <a:r>
                <a:rPr sz="1600" dirty="0" err="1">
                  <a:solidFill>
                    <a:srgbClr val="475569"/>
                  </a:solidFill>
                  <a:latin typeface="+mj-ea"/>
                  <a:ea typeface="+mj-ea"/>
                </a:rPr>
                <a:t>양자화</a:t>
              </a:r>
              <a:endParaRPr sz="1600" dirty="0">
                <a:solidFill>
                  <a:srgbClr val="475569"/>
                </a:solidFill>
                <a:latin typeface="+mj-ea"/>
                <a:ea typeface="+mj-ea"/>
              </a:endParaRPr>
            </a:p>
            <a:p>
              <a:pPr>
                <a:lnSpc>
                  <a:spcPct val="125000"/>
                </a:lnSpc>
              </a:pPr>
              <a:r>
                <a:rPr lang="en-US" altLang="ko-KR" sz="1600" dirty="0">
                  <a:solidFill>
                    <a:srgbClr val="475569"/>
                  </a:solidFill>
                  <a:latin typeface="+mj-ea"/>
                </a:rPr>
                <a:t>· </a:t>
              </a:r>
              <a:r>
                <a:rPr sz="1600" dirty="0" smtClean="0">
                  <a:solidFill>
                    <a:srgbClr val="475569"/>
                  </a:solidFill>
                  <a:latin typeface="+mj-ea"/>
                  <a:ea typeface="+mj-ea"/>
                </a:rPr>
                <a:t>Re-ID </a:t>
              </a:r>
              <a:r>
                <a:rPr sz="1600" dirty="0">
                  <a:solidFill>
                    <a:srgbClr val="475569"/>
                  </a:solidFill>
                  <a:latin typeface="+mj-ea"/>
                  <a:ea typeface="+mj-ea"/>
                </a:rPr>
                <a:t>락 </a:t>
              </a:r>
              <a:endParaRPr lang="en-US" sz="1600" dirty="0" smtClean="0">
                <a:solidFill>
                  <a:srgbClr val="475569"/>
                </a:solidFill>
                <a:latin typeface="+mj-ea"/>
                <a:ea typeface="+mj-ea"/>
              </a:endParaRPr>
            </a:p>
            <a:p>
              <a:pPr>
                <a:lnSpc>
                  <a:spcPct val="125000"/>
                </a:lnSpc>
              </a:pPr>
              <a:r>
                <a:rPr sz="1600" dirty="0" smtClean="0">
                  <a:solidFill>
                    <a:srgbClr val="475569"/>
                  </a:solidFill>
                  <a:latin typeface="+mj-ea"/>
                  <a:ea typeface="+mj-ea"/>
                </a:rPr>
                <a:t>(Deep</a:t>
              </a:r>
              <a:r>
                <a:rPr lang="en-US" sz="1600" dirty="0" smtClean="0">
                  <a:solidFill>
                    <a:srgbClr val="475569"/>
                  </a:solidFill>
                  <a:latin typeface="+mj-ea"/>
                  <a:ea typeface="+mj-ea"/>
                </a:rPr>
                <a:t> </a:t>
              </a:r>
              <a:r>
                <a:rPr sz="1600" dirty="0" err="1" smtClean="0">
                  <a:solidFill>
                    <a:srgbClr val="475569"/>
                  </a:solidFill>
                  <a:latin typeface="+mj-ea"/>
                  <a:ea typeface="+mj-ea"/>
                </a:rPr>
                <a:t>OCSORT+OSNet</a:t>
              </a:r>
              <a:r>
                <a:rPr sz="1600" dirty="0" smtClean="0">
                  <a:solidFill>
                    <a:srgbClr val="475569"/>
                  </a:solidFill>
                  <a:latin typeface="+mj-ea"/>
                  <a:ea typeface="+mj-ea"/>
                </a:rPr>
                <a:t> </a:t>
              </a:r>
              <a:r>
                <a:rPr sz="1600" dirty="0">
                  <a:solidFill>
                    <a:srgbClr val="475569"/>
                  </a:solidFill>
                  <a:latin typeface="+mj-ea"/>
                  <a:ea typeface="+mj-ea"/>
                </a:rPr>
                <a:t>· </a:t>
              </a:r>
              <a:r>
                <a:rPr sz="1600" dirty="0" err="1">
                  <a:solidFill>
                    <a:srgbClr val="475569"/>
                  </a:solidFill>
                  <a:latin typeface="+mj-ea"/>
                  <a:ea typeface="+mj-ea"/>
                </a:rPr>
                <a:t>색상</a:t>
              </a:r>
              <a:r>
                <a:rPr sz="1600" dirty="0">
                  <a:solidFill>
                    <a:srgbClr val="475569"/>
                  </a:solidFill>
                  <a:latin typeface="+mj-ea"/>
                  <a:ea typeface="+mj-ea"/>
                </a:rPr>
                <a:t>)</a:t>
              </a:r>
            </a:p>
            <a:p>
              <a:pPr>
                <a:lnSpc>
                  <a:spcPct val="125000"/>
                </a:lnSpc>
              </a:pPr>
              <a:r>
                <a:rPr lang="en-US" altLang="ko-KR" sz="1600" dirty="0">
                  <a:solidFill>
                    <a:srgbClr val="475569"/>
                  </a:solidFill>
                  <a:latin typeface="+mj-ea"/>
                </a:rPr>
                <a:t>· </a:t>
              </a:r>
              <a:r>
                <a:rPr sz="1600" dirty="0" err="1" smtClean="0">
                  <a:solidFill>
                    <a:srgbClr val="475569"/>
                  </a:solidFill>
                  <a:latin typeface="+mj-ea"/>
                  <a:ea typeface="+mj-ea"/>
                </a:rPr>
                <a:t>거리</a:t>
              </a:r>
              <a:r>
                <a:rPr sz="1600" dirty="0" smtClean="0">
                  <a:solidFill>
                    <a:srgbClr val="475569"/>
                  </a:solidFill>
                  <a:latin typeface="+mj-ea"/>
                  <a:ea typeface="+mj-ea"/>
                </a:rPr>
                <a:t> </a:t>
              </a:r>
              <a:r>
                <a:rPr sz="1600" dirty="0">
                  <a:solidFill>
                    <a:srgbClr val="475569"/>
                  </a:solidFill>
                  <a:latin typeface="+mj-ea"/>
                  <a:ea typeface="+mj-ea"/>
                </a:rPr>
                <a:t>· </a:t>
              </a:r>
              <a:r>
                <a:rPr sz="1600" dirty="0" err="1">
                  <a:solidFill>
                    <a:srgbClr val="475569"/>
                  </a:solidFill>
                  <a:latin typeface="+mj-ea"/>
                  <a:ea typeface="+mj-ea"/>
                </a:rPr>
                <a:t>각도</a:t>
              </a:r>
              <a:r>
                <a:rPr sz="1600" dirty="0">
                  <a:solidFill>
                    <a:srgbClr val="475569"/>
                  </a:solidFill>
                  <a:latin typeface="+mj-ea"/>
                  <a:ea typeface="+mj-ea"/>
                </a:rPr>
                <a:t> → AGV </a:t>
              </a:r>
              <a:r>
                <a:rPr sz="1600" dirty="0" err="1" smtClean="0">
                  <a:solidFill>
                    <a:srgbClr val="475569"/>
                  </a:solidFill>
                  <a:latin typeface="+mj-ea"/>
                  <a:ea typeface="+mj-ea"/>
                </a:rPr>
                <a:t>전송</a:t>
              </a:r>
              <a:endParaRPr lang="en-US" sz="1600" dirty="0" smtClean="0">
                <a:solidFill>
                  <a:srgbClr val="475569"/>
                </a:solidFill>
                <a:latin typeface="+mj-ea"/>
                <a:ea typeface="+mj-ea"/>
              </a:endParaRPr>
            </a:p>
            <a:p>
              <a:pPr>
                <a:lnSpc>
                  <a:spcPct val="125000"/>
                </a:lnSpc>
              </a:pPr>
              <a:r>
                <a:rPr lang="en-US" altLang="ko-KR" sz="1600" dirty="0">
                  <a:solidFill>
                    <a:srgbClr val="475569"/>
                  </a:solidFill>
                  <a:latin typeface="+mj-ea"/>
                </a:rPr>
                <a:t>· </a:t>
              </a:r>
              <a:r>
                <a:rPr lang="en-US" altLang="ko-KR" sz="1600" dirty="0" err="1" smtClean="0">
                  <a:solidFill>
                    <a:srgbClr val="475569"/>
                  </a:solidFill>
                  <a:latin typeface="+mj-ea"/>
                  <a:ea typeface="+mj-ea"/>
                  <a:cs typeface="Arial" pitchFamily="34" charset="-120"/>
                </a:rPr>
                <a:t>스트림</a:t>
              </a:r>
              <a:r>
                <a:rPr lang="en-US" altLang="ko-KR" sz="1600" dirty="0" smtClean="0">
                  <a:solidFill>
                    <a:srgbClr val="475569"/>
                  </a:solidFill>
                  <a:latin typeface="+mj-ea"/>
                  <a:ea typeface="+mj-ea"/>
                  <a:cs typeface="Arial" pitchFamily="34" charset="-120"/>
                </a:rPr>
                <a:t> </a:t>
              </a:r>
              <a:r>
                <a:rPr lang="en-US" altLang="ko-KR" sz="1600" dirty="0">
                  <a:solidFill>
                    <a:srgbClr val="475569"/>
                  </a:solidFill>
                  <a:latin typeface="+mj-ea"/>
                  <a:ea typeface="+mj-ea"/>
                  <a:cs typeface="Arial" pitchFamily="34" charset="-120"/>
                </a:rPr>
                <a:t>8080</a:t>
              </a:r>
              <a:endParaRPr lang="en-US" altLang="ko-KR" sz="1600" dirty="0">
                <a:latin typeface="+mj-ea"/>
                <a:ea typeface="+mj-ea"/>
              </a:endParaRPr>
            </a:p>
            <a:p>
              <a:pPr>
                <a:lnSpc>
                  <a:spcPct val="125000"/>
                </a:lnSpc>
              </a:pPr>
              <a:endParaRPr sz="1600" dirty="0">
                <a:solidFill>
                  <a:srgbClr val="475569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34" name="그룹 33"/>
          <p:cNvGrpSpPr/>
          <p:nvPr/>
        </p:nvGrpSpPr>
        <p:grpSpPr>
          <a:xfrm>
            <a:off x="12365398" y="2356472"/>
            <a:ext cx="3456560" cy="1977732"/>
            <a:chOff x="12281560" y="2301704"/>
            <a:chExt cx="3456560" cy="1977732"/>
          </a:xfrm>
        </p:grpSpPr>
        <p:sp>
          <p:nvSpPr>
            <p:cNvPr id="13" name="Rounded Rectangle 12"/>
            <p:cNvSpPr/>
            <p:nvPr/>
          </p:nvSpPr>
          <p:spPr>
            <a:xfrm>
              <a:off x="12281560" y="2301704"/>
              <a:ext cx="3456560" cy="1977732"/>
            </a:xfrm>
            <a:prstGeom prst="roundRect">
              <a:avLst>
                <a:gd name="adj" fmla="val 6000"/>
              </a:avLst>
            </a:prstGeom>
            <a:solidFill>
              <a:srgbClr val="F1F3F6"/>
            </a:solidFill>
            <a:ln w="12700">
              <a:solidFill>
                <a:srgbClr val="D9DFE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ea"/>
                <a:ea typeface="+mj-ea"/>
              </a:endParaRPr>
            </a:p>
          </p:txBody>
        </p:sp>
        <p:sp>
          <p:nvSpPr>
            <p:cNvPr id="14" name="Oval 13"/>
            <p:cNvSpPr/>
            <p:nvPr/>
          </p:nvSpPr>
          <p:spPr>
            <a:xfrm>
              <a:off x="12571360" y="2633036"/>
              <a:ext cx="200000" cy="200000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ea"/>
                <a:ea typeface="+mj-ea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2853760" y="2517360"/>
              <a:ext cx="2092080" cy="420000"/>
            </a:xfrm>
            <a:prstGeom prst="rect">
              <a:avLst/>
            </a:prstGeom>
            <a:noFill/>
          </p:spPr>
          <p:txBody>
            <a:bodyPr wrap="square"/>
            <a:lstStyle/>
            <a:p>
              <a:r>
                <a:rPr sz="1800" b="1" dirty="0" err="1">
                  <a:solidFill>
                    <a:srgbClr val="1E293B"/>
                  </a:solidFill>
                  <a:latin typeface="+mj-ea"/>
                  <a:ea typeface="+mj-ea"/>
                </a:rPr>
                <a:t>rear_cam_node</a:t>
              </a:r>
              <a:endParaRPr sz="1800" b="1" dirty="0">
                <a:solidFill>
                  <a:srgbClr val="1E293B"/>
                </a:solidFill>
                <a:latin typeface="+mj-ea"/>
                <a:ea typeface="+mj-ea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2571360" y="3054498"/>
              <a:ext cx="2809280" cy="897800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>
                <a:lnSpc>
                  <a:spcPct val="125000"/>
                </a:lnSpc>
              </a:pPr>
              <a:r>
                <a:rPr lang="en-US" altLang="ko-KR" sz="1600" dirty="0">
                  <a:solidFill>
                    <a:srgbClr val="475569"/>
                  </a:solidFill>
                  <a:latin typeface="+mj-ea"/>
                </a:rPr>
                <a:t>· </a:t>
              </a:r>
              <a:r>
                <a:rPr sz="1600" dirty="0" err="1" smtClean="0">
                  <a:solidFill>
                    <a:srgbClr val="475569"/>
                  </a:solidFill>
                  <a:latin typeface="+mj-ea"/>
                  <a:ea typeface="+mj-ea"/>
                </a:rPr>
                <a:t>후방</a:t>
              </a:r>
              <a:r>
                <a:rPr sz="1600" dirty="0" smtClean="0">
                  <a:solidFill>
                    <a:srgbClr val="475569"/>
                  </a:solidFill>
                  <a:latin typeface="+mj-ea"/>
                  <a:ea typeface="+mj-ea"/>
                </a:rPr>
                <a:t> </a:t>
              </a:r>
              <a:r>
                <a:rPr sz="1600" dirty="0" err="1">
                  <a:solidFill>
                    <a:srgbClr val="475569"/>
                  </a:solidFill>
                  <a:latin typeface="+mj-ea"/>
                  <a:ea typeface="+mj-ea"/>
                </a:rPr>
                <a:t>감지</a:t>
              </a:r>
              <a:r>
                <a:rPr sz="1600" dirty="0">
                  <a:solidFill>
                    <a:srgbClr val="475569"/>
                  </a:solidFill>
                  <a:latin typeface="+mj-ea"/>
                  <a:ea typeface="+mj-ea"/>
                </a:rPr>
                <a:t> · </a:t>
              </a:r>
              <a:r>
                <a:rPr sz="1600" dirty="0" err="1">
                  <a:solidFill>
                    <a:srgbClr val="475569"/>
                  </a:solidFill>
                  <a:latin typeface="+mj-ea"/>
                  <a:ea typeface="+mj-ea"/>
                </a:rPr>
                <a:t>웹캠</a:t>
              </a:r>
              <a:r>
                <a:rPr sz="1600" dirty="0">
                  <a:solidFill>
                    <a:srgbClr val="475569"/>
                  </a:solidFill>
                  <a:latin typeface="+mj-ea"/>
                  <a:ea typeface="+mj-ea"/>
                </a:rPr>
                <a:t> 5Hz</a:t>
              </a:r>
            </a:p>
            <a:p>
              <a:pPr>
                <a:lnSpc>
                  <a:spcPct val="125000"/>
                </a:lnSpc>
              </a:pPr>
              <a:r>
                <a:rPr lang="en-US" altLang="ko-KR" sz="1600" dirty="0">
                  <a:solidFill>
                    <a:srgbClr val="475569"/>
                  </a:solidFill>
                  <a:latin typeface="+mj-ea"/>
                </a:rPr>
                <a:t>· </a:t>
              </a:r>
              <a:r>
                <a:rPr sz="1600" dirty="0" smtClean="0">
                  <a:solidFill>
                    <a:srgbClr val="475569"/>
                  </a:solidFill>
                  <a:latin typeface="+mj-ea"/>
                  <a:ea typeface="+mj-ea"/>
                </a:rPr>
                <a:t>YOLO11n </a:t>
              </a:r>
              <a:r>
                <a:rPr sz="1600" dirty="0" err="1">
                  <a:solidFill>
                    <a:srgbClr val="475569"/>
                  </a:solidFill>
                  <a:latin typeface="+mj-ea"/>
                  <a:ea typeface="+mj-ea"/>
                </a:rPr>
                <a:t>TensorRT</a:t>
              </a:r>
              <a:r>
                <a:rPr sz="1600" dirty="0">
                  <a:solidFill>
                    <a:srgbClr val="475569"/>
                  </a:solidFill>
                  <a:latin typeface="+mj-ea"/>
                  <a:ea typeface="+mj-ea"/>
                </a:rPr>
                <a:t> FP16</a:t>
              </a:r>
            </a:p>
            <a:p>
              <a:pPr>
                <a:lnSpc>
                  <a:spcPct val="125000"/>
                </a:lnSpc>
              </a:pPr>
              <a:r>
                <a:rPr lang="en-US" altLang="ko-KR" sz="1600" dirty="0">
                  <a:solidFill>
                    <a:srgbClr val="475569"/>
                  </a:solidFill>
                  <a:latin typeface="+mj-ea"/>
                </a:rPr>
                <a:t>· </a:t>
              </a:r>
              <a:r>
                <a:rPr sz="1600" dirty="0" err="1" smtClean="0">
                  <a:solidFill>
                    <a:srgbClr val="475569"/>
                  </a:solidFill>
                  <a:latin typeface="+mj-ea"/>
                  <a:ea typeface="+mj-ea"/>
                </a:rPr>
                <a:t>스트림</a:t>
              </a:r>
              <a:r>
                <a:rPr sz="1600" dirty="0" smtClean="0">
                  <a:solidFill>
                    <a:srgbClr val="475569"/>
                  </a:solidFill>
                  <a:latin typeface="+mj-ea"/>
                  <a:ea typeface="+mj-ea"/>
                </a:rPr>
                <a:t> </a:t>
              </a:r>
              <a:r>
                <a:rPr sz="1600" dirty="0">
                  <a:solidFill>
                    <a:srgbClr val="475569"/>
                  </a:solidFill>
                  <a:latin typeface="+mj-ea"/>
                  <a:ea typeface="+mj-ea"/>
                </a:rPr>
                <a:t>8081</a:t>
              </a:r>
            </a:p>
          </p:txBody>
        </p:sp>
      </p:grpSp>
      <p:grpSp>
        <p:nvGrpSpPr>
          <p:cNvPr id="33" name="그룹 32"/>
          <p:cNvGrpSpPr/>
          <p:nvPr/>
        </p:nvGrpSpPr>
        <p:grpSpPr>
          <a:xfrm>
            <a:off x="12399633" y="4841184"/>
            <a:ext cx="3456560" cy="1918496"/>
            <a:chOff x="12253880" y="4664688"/>
            <a:chExt cx="3484240" cy="1918496"/>
          </a:xfrm>
        </p:grpSpPr>
        <p:sp>
          <p:nvSpPr>
            <p:cNvPr id="17" name="Rounded Rectangle 16"/>
            <p:cNvSpPr/>
            <p:nvPr/>
          </p:nvSpPr>
          <p:spPr>
            <a:xfrm>
              <a:off x="12253880" y="4664688"/>
              <a:ext cx="3484240" cy="1918496"/>
            </a:xfrm>
            <a:prstGeom prst="roundRect">
              <a:avLst>
                <a:gd name="adj" fmla="val 6000"/>
              </a:avLst>
            </a:prstGeom>
            <a:solidFill>
              <a:srgbClr val="F1F3F6"/>
            </a:solidFill>
            <a:ln w="12700">
              <a:solidFill>
                <a:srgbClr val="D9DFE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ea"/>
                <a:ea typeface="+mj-ea"/>
              </a:endParaRPr>
            </a:p>
          </p:txBody>
        </p:sp>
        <p:sp>
          <p:nvSpPr>
            <p:cNvPr id="18" name="Oval 17"/>
            <p:cNvSpPr/>
            <p:nvPr/>
          </p:nvSpPr>
          <p:spPr>
            <a:xfrm>
              <a:off x="12553880" y="4964688"/>
              <a:ext cx="200000" cy="200000"/>
            </a:xfrm>
            <a:prstGeom prst="ellipse">
              <a:avLst/>
            </a:prstGeom>
            <a:solidFill>
              <a:srgbClr val="C994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ea"/>
                <a:ea typeface="+mj-ea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2853760" y="4855990"/>
              <a:ext cx="2599440" cy="420000"/>
            </a:xfrm>
            <a:prstGeom prst="rect">
              <a:avLst/>
            </a:prstGeom>
            <a:noFill/>
          </p:spPr>
          <p:txBody>
            <a:bodyPr wrap="square"/>
            <a:lstStyle/>
            <a:p>
              <a:r>
                <a:rPr sz="1800" b="1" dirty="0" err="1">
                  <a:solidFill>
                    <a:srgbClr val="1E293B"/>
                  </a:solidFill>
                  <a:latin typeface="+mj-ea"/>
                  <a:ea typeface="+mj-ea"/>
                </a:rPr>
                <a:t>tts_node</a:t>
              </a:r>
              <a:endParaRPr sz="1800" b="1" dirty="0">
                <a:solidFill>
                  <a:srgbClr val="1E293B"/>
                </a:solidFill>
                <a:latin typeface="+mj-ea"/>
                <a:ea typeface="+mj-ea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2469100" y="5348088"/>
              <a:ext cx="3164240" cy="897800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>
                <a:lnSpc>
                  <a:spcPct val="125000"/>
                </a:lnSpc>
              </a:pPr>
              <a:r>
                <a:rPr lang="en-US" altLang="ko-KR" sz="1600" dirty="0">
                  <a:solidFill>
                    <a:srgbClr val="475569"/>
                  </a:solidFill>
                  <a:latin typeface="+mj-ea"/>
                </a:rPr>
                <a:t>· </a:t>
              </a:r>
              <a:r>
                <a:rPr sz="1600" dirty="0" err="1" smtClean="0">
                  <a:solidFill>
                    <a:srgbClr val="475569"/>
                  </a:solidFill>
                  <a:latin typeface="+mj-ea"/>
                  <a:ea typeface="+mj-ea"/>
                </a:rPr>
                <a:t>ElevenLabs</a:t>
              </a:r>
              <a:r>
                <a:rPr sz="1600" dirty="0" smtClean="0">
                  <a:solidFill>
                    <a:srgbClr val="475569"/>
                  </a:solidFill>
                  <a:latin typeface="+mj-ea"/>
                  <a:ea typeface="+mj-ea"/>
                </a:rPr>
                <a:t> </a:t>
              </a:r>
              <a:r>
                <a:rPr sz="1600" dirty="0" err="1">
                  <a:solidFill>
                    <a:srgbClr val="475569"/>
                  </a:solidFill>
                  <a:latin typeface="+mj-ea"/>
                  <a:ea typeface="+mj-ea"/>
                </a:rPr>
                <a:t>여성음성</a:t>
              </a:r>
              <a:r>
                <a:rPr sz="1600" dirty="0">
                  <a:solidFill>
                    <a:srgbClr val="475569"/>
                  </a:solidFill>
                  <a:latin typeface="+mj-ea"/>
                  <a:ea typeface="+mj-ea"/>
                </a:rPr>
                <a:t> (</a:t>
              </a:r>
              <a:r>
                <a:rPr sz="1600" dirty="0" err="1">
                  <a:solidFill>
                    <a:srgbClr val="475569"/>
                  </a:solidFill>
                  <a:latin typeface="+mj-ea"/>
                  <a:ea typeface="+mj-ea"/>
                </a:rPr>
                <a:t>Kanna</a:t>
              </a:r>
              <a:r>
                <a:rPr sz="1600" dirty="0">
                  <a:solidFill>
                    <a:srgbClr val="475569"/>
                  </a:solidFill>
                  <a:latin typeface="+mj-ea"/>
                  <a:ea typeface="+mj-ea"/>
                </a:rPr>
                <a:t>)</a:t>
              </a:r>
            </a:p>
            <a:p>
              <a:pPr>
                <a:lnSpc>
                  <a:spcPct val="125000"/>
                </a:lnSpc>
              </a:pPr>
              <a:r>
                <a:rPr lang="en-US" altLang="ko-KR" sz="1600" dirty="0">
                  <a:solidFill>
                    <a:srgbClr val="475569"/>
                  </a:solidFill>
                  <a:latin typeface="+mj-ea"/>
                </a:rPr>
                <a:t>· </a:t>
              </a:r>
              <a:r>
                <a:rPr sz="1600" dirty="0" smtClean="0">
                  <a:solidFill>
                    <a:srgbClr val="475569"/>
                  </a:solidFill>
                  <a:latin typeface="+mj-ea"/>
                  <a:ea typeface="+mj-ea"/>
                </a:rPr>
                <a:t>MD5 </a:t>
              </a:r>
              <a:r>
                <a:rPr sz="1600" dirty="0" err="1">
                  <a:solidFill>
                    <a:srgbClr val="475569"/>
                  </a:solidFill>
                  <a:latin typeface="+mj-ea"/>
                  <a:ea typeface="+mj-ea"/>
                </a:rPr>
                <a:t>해시</a:t>
              </a:r>
              <a:r>
                <a:rPr sz="1600" dirty="0">
                  <a:solidFill>
                    <a:srgbClr val="475569"/>
                  </a:solidFill>
                  <a:latin typeface="+mj-ea"/>
                  <a:ea typeface="+mj-ea"/>
                </a:rPr>
                <a:t> </a:t>
              </a:r>
              <a:r>
                <a:rPr sz="1600" dirty="0" err="1">
                  <a:solidFill>
                    <a:srgbClr val="475569"/>
                  </a:solidFill>
                  <a:latin typeface="+mj-ea"/>
                  <a:ea typeface="+mj-ea"/>
                </a:rPr>
                <a:t>캐시</a:t>
              </a:r>
              <a:endParaRPr sz="1600" dirty="0">
                <a:solidFill>
                  <a:srgbClr val="475569"/>
                </a:solidFill>
                <a:latin typeface="+mj-ea"/>
                <a:ea typeface="+mj-ea"/>
              </a:endParaRPr>
            </a:p>
            <a:p>
              <a:pPr>
                <a:lnSpc>
                  <a:spcPct val="125000"/>
                </a:lnSpc>
              </a:pPr>
              <a:r>
                <a:rPr lang="en-US" altLang="ko-KR" sz="1600" dirty="0">
                  <a:solidFill>
                    <a:srgbClr val="475569"/>
                  </a:solidFill>
                  <a:latin typeface="+mj-ea"/>
                </a:rPr>
                <a:t>· </a:t>
              </a:r>
              <a:r>
                <a:rPr sz="1600" dirty="0" err="1" smtClean="0">
                  <a:solidFill>
                    <a:srgbClr val="475569"/>
                  </a:solidFill>
                  <a:latin typeface="+mj-ea"/>
                  <a:ea typeface="+mj-ea"/>
                </a:rPr>
                <a:t>블루투스</a:t>
              </a:r>
              <a:r>
                <a:rPr sz="1600" dirty="0" smtClean="0">
                  <a:solidFill>
                    <a:srgbClr val="475569"/>
                  </a:solidFill>
                  <a:latin typeface="+mj-ea"/>
                  <a:ea typeface="+mj-ea"/>
                </a:rPr>
                <a:t> </a:t>
              </a:r>
              <a:r>
                <a:rPr sz="1600" dirty="0">
                  <a:solidFill>
                    <a:srgbClr val="475569"/>
                  </a:solidFill>
                  <a:latin typeface="+mj-ea"/>
                  <a:ea typeface="+mj-ea"/>
                </a:rPr>
                <a:t>A2DP </a:t>
              </a:r>
              <a:r>
                <a:rPr sz="1600" dirty="0" err="1">
                  <a:solidFill>
                    <a:srgbClr val="475569"/>
                  </a:solidFill>
                  <a:latin typeface="+mj-ea"/>
                  <a:ea typeface="+mj-ea"/>
                </a:rPr>
                <a:t>스피커</a:t>
              </a:r>
              <a:endParaRPr sz="1600" dirty="0">
                <a:solidFill>
                  <a:srgbClr val="475569"/>
                </a:solidFill>
                <a:latin typeface="+mj-ea"/>
                <a:ea typeface="+mj-ea"/>
              </a:endParaRPr>
            </a:p>
          </p:txBody>
        </p:sp>
      </p:grpSp>
      <p:cxnSp>
        <p:nvCxnSpPr>
          <p:cNvPr id="21" name="직선 화살표 연결선 20"/>
          <p:cNvCxnSpPr/>
          <p:nvPr/>
        </p:nvCxnSpPr>
        <p:spPr>
          <a:xfrm>
            <a:off x="11610310" y="4701377"/>
            <a:ext cx="692352" cy="5780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/>
          <p:cNvCxnSpPr/>
          <p:nvPr/>
        </p:nvCxnSpPr>
        <p:spPr>
          <a:xfrm flipH="1">
            <a:off x="11662395" y="3376295"/>
            <a:ext cx="7030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/>
          <p:cNvCxnSpPr/>
          <p:nvPr/>
        </p:nvCxnSpPr>
        <p:spPr>
          <a:xfrm flipH="1">
            <a:off x="9706080" y="4761588"/>
            <a:ext cx="4919" cy="4345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5" name="그림 6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02662" y="7171509"/>
            <a:ext cx="3519296" cy="1343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415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60400" y="545000"/>
            <a:ext cx="15000000" cy="67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4000" b="1" dirty="0" smtClean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Vision </a:t>
            </a:r>
            <a:r>
              <a:rPr sz="4000" b="1" dirty="0" err="1" smtClean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인지</a:t>
            </a:r>
            <a:r>
              <a:rPr sz="4000" b="1" dirty="0" smtClean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sz="4000" b="1" dirty="0" err="1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파이프라인</a:t>
            </a:r>
            <a:r>
              <a:rPr sz="4000" b="1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sz="4000" b="1" dirty="0" err="1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고도화</a:t>
            </a:r>
            <a:r>
              <a:rPr sz="4000" b="1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— </a:t>
            </a:r>
            <a:r>
              <a:rPr sz="4000" b="1" dirty="0" err="1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추론</a:t>
            </a:r>
            <a:r>
              <a:rPr sz="4000" b="1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sz="4000" b="1" dirty="0" err="1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가속</a:t>
            </a:r>
            <a:r>
              <a:rPr sz="4000" b="1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+ </a:t>
            </a:r>
            <a:r>
              <a:rPr sz="4000" b="1" dirty="0" err="1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추종</a:t>
            </a:r>
            <a:r>
              <a:rPr sz="4000" b="1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sz="4000" b="1" dirty="0" err="1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견고성</a:t>
            </a:r>
            <a:endParaRPr sz="4000" b="1" dirty="0">
              <a:solidFill>
                <a:srgbClr val="1E293B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880000"/>
            <a:ext cx="7300000" cy="3380000"/>
          </a:xfrm>
          <a:prstGeom prst="roundRect">
            <a:avLst>
              <a:gd name="adj" fmla="val 4000"/>
            </a:avLst>
          </a:prstGeom>
          <a:solidFill>
            <a:srgbClr val="F1F3F6"/>
          </a:solidFill>
          <a:ln w="1270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+mj-ea"/>
              <a:ea typeface="+mj-ea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880000"/>
            <a:ext cx="120000" cy="33800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+mj-ea"/>
              <a:ea typeface="+mj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1520" y="2080000"/>
            <a:ext cx="6740000" cy="52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2000" b="1">
                <a:solidFill>
                  <a:srgbClr val="2563EB"/>
                </a:solidFill>
                <a:latin typeface="+mj-ea"/>
                <a:ea typeface="+mj-ea"/>
              </a:rPr>
              <a:t>① 추론 가속  (Efficiency · 병목 해소)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1520" y="2700000"/>
            <a:ext cx="6740000" cy="24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600" b="1" dirty="0" err="1">
                <a:solidFill>
                  <a:srgbClr val="2563EB"/>
                </a:solidFill>
                <a:latin typeface="+mj-ea"/>
                <a:ea typeface="+mj-ea"/>
              </a:rPr>
              <a:t>문제</a:t>
            </a:r>
            <a:r>
              <a:rPr sz="1600" b="1" dirty="0">
                <a:solidFill>
                  <a:srgbClr val="2563EB"/>
                </a:solidFill>
                <a:latin typeface="+mj-ea"/>
                <a:ea typeface="+mj-ea"/>
              </a:rPr>
              <a:t> · </a:t>
            </a:r>
            <a:r>
              <a:rPr sz="1600" b="0" dirty="0" err="1">
                <a:solidFill>
                  <a:srgbClr val="475569"/>
                </a:solidFill>
                <a:latin typeface="+mj-ea"/>
                <a:ea typeface="+mj-ea"/>
              </a:rPr>
              <a:t>고속</a:t>
            </a:r>
            <a:r>
              <a:rPr sz="1600" b="0" dirty="0">
                <a:solidFill>
                  <a:srgbClr val="475569"/>
                </a:solidFill>
                <a:latin typeface="+mj-ea"/>
                <a:ea typeface="+mj-ea"/>
              </a:rPr>
              <a:t> </a:t>
            </a:r>
            <a:r>
              <a:rPr sz="1600" b="0" dirty="0" err="1">
                <a:solidFill>
                  <a:srgbClr val="475569"/>
                </a:solidFill>
                <a:latin typeface="+mj-ea"/>
                <a:ea typeface="+mj-ea"/>
              </a:rPr>
              <a:t>이동</a:t>
            </a:r>
            <a:r>
              <a:rPr sz="1600" b="0" dirty="0">
                <a:solidFill>
                  <a:srgbClr val="475569"/>
                </a:solidFill>
                <a:latin typeface="+mj-ea"/>
                <a:ea typeface="+mj-ea"/>
              </a:rPr>
              <a:t> 중 </a:t>
            </a:r>
            <a:r>
              <a:rPr sz="1600" b="0" dirty="0" err="1">
                <a:solidFill>
                  <a:srgbClr val="475569"/>
                </a:solidFill>
                <a:latin typeface="+mj-ea"/>
                <a:ea typeface="+mj-ea"/>
              </a:rPr>
              <a:t>연산</a:t>
            </a:r>
            <a:r>
              <a:rPr sz="1600" b="0" dirty="0">
                <a:solidFill>
                  <a:srgbClr val="475569"/>
                </a:solidFill>
                <a:latin typeface="+mj-ea"/>
                <a:ea typeface="+mj-ea"/>
              </a:rPr>
              <a:t> </a:t>
            </a:r>
            <a:r>
              <a:rPr sz="1600" b="0" dirty="0" err="1">
                <a:solidFill>
                  <a:srgbClr val="475569"/>
                </a:solidFill>
                <a:latin typeface="+mj-ea"/>
                <a:ea typeface="+mj-ea"/>
              </a:rPr>
              <a:t>병목</a:t>
            </a:r>
            <a:r>
              <a:rPr sz="1600" b="0" dirty="0">
                <a:solidFill>
                  <a:srgbClr val="475569"/>
                </a:solidFill>
                <a:latin typeface="+mj-ea"/>
                <a:ea typeface="+mj-ea"/>
              </a:rPr>
              <a:t> → </a:t>
            </a:r>
            <a:r>
              <a:rPr sz="1600" b="0" dirty="0" err="1">
                <a:solidFill>
                  <a:srgbClr val="475569"/>
                </a:solidFill>
                <a:latin typeface="+mj-ea"/>
                <a:ea typeface="+mj-ea"/>
              </a:rPr>
              <a:t>프레임</a:t>
            </a:r>
            <a:r>
              <a:rPr sz="1600" b="0" dirty="0">
                <a:solidFill>
                  <a:srgbClr val="475569"/>
                </a:solidFill>
                <a:latin typeface="+mj-ea"/>
                <a:ea typeface="+mj-ea"/>
              </a:rPr>
              <a:t> </a:t>
            </a:r>
            <a:r>
              <a:rPr sz="1600" b="0" dirty="0" err="1">
                <a:solidFill>
                  <a:srgbClr val="475569"/>
                </a:solidFill>
                <a:latin typeface="+mj-ea"/>
                <a:ea typeface="+mj-ea"/>
              </a:rPr>
              <a:t>드롭</a:t>
            </a:r>
            <a:r>
              <a:rPr sz="1600" b="0" dirty="0">
                <a:solidFill>
                  <a:srgbClr val="475569"/>
                </a:solidFill>
                <a:latin typeface="+mj-ea"/>
                <a:ea typeface="+mj-ea"/>
              </a:rPr>
              <a:t> → </a:t>
            </a:r>
            <a:r>
              <a:rPr sz="1600" b="0" dirty="0" err="1">
                <a:solidFill>
                  <a:srgbClr val="475569"/>
                </a:solidFill>
                <a:latin typeface="+mj-ea"/>
                <a:ea typeface="+mj-ea"/>
              </a:rPr>
              <a:t>인지</a:t>
            </a:r>
            <a:r>
              <a:rPr sz="1600" b="0" dirty="0">
                <a:solidFill>
                  <a:srgbClr val="475569"/>
                </a:solidFill>
                <a:latin typeface="+mj-ea"/>
                <a:ea typeface="+mj-ea"/>
              </a:rPr>
              <a:t> </a:t>
            </a:r>
            <a:r>
              <a:rPr sz="1600" b="0" dirty="0" err="1" smtClean="0">
                <a:solidFill>
                  <a:srgbClr val="475569"/>
                </a:solidFill>
                <a:latin typeface="+mj-ea"/>
                <a:ea typeface="+mj-ea"/>
              </a:rPr>
              <a:t>지연</a:t>
            </a:r>
            <a:endParaRPr lang="en-US" sz="1600" b="0" dirty="0" smtClean="0">
              <a:solidFill>
                <a:srgbClr val="475569"/>
              </a:solidFill>
              <a:latin typeface="+mj-ea"/>
              <a:ea typeface="+mj-ea"/>
            </a:endParaRPr>
          </a:p>
          <a:p>
            <a:pPr>
              <a:lnSpc>
                <a:spcPct val="118000"/>
              </a:lnSpc>
              <a:spcAft>
                <a:spcPts val="700"/>
              </a:spcAft>
            </a:pPr>
            <a:endParaRPr sz="1600" b="0" dirty="0">
              <a:solidFill>
                <a:srgbClr val="475569"/>
              </a:solidFill>
              <a:latin typeface="+mj-ea"/>
              <a:ea typeface="+mj-ea"/>
            </a:endParaRP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600" b="1" dirty="0" err="1">
                <a:solidFill>
                  <a:srgbClr val="2563EB"/>
                </a:solidFill>
                <a:latin typeface="+mj-ea"/>
                <a:ea typeface="+mj-ea"/>
              </a:rPr>
              <a:t>해결</a:t>
            </a:r>
            <a:r>
              <a:rPr sz="1600" b="1" dirty="0">
                <a:solidFill>
                  <a:srgbClr val="2563EB"/>
                </a:solidFill>
                <a:latin typeface="+mj-ea"/>
                <a:ea typeface="+mj-ea"/>
              </a:rPr>
              <a:t> · </a:t>
            </a:r>
            <a:r>
              <a:rPr sz="1600" b="0" dirty="0">
                <a:solidFill>
                  <a:srgbClr val="475569"/>
                </a:solidFill>
                <a:latin typeface="+mj-ea"/>
                <a:ea typeface="+mj-ea"/>
              </a:rPr>
              <a:t>YOLO11n </a:t>
            </a:r>
            <a:r>
              <a:rPr sz="1600" b="0" dirty="0" err="1">
                <a:solidFill>
                  <a:srgbClr val="475569"/>
                </a:solidFill>
                <a:latin typeface="+mj-ea"/>
                <a:ea typeface="+mj-ea"/>
              </a:rPr>
              <a:t>TensorRT</a:t>
            </a:r>
            <a:r>
              <a:rPr sz="1600" b="0" dirty="0">
                <a:solidFill>
                  <a:srgbClr val="475569"/>
                </a:solidFill>
                <a:latin typeface="+mj-ea"/>
                <a:ea typeface="+mj-ea"/>
              </a:rPr>
              <a:t> FP16 </a:t>
            </a:r>
            <a:r>
              <a:rPr sz="1600" b="0" dirty="0" err="1">
                <a:solidFill>
                  <a:srgbClr val="475569"/>
                </a:solidFill>
                <a:latin typeface="+mj-ea"/>
                <a:ea typeface="+mj-ea"/>
              </a:rPr>
              <a:t>양자화</a:t>
            </a:r>
            <a:r>
              <a:rPr sz="1600" b="0" dirty="0">
                <a:solidFill>
                  <a:srgbClr val="475569"/>
                </a:solidFill>
                <a:latin typeface="+mj-ea"/>
                <a:ea typeface="+mj-ea"/>
              </a:rPr>
              <a:t> (follow · </a:t>
            </a:r>
            <a:r>
              <a:rPr sz="1600" b="0" dirty="0" err="1">
                <a:solidFill>
                  <a:srgbClr val="475569"/>
                </a:solidFill>
                <a:latin typeface="+mj-ea"/>
                <a:ea typeface="+mj-ea"/>
              </a:rPr>
              <a:t>rear_cam</a:t>
            </a:r>
            <a:r>
              <a:rPr sz="1600" b="0" dirty="0">
                <a:solidFill>
                  <a:srgbClr val="475569"/>
                </a:solidFill>
                <a:latin typeface="+mj-ea"/>
                <a:ea typeface="+mj-ea"/>
              </a:rPr>
              <a:t> </a:t>
            </a:r>
            <a:r>
              <a:rPr sz="1600" b="0" dirty="0" err="1">
                <a:solidFill>
                  <a:srgbClr val="475569"/>
                </a:solidFill>
                <a:latin typeface="+mj-ea"/>
                <a:ea typeface="+mj-ea"/>
              </a:rPr>
              <a:t>모델</a:t>
            </a:r>
            <a:r>
              <a:rPr sz="1600" b="0" dirty="0">
                <a:solidFill>
                  <a:srgbClr val="475569"/>
                </a:solidFill>
                <a:latin typeface="+mj-ea"/>
                <a:ea typeface="+mj-ea"/>
              </a:rPr>
              <a:t> </a:t>
            </a:r>
            <a:r>
              <a:rPr sz="1600" b="0" dirty="0" err="1">
                <a:solidFill>
                  <a:srgbClr val="475569"/>
                </a:solidFill>
                <a:latin typeface="+mj-ea"/>
                <a:ea typeface="+mj-ea"/>
              </a:rPr>
              <a:t>모두</a:t>
            </a:r>
            <a:r>
              <a:rPr sz="1600" b="0" dirty="0">
                <a:solidFill>
                  <a:srgbClr val="475569"/>
                </a:solidFill>
                <a:latin typeface="+mj-ea"/>
                <a:ea typeface="+mj-ea"/>
              </a:rPr>
              <a:t>)</a:t>
            </a:r>
          </a:p>
          <a:p>
            <a:pPr>
              <a:lnSpc>
                <a:spcPct val="118000"/>
              </a:lnSpc>
            </a:pPr>
            <a:r>
              <a:rPr sz="1600" b="0" dirty="0">
                <a:solidFill>
                  <a:srgbClr val="475569"/>
                </a:solidFill>
                <a:latin typeface="+mj-ea"/>
                <a:ea typeface="+mj-ea"/>
              </a:rPr>
              <a:t> </a:t>
            </a:r>
            <a:r>
              <a:rPr sz="1600" b="0" dirty="0" smtClean="0">
                <a:solidFill>
                  <a:srgbClr val="475569"/>
                </a:solidFill>
                <a:latin typeface="+mj-ea"/>
                <a:ea typeface="+mj-ea"/>
              </a:rPr>
              <a:t>     </a:t>
            </a:r>
            <a:r>
              <a:rPr sz="1600" b="0" dirty="0" err="1" smtClean="0">
                <a:solidFill>
                  <a:srgbClr val="475569"/>
                </a:solidFill>
                <a:latin typeface="+mj-ea"/>
                <a:ea typeface="+mj-ea"/>
              </a:rPr>
              <a:t>전방</a:t>
            </a:r>
            <a:r>
              <a:rPr sz="1600" b="0" dirty="0" smtClean="0">
                <a:solidFill>
                  <a:srgbClr val="475569"/>
                </a:solidFill>
                <a:latin typeface="+mj-ea"/>
                <a:ea typeface="+mj-ea"/>
              </a:rPr>
              <a:t> </a:t>
            </a:r>
            <a:r>
              <a:rPr sz="1600" b="0" dirty="0">
                <a:solidFill>
                  <a:srgbClr val="475569"/>
                </a:solidFill>
                <a:latin typeface="+mj-ea"/>
                <a:ea typeface="+mj-ea"/>
              </a:rPr>
              <a:t>RealSense 30→10fps </a:t>
            </a:r>
            <a:r>
              <a:rPr sz="1600" b="0" dirty="0" err="1">
                <a:solidFill>
                  <a:srgbClr val="475569"/>
                </a:solidFill>
                <a:latin typeface="+mj-ea"/>
                <a:ea typeface="+mj-ea"/>
              </a:rPr>
              <a:t>다운샘플로</a:t>
            </a:r>
            <a:r>
              <a:rPr sz="1600" b="0" dirty="0">
                <a:solidFill>
                  <a:srgbClr val="475569"/>
                </a:solidFill>
                <a:latin typeface="+mj-ea"/>
                <a:ea typeface="+mj-ea"/>
              </a:rPr>
              <a:t> </a:t>
            </a:r>
            <a:r>
              <a:rPr sz="1600" b="0" dirty="0" err="1">
                <a:solidFill>
                  <a:srgbClr val="475569"/>
                </a:solidFill>
                <a:latin typeface="+mj-ea"/>
                <a:ea typeface="+mj-ea"/>
              </a:rPr>
              <a:t>연산부하</a:t>
            </a:r>
            <a:r>
              <a:rPr sz="1600" b="0" dirty="0">
                <a:solidFill>
                  <a:srgbClr val="475569"/>
                </a:solidFill>
                <a:latin typeface="+mj-ea"/>
                <a:ea typeface="+mj-ea"/>
              </a:rPr>
              <a:t> </a:t>
            </a:r>
            <a:r>
              <a:rPr sz="1600" b="0" dirty="0" err="1" smtClean="0">
                <a:solidFill>
                  <a:srgbClr val="475569"/>
                </a:solidFill>
                <a:latin typeface="+mj-ea"/>
                <a:ea typeface="+mj-ea"/>
              </a:rPr>
              <a:t>경감</a:t>
            </a:r>
            <a:endParaRPr lang="en-US" sz="1600" b="0" dirty="0" smtClean="0">
              <a:solidFill>
                <a:srgbClr val="475569"/>
              </a:solidFill>
              <a:latin typeface="+mj-ea"/>
              <a:ea typeface="+mj-ea"/>
            </a:endParaRPr>
          </a:p>
          <a:p>
            <a:pPr>
              <a:lnSpc>
                <a:spcPct val="118000"/>
              </a:lnSpc>
            </a:pPr>
            <a:endParaRPr sz="1600" b="0" dirty="0">
              <a:solidFill>
                <a:srgbClr val="475569"/>
              </a:solidFill>
              <a:latin typeface="+mj-ea"/>
              <a:ea typeface="+mj-ea"/>
            </a:endParaRP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600" b="1" dirty="0" err="1">
                <a:solidFill>
                  <a:srgbClr val="2563EB"/>
                </a:solidFill>
                <a:latin typeface="+mj-ea"/>
                <a:ea typeface="+mj-ea"/>
              </a:rPr>
              <a:t>효과</a:t>
            </a:r>
            <a:r>
              <a:rPr sz="1600" b="1" dirty="0">
                <a:solidFill>
                  <a:srgbClr val="2563EB"/>
                </a:solidFill>
                <a:latin typeface="+mj-ea"/>
                <a:ea typeface="+mj-ea"/>
              </a:rPr>
              <a:t> · </a:t>
            </a:r>
            <a:r>
              <a:rPr sz="1600" b="0" dirty="0" err="1">
                <a:solidFill>
                  <a:srgbClr val="475569"/>
                </a:solidFill>
                <a:latin typeface="+mj-ea"/>
                <a:ea typeface="+mj-ea"/>
              </a:rPr>
              <a:t>추론</a:t>
            </a:r>
            <a:r>
              <a:rPr sz="1600" b="0" dirty="0">
                <a:solidFill>
                  <a:srgbClr val="475569"/>
                </a:solidFill>
                <a:latin typeface="+mj-ea"/>
                <a:ea typeface="+mj-ea"/>
              </a:rPr>
              <a:t> latency </a:t>
            </a:r>
            <a:r>
              <a:rPr sz="1600" b="0" dirty="0" err="1">
                <a:solidFill>
                  <a:srgbClr val="475569"/>
                </a:solidFill>
                <a:latin typeface="+mj-ea"/>
                <a:ea typeface="+mj-ea"/>
              </a:rPr>
              <a:t>감소</a:t>
            </a:r>
            <a:r>
              <a:rPr sz="1600" b="0" dirty="0">
                <a:solidFill>
                  <a:srgbClr val="475569"/>
                </a:solidFill>
                <a:latin typeface="+mj-ea"/>
                <a:ea typeface="+mj-ea"/>
              </a:rPr>
              <a:t> · </a:t>
            </a:r>
            <a:r>
              <a:rPr sz="1600" b="0" dirty="0" err="1">
                <a:solidFill>
                  <a:srgbClr val="475569"/>
                </a:solidFill>
                <a:latin typeface="+mj-ea"/>
                <a:ea typeface="+mj-ea"/>
              </a:rPr>
              <a:t>안정적</a:t>
            </a:r>
            <a:r>
              <a:rPr sz="1600" b="0" dirty="0">
                <a:solidFill>
                  <a:srgbClr val="475569"/>
                </a:solidFill>
                <a:latin typeface="+mj-ea"/>
                <a:ea typeface="+mj-ea"/>
              </a:rPr>
              <a:t> FPS </a:t>
            </a:r>
            <a:r>
              <a:rPr sz="1600" b="0" dirty="0" err="1">
                <a:solidFill>
                  <a:srgbClr val="475569"/>
                </a:solidFill>
                <a:latin typeface="+mj-ea"/>
                <a:ea typeface="+mj-ea"/>
              </a:rPr>
              <a:t>확보로</a:t>
            </a:r>
            <a:r>
              <a:rPr sz="1600" b="0" dirty="0">
                <a:solidFill>
                  <a:srgbClr val="475569"/>
                </a:solidFill>
                <a:latin typeface="+mj-ea"/>
                <a:ea typeface="+mj-ea"/>
              </a:rPr>
              <a:t> </a:t>
            </a:r>
            <a:r>
              <a:rPr sz="1600" b="0" dirty="0" err="1">
                <a:solidFill>
                  <a:srgbClr val="475569"/>
                </a:solidFill>
                <a:latin typeface="+mj-ea"/>
                <a:ea typeface="+mj-ea"/>
              </a:rPr>
              <a:t>고속</a:t>
            </a:r>
            <a:r>
              <a:rPr sz="1600" b="0" dirty="0">
                <a:solidFill>
                  <a:srgbClr val="475569"/>
                </a:solidFill>
                <a:latin typeface="+mj-ea"/>
                <a:ea typeface="+mj-ea"/>
              </a:rPr>
              <a:t> </a:t>
            </a:r>
            <a:r>
              <a:rPr sz="1600" b="0" dirty="0" err="1">
                <a:solidFill>
                  <a:srgbClr val="475569"/>
                </a:solidFill>
                <a:latin typeface="+mj-ea"/>
                <a:ea typeface="+mj-ea"/>
              </a:rPr>
              <a:t>이동</a:t>
            </a:r>
            <a:r>
              <a:rPr sz="1600" b="0" dirty="0">
                <a:solidFill>
                  <a:srgbClr val="475569"/>
                </a:solidFill>
                <a:latin typeface="+mj-ea"/>
                <a:ea typeface="+mj-ea"/>
              </a:rPr>
              <a:t> 중 </a:t>
            </a:r>
            <a:r>
              <a:rPr sz="1600" b="0" dirty="0" err="1">
                <a:solidFill>
                  <a:srgbClr val="475569"/>
                </a:solidFill>
                <a:latin typeface="+mj-ea"/>
                <a:ea typeface="+mj-ea"/>
              </a:rPr>
              <a:t>타깃</a:t>
            </a:r>
            <a:r>
              <a:rPr sz="1600" b="0" dirty="0">
                <a:solidFill>
                  <a:srgbClr val="475569"/>
                </a:solidFill>
                <a:latin typeface="+mj-ea"/>
                <a:ea typeface="+mj-ea"/>
              </a:rPr>
              <a:t> </a:t>
            </a:r>
            <a:r>
              <a:rPr sz="1600" b="0" dirty="0" err="1">
                <a:solidFill>
                  <a:srgbClr val="475569"/>
                </a:solidFill>
                <a:latin typeface="+mj-ea"/>
                <a:ea typeface="+mj-ea"/>
              </a:rPr>
              <a:t>유지</a:t>
            </a:r>
            <a:endParaRPr sz="1600" b="0" dirty="0">
              <a:solidFill>
                <a:srgbClr val="475569"/>
              </a:solidFill>
              <a:latin typeface="+mj-ea"/>
              <a:ea typeface="+mj-ea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391520" y="1880000"/>
            <a:ext cx="7340000" cy="3380000"/>
          </a:xfrm>
          <a:prstGeom prst="roundRect">
            <a:avLst>
              <a:gd name="adj" fmla="val 4000"/>
            </a:avLst>
          </a:prstGeom>
          <a:solidFill>
            <a:srgbClr val="F1F3F6"/>
          </a:solidFill>
          <a:ln w="1270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+mj-ea"/>
              <a:ea typeface="+mj-ea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391520" y="1880000"/>
            <a:ext cx="120000" cy="33800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+mj-ea"/>
              <a:ea typeface="+mj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21520" y="2080000"/>
            <a:ext cx="6780000" cy="52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2000" b="1">
                <a:solidFill>
                  <a:srgbClr val="0F766E"/>
                </a:solidFill>
                <a:latin typeface="+mj-ea"/>
                <a:ea typeface="+mj-ea"/>
              </a:rPr>
              <a:t>② 추종 견고성  (Robustness · 예외 처리)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21520" y="2700000"/>
            <a:ext cx="6780000" cy="24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600" b="1" dirty="0" err="1">
                <a:solidFill>
                  <a:srgbClr val="0F766E"/>
                </a:solidFill>
                <a:latin typeface="+mj-ea"/>
                <a:ea typeface="+mj-ea"/>
              </a:rPr>
              <a:t>문제</a:t>
            </a:r>
            <a:r>
              <a:rPr sz="1600" b="1" dirty="0">
                <a:solidFill>
                  <a:srgbClr val="0F766E"/>
                </a:solidFill>
                <a:latin typeface="+mj-ea"/>
                <a:ea typeface="+mj-ea"/>
              </a:rPr>
              <a:t> · </a:t>
            </a:r>
            <a:r>
              <a:rPr sz="1600" b="0" dirty="0" err="1">
                <a:solidFill>
                  <a:srgbClr val="475569"/>
                </a:solidFill>
                <a:latin typeface="+mj-ea"/>
                <a:ea typeface="+mj-ea"/>
              </a:rPr>
              <a:t>최근접</a:t>
            </a:r>
            <a:r>
              <a:rPr sz="1600" b="0" dirty="0">
                <a:solidFill>
                  <a:srgbClr val="475569"/>
                </a:solidFill>
                <a:latin typeface="+mj-ea"/>
                <a:ea typeface="+mj-ea"/>
              </a:rPr>
              <a:t> </a:t>
            </a:r>
            <a:r>
              <a:rPr sz="1600" b="0" dirty="0" err="1">
                <a:solidFill>
                  <a:srgbClr val="475569"/>
                </a:solidFill>
                <a:latin typeface="+mj-ea"/>
                <a:ea typeface="+mj-ea"/>
              </a:rPr>
              <a:t>사람만</a:t>
            </a:r>
            <a:r>
              <a:rPr sz="1600" b="0" dirty="0">
                <a:solidFill>
                  <a:srgbClr val="475569"/>
                </a:solidFill>
                <a:latin typeface="+mj-ea"/>
                <a:ea typeface="+mj-ea"/>
              </a:rPr>
              <a:t> </a:t>
            </a:r>
            <a:r>
              <a:rPr sz="1600" b="0" dirty="0" err="1">
                <a:solidFill>
                  <a:srgbClr val="475569"/>
                </a:solidFill>
                <a:latin typeface="+mj-ea"/>
                <a:ea typeface="+mj-ea"/>
              </a:rPr>
              <a:t>추종</a:t>
            </a:r>
            <a:r>
              <a:rPr sz="1600" b="0" dirty="0">
                <a:solidFill>
                  <a:srgbClr val="475569"/>
                </a:solidFill>
                <a:latin typeface="+mj-ea"/>
                <a:ea typeface="+mj-ea"/>
              </a:rPr>
              <a:t> → </a:t>
            </a:r>
            <a:r>
              <a:rPr sz="1600" b="0" dirty="0" err="1">
                <a:solidFill>
                  <a:srgbClr val="475569"/>
                </a:solidFill>
                <a:latin typeface="+mj-ea"/>
                <a:ea typeface="+mj-ea"/>
              </a:rPr>
              <a:t>끼어들기</a:t>
            </a:r>
            <a:r>
              <a:rPr sz="1600" b="0" dirty="0">
                <a:solidFill>
                  <a:srgbClr val="475569"/>
                </a:solidFill>
                <a:latin typeface="+mj-ea"/>
                <a:ea typeface="+mj-ea"/>
              </a:rPr>
              <a:t> 시 </a:t>
            </a:r>
            <a:r>
              <a:rPr sz="1600" b="0" dirty="0" err="1">
                <a:solidFill>
                  <a:srgbClr val="475569"/>
                </a:solidFill>
                <a:latin typeface="+mj-ea"/>
                <a:ea typeface="+mj-ea"/>
              </a:rPr>
              <a:t>타겟</a:t>
            </a:r>
            <a:r>
              <a:rPr sz="1600" b="0" dirty="0">
                <a:solidFill>
                  <a:srgbClr val="475569"/>
                </a:solidFill>
                <a:latin typeface="+mj-ea"/>
                <a:ea typeface="+mj-ea"/>
              </a:rPr>
              <a:t> </a:t>
            </a:r>
            <a:r>
              <a:rPr sz="1600" b="0" dirty="0" err="1">
                <a:solidFill>
                  <a:srgbClr val="475569"/>
                </a:solidFill>
                <a:latin typeface="+mj-ea"/>
                <a:ea typeface="+mj-ea"/>
              </a:rPr>
              <a:t>전환</a:t>
            </a:r>
            <a:r>
              <a:rPr sz="1600" b="0" dirty="0">
                <a:solidFill>
                  <a:srgbClr val="475569"/>
                </a:solidFill>
                <a:latin typeface="+mj-ea"/>
                <a:ea typeface="+mj-ea"/>
              </a:rPr>
              <a:t>, </a:t>
            </a:r>
            <a:r>
              <a:rPr sz="1600" b="0" dirty="0" err="1">
                <a:solidFill>
                  <a:srgbClr val="475569"/>
                </a:solidFill>
                <a:latin typeface="+mj-ea"/>
                <a:ea typeface="+mj-ea"/>
              </a:rPr>
              <a:t>가림</a:t>
            </a:r>
            <a:r>
              <a:rPr sz="1600" b="0" dirty="0">
                <a:solidFill>
                  <a:srgbClr val="475569"/>
                </a:solidFill>
                <a:latin typeface="+mj-ea"/>
                <a:ea typeface="+mj-ea"/>
              </a:rPr>
              <a:t> 시 </a:t>
            </a:r>
            <a:r>
              <a:rPr sz="1600" b="0" dirty="0" err="1">
                <a:solidFill>
                  <a:srgbClr val="475569"/>
                </a:solidFill>
                <a:latin typeface="+mj-ea"/>
                <a:ea typeface="+mj-ea"/>
              </a:rPr>
              <a:t>추적</a:t>
            </a:r>
            <a:r>
              <a:rPr sz="1600" b="0" dirty="0">
                <a:solidFill>
                  <a:srgbClr val="475569"/>
                </a:solidFill>
                <a:latin typeface="+mj-ea"/>
                <a:ea typeface="+mj-ea"/>
              </a:rPr>
              <a:t> </a:t>
            </a:r>
            <a:r>
              <a:rPr sz="1600" b="0" dirty="0" err="1" smtClean="0">
                <a:solidFill>
                  <a:srgbClr val="475569"/>
                </a:solidFill>
                <a:latin typeface="+mj-ea"/>
                <a:ea typeface="+mj-ea"/>
              </a:rPr>
              <a:t>끊김</a:t>
            </a:r>
            <a:endParaRPr lang="en-US" sz="1600" b="0" dirty="0" smtClean="0">
              <a:solidFill>
                <a:srgbClr val="475569"/>
              </a:solidFill>
              <a:latin typeface="+mj-ea"/>
              <a:ea typeface="+mj-ea"/>
            </a:endParaRPr>
          </a:p>
          <a:p>
            <a:pPr>
              <a:lnSpc>
                <a:spcPct val="118000"/>
              </a:lnSpc>
              <a:spcAft>
                <a:spcPts val="700"/>
              </a:spcAft>
            </a:pPr>
            <a:endParaRPr sz="1600" b="0" dirty="0">
              <a:solidFill>
                <a:srgbClr val="475569"/>
              </a:solidFill>
              <a:latin typeface="+mj-ea"/>
              <a:ea typeface="+mj-ea"/>
            </a:endParaRP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600" b="1" dirty="0" err="1">
                <a:solidFill>
                  <a:srgbClr val="0F766E"/>
                </a:solidFill>
                <a:latin typeface="+mj-ea"/>
                <a:ea typeface="+mj-ea"/>
              </a:rPr>
              <a:t>해결</a:t>
            </a:r>
            <a:r>
              <a:rPr sz="1600" b="1" dirty="0">
                <a:solidFill>
                  <a:srgbClr val="0F766E"/>
                </a:solidFill>
                <a:latin typeface="+mj-ea"/>
                <a:ea typeface="+mj-ea"/>
              </a:rPr>
              <a:t> · </a:t>
            </a:r>
            <a:r>
              <a:rPr sz="1600" b="0" dirty="0" err="1">
                <a:solidFill>
                  <a:srgbClr val="475569"/>
                </a:solidFill>
                <a:latin typeface="+mj-ea"/>
                <a:ea typeface="+mj-ea"/>
              </a:rPr>
              <a:t>DeepOCSORT</a:t>
            </a:r>
            <a:r>
              <a:rPr sz="1600" b="0" dirty="0">
                <a:solidFill>
                  <a:srgbClr val="475569"/>
                </a:solidFill>
                <a:latin typeface="+mj-ea"/>
                <a:ea typeface="+mj-ea"/>
              </a:rPr>
              <a:t> + </a:t>
            </a:r>
            <a:r>
              <a:rPr lang="en-US" sz="1600" dirty="0" smtClean="0">
                <a:solidFill>
                  <a:srgbClr val="475569"/>
                </a:solidFill>
                <a:latin typeface="+mj-ea"/>
              </a:rPr>
              <a:t>OSN</a:t>
            </a:r>
            <a:r>
              <a:rPr lang="en-US" altLang="ko-KR" sz="1600" dirty="0" smtClean="0">
                <a:solidFill>
                  <a:srgbClr val="475569"/>
                </a:solidFill>
                <a:latin typeface="+mj-ea"/>
              </a:rPr>
              <a:t>et_x0_25_msmt17 (</a:t>
            </a:r>
            <a:r>
              <a:rPr sz="1600" b="0" dirty="0" err="1" smtClean="0">
                <a:solidFill>
                  <a:srgbClr val="475569"/>
                </a:solidFill>
                <a:latin typeface="+mj-ea"/>
                <a:ea typeface="+mj-ea"/>
              </a:rPr>
              <a:t>고유</a:t>
            </a:r>
            <a:r>
              <a:rPr sz="1600" b="0" dirty="0" smtClean="0">
                <a:solidFill>
                  <a:srgbClr val="475569"/>
                </a:solidFill>
                <a:latin typeface="+mj-ea"/>
                <a:ea typeface="+mj-ea"/>
              </a:rPr>
              <a:t> </a:t>
            </a:r>
            <a:r>
              <a:rPr sz="1600" b="0" dirty="0">
                <a:solidFill>
                  <a:srgbClr val="475569"/>
                </a:solidFill>
                <a:latin typeface="+mj-ea"/>
                <a:ea typeface="+mj-ea"/>
              </a:rPr>
              <a:t>ID </a:t>
            </a:r>
            <a:r>
              <a:rPr sz="1600" b="0" dirty="0" err="1" smtClean="0">
                <a:solidFill>
                  <a:srgbClr val="475569"/>
                </a:solidFill>
                <a:latin typeface="+mj-ea"/>
                <a:ea typeface="+mj-ea"/>
              </a:rPr>
              <a:t>최근접</a:t>
            </a:r>
            <a:r>
              <a:rPr sz="1600" b="0" dirty="0" smtClean="0">
                <a:solidFill>
                  <a:srgbClr val="475569"/>
                </a:solidFill>
                <a:latin typeface="+mj-ea"/>
                <a:ea typeface="+mj-ea"/>
              </a:rPr>
              <a:t> </a:t>
            </a:r>
            <a:r>
              <a:rPr sz="1600" b="0" dirty="0" err="1">
                <a:solidFill>
                  <a:srgbClr val="475569"/>
                </a:solidFill>
                <a:latin typeface="+mj-ea"/>
                <a:ea typeface="+mj-ea"/>
              </a:rPr>
              <a:t>자동</a:t>
            </a:r>
            <a:r>
              <a:rPr sz="1600" b="0" dirty="0">
                <a:solidFill>
                  <a:srgbClr val="475569"/>
                </a:solidFill>
                <a:latin typeface="+mj-ea"/>
                <a:ea typeface="+mj-ea"/>
              </a:rPr>
              <a:t> </a:t>
            </a:r>
            <a:r>
              <a:rPr sz="1600" b="0" dirty="0" smtClean="0">
                <a:solidFill>
                  <a:srgbClr val="475569"/>
                </a:solidFill>
                <a:latin typeface="+mj-ea"/>
                <a:ea typeface="+mj-ea"/>
              </a:rPr>
              <a:t>락</a:t>
            </a:r>
            <a:r>
              <a:rPr lang="en-US" sz="1600" b="0" dirty="0" smtClean="0">
                <a:solidFill>
                  <a:srgbClr val="475569"/>
                </a:solidFill>
                <a:latin typeface="+mj-ea"/>
                <a:ea typeface="+mj-ea"/>
              </a:rPr>
              <a:t>)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lang="en-US" sz="1600" dirty="0" smtClean="0">
                <a:solidFill>
                  <a:srgbClr val="475569"/>
                </a:solidFill>
                <a:latin typeface="+mj-ea"/>
                <a:ea typeface="+mj-ea"/>
              </a:rPr>
              <a:t>      </a:t>
            </a:r>
            <a:r>
              <a:rPr sz="1600" b="0" dirty="0" err="1" smtClean="0">
                <a:solidFill>
                  <a:srgbClr val="475569"/>
                </a:solidFill>
                <a:latin typeface="+mj-ea"/>
                <a:ea typeface="+mj-ea"/>
              </a:rPr>
              <a:t>max_age</a:t>
            </a:r>
            <a:r>
              <a:rPr sz="1600" b="0" dirty="0" smtClean="0">
                <a:solidFill>
                  <a:srgbClr val="475569"/>
                </a:solidFill>
                <a:latin typeface="+mj-ea"/>
                <a:ea typeface="+mj-ea"/>
              </a:rPr>
              <a:t> </a:t>
            </a:r>
            <a:r>
              <a:rPr sz="1600" b="0" dirty="0">
                <a:solidFill>
                  <a:srgbClr val="475569"/>
                </a:solidFill>
                <a:latin typeface="+mj-ea"/>
                <a:ea typeface="+mj-ea"/>
              </a:rPr>
              <a:t>30→150 (</a:t>
            </a:r>
            <a:r>
              <a:rPr sz="1600" b="0" dirty="0" err="1">
                <a:solidFill>
                  <a:srgbClr val="475569"/>
                </a:solidFill>
                <a:latin typeface="+mj-ea"/>
                <a:ea typeface="+mj-ea"/>
              </a:rPr>
              <a:t>이탈</a:t>
            </a:r>
            <a:r>
              <a:rPr sz="1600" b="0" dirty="0">
                <a:solidFill>
                  <a:srgbClr val="475569"/>
                </a:solidFill>
                <a:latin typeface="+mj-ea"/>
                <a:ea typeface="+mj-ea"/>
              </a:rPr>
              <a:t> 15초 ID </a:t>
            </a:r>
            <a:r>
              <a:rPr sz="1600" b="0" dirty="0" err="1">
                <a:solidFill>
                  <a:srgbClr val="475569"/>
                </a:solidFill>
                <a:latin typeface="+mj-ea"/>
                <a:ea typeface="+mj-ea"/>
              </a:rPr>
              <a:t>유지</a:t>
            </a:r>
            <a:r>
              <a:rPr sz="1600" b="0" dirty="0" smtClean="0">
                <a:solidFill>
                  <a:srgbClr val="475569"/>
                </a:solidFill>
                <a:latin typeface="+mj-ea"/>
                <a:ea typeface="+mj-ea"/>
              </a:rPr>
              <a:t>) </a:t>
            </a:r>
            <a:r>
              <a:rPr sz="1600" b="0" dirty="0">
                <a:solidFill>
                  <a:srgbClr val="475569"/>
                </a:solidFill>
                <a:latin typeface="+mj-ea"/>
                <a:ea typeface="+mj-ea"/>
              </a:rPr>
              <a:t>· </a:t>
            </a:r>
            <a:r>
              <a:rPr sz="1600" b="0" dirty="0" err="1" smtClean="0">
                <a:solidFill>
                  <a:srgbClr val="475569"/>
                </a:solidFill>
                <a:latin typeface="+mj-ea"/>
                <a:ea typeface="+mj-ea"/>
              </a:rPr>
              <a:t>OSNet</a:t>
            </a:r>
            <a:r>
              <a:rPr lang="en-US" sz="1600" b="0" dirty="0" smtClean="0">
                <a:solidFill>
                  <a:srgbClr val="475569"/>
                </a:solidFill>
                <a:latin typeface="+mj-ea"/>
                <a:ea typeface="+mj-ea"/>
              </a:rPr>
              <a:t> </a:t>
            </a:r>
            <a:r>
              <a:rPr sz="1600" b="0" dirty="0" err="1" smtClean="0">
                <a:solidFill>
                  <a:srgbClr val="475569"/>
                </a:solidFill>
                <a:latin typeface="+mj-ea"/>
                <a:ea typeface="+mj-ea"/>
              </a:rPr>
              <a:t>임베딩</a:t>
            </a:r>
            <a:r>
              <a:rPr sz="1600" b="0" dirty="0" smtClean="0">
                <a:solidFill>
                  <a:srgbClr val="475569"/>
                </a:solidFill>
                <a:latin typeface="+mj-ea"/>
                <a:ea typeface="+mj-ea"/>
              </a:rPr>
              <a:t> </a:t>
            </a:r>
            <a:r>
              <a:rPr sz="1600" b="0" dirty="0">
                <a:solidFill>
                  <a:srgbClr val="475569"/>
                </a:solidFill>
                <a:latin typeface="+mj-ea"/>
                <a:ea typeface="+mj-ea"/>
              </a:rPr>
              <a:t>RELOCK</a:t>
            </a:r>
          </a:p>
          <a:p>
            <a:pPr>
              <a:lnSpc>
                <a:spcPct val="118000"/>
              </a:lnSpc>
            </a:pPr>
            <a:r>
              <a:rPr sz="1600" b="0" dirty="0">
                <a:solidFill>
                  <a:srgbClr val="475569"/>
                </a:solidFill>
                <a:latin typeface="+mj-ea"/>
                <a:ea typeface="+mj-ea"/>
              </a:rPr>
              <a:t>      HSV </a:t>
            </a:r>
            <a:r>
              <a:rPr lang="ko-KR" altLang="en-US" sz="1600" dirty="0" smtClean="0">
                <a:solidFill>
                  <a:srgbClr val="475569"/>
                </a:solidFill>
                <a:latin typeface="+mj-ea"/>
                <a:ea typeface="+mj-ea"/>
              </a:rPr>
              <a:t>히스토그램 </a:t>
            </a:r>
            <a:r>
              <a:rPr sz="1600" b="0" dirty="0" err="1" smtClean="0">
                <a:solidFill>
                  <a:srgbClr val="475569"/>
                </a:solidFill>
                <a:latin typeface="+mj-ea"/>
                <a:ea typeface="+mj-ea"/>
              </a:rPr>
              <a:t>색상필터</a:t>
            </a:r>
            <a:r>
              <a:rPr sz="1600" b="0" dirty="0" smtClean="0">
                <a:solidFill>
                  <a:srgbClr val="475569"/>
                </a:solidFill>
                <a:latin typeface="+mj-ea"/>
                <a:ea typeface="+mj-ea"/>
              </a:rPr>
              <a:t> </a:t>
            </a:r>
            <a:r>
              <a:rPr sz="1600" b="0" dirty="0">
                <a:solidFill>
                  <a:srgbClr val="475569"/>
                </a:solidFill>
                <a:latin typeface="+mj-ea"/>
                <a:ea typeface="+mj-ea"/>
              </a:rPr>
              <a:t>2중 </a:t>
            </a:r>
            <a:r>
              <a:rPr sz="1600" b="0" dirty="0" err="1" smtClean="0">
                <a:solidFill>
                  <a:srgbClr val="475569"/>
                </a:solidFill>
                <a:latin typeface="+mj-ea"/>
                <a:ea typeface="+mj-ea"/>
              </a:rPr>
              <a:t>검증</a:t>
            </a:r>
            <a:endParaRPr lang="en-US" sz="1600" b="0" dirty="0" smtClean="0">
              <a:solidFill>
                <a:srgbClr val="475569"/>
              </a:solidFill>
              <a:latin typeface="+mj-ea"/>
              <a:ea typeface="+mj-ea"/>
            </a:endParaRPr>
          </a:p>
          <a:p>
            <a:pPr>
              <a:lnSpc>
                <a:spcPct val="118000"/>
              </a:lnSpc>
            </a:pPr>
            <a:endParaRPr sz="1600" b="0" dirty="0">
              <a:solidFill>
                <a:srgbClr val="475569"/>
              </a:solidFill>
              <a:latin typeface="+mj-ea"/>
              <a:ea typeface="+mj-ea"/>
            </a:endParaRP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600" b="1" dirty="0" err="1">
                <a:solidFill>
                  <a:srgbClr val="0F766E"/>
                </a:solidFill>
                <a:latin typeface="+mj-ea"/>
                <a:ea typeface="+mj-ea"/>
              </a:rPr>
              <a:t>효과</a:t>
            </a:r>
            <a:r>
              <a:rPr sz="1600" b="1" dirty="0">
                <a:solidFill>
                  <a:srgbClr val="0F766E"/>
                </a:solidFill>
                <a:latin typeface="+mj-ea"/>
                <a:ea typeface="+mj-ea"/>
              </a:rPr>
              <a:t> · </a:t>
            </a:r>
            <a:r>
              <a:rPr sz="1600" b="0" dirty="0" err="1">
                <a:solidFill>
                  <a:srgbClr val="475569"/>
                </a:solidFill>
                <a:latin typeface="+mj-ea"/>
                <a:ea typeface="+mj-ea"/>
              </a:rPr>
              <a:t>동료</a:t>
            </a:r>
            <a:r>
              <a:rPr sz="1600" b="0" dirty="0">
                <a:solidFill>
                  <a:srgbClr val="475569"/>
                </a:solidFill>
                <a:latin typeface="+mj-ea"/>
                <a:ea typeface="+mj-ea"/>
              </a:rPr>
              <a:t> · </a:t>
            </a:r>
            <a:r>
              <a:rPr sz="1600" b="0" dirty="0" err="1">
                <a:solidFill>
                  <a:srgbClr val="475569"/>
                </a:solidFill>
                <a:latin typeface="+mj-ea"/>
                <a:ea typeface="+mj-ea"/>
              </a:rPr>
              <a:t>화면</a:t>
            </a:r>
            <a:r>
              <a:rPr sz="1600" b="0" dirty="0">
                <a:solidFill>
                  <a:srgbClr val="475569"/>
                </a:solidFill>
                <a:latin typeface="+mj-ea"/>
                <a:ea typeface="+mj-ea"/>
              </a:rPr>
              <a:t> 속 </a:t>
            </a:r>
            <a:r>
              <a:rPr sz="1600" b="0" dirty="0" err="1">
                <a:solidFill>
                  <a:srgbClr val="475569"/>
                </a:solidFill>
                <a:latin typeface="+mj-ea"/>
                <a:ea typeface="+mj-ea"/>
              </a:rPr>
              <a:t>사진</a:t>
            </a:r>
            <a:r>
              <a:rPr sz="1600" b="0" dirty="0">
                <a:solidFill>
                  <a:srgbClr val="475569"/>
                </a:solidFill>
                <a:latin typeface="+mj-ea"/>
                <a:ea typeface="+mj-ea"/>
              </a:rPr>
              <a:t> </a:t>
            </a:r>
            <a:r>
              <a:rPr sz="1600" b="0" dirty="0" err="1">
                <a:solidFill>
                  <a:srgbClr val="475569"/>
                </a:solidFill>
                <a:latin typeface="+mj-ea"/>
                <a:ea typeface="+mj-ea"/>
              </a:rPr>
              <a:t>오인식</a:t>
            </a:r>
            <a:r>
              <a:rPr sz="1600" b="0" dirty="0">
                <a:solidFill>
                  <a:srgbClr val="475569"/>
                </a:solidFill>
                <a:latin typeface="+mj-ea"/>
                <a:ea typeface="+mj-ea"/>
              </a:rPr>
              <a:t> </a:t>
            </a:r>
            <a:r>
              <a:rPr sz="1600" b="0" dirty="0" err="1">
                <a:solidFill>
                  <a:srgbClr val="475569"/>
                </a:solidFill>
                <a:latin typeface="+mj-ea"/>
                <a:ea typeface="+mj-ea"/>
              </a:rPr>
              <a:t>차단</a:t>
            </a:r>
            <a:r>
              <a:rPr sz="1600" b="0" dirty="0">
                <a:solidFill>
                  <a:srgbClr val="475569"/>
                </a:solidFill>
                <a:latin typeface="+mj-ea"/>
                <a:ea typeface="+mj-ea"/>
              </a:rPr>
              <a:t> · </a:t>
            </a:r>
            <a:r>
              <a:rPr sz="1600" b="0" dirty="0" err="1">
                <a:solidFill>
                  <a:srgbClr val="475569"/>
                </a:solidFill>
                <a:latin typeface="+mj-ea"/>
                <a:ea typeface="+mj-ea"/>
              </a:rPr>
              <a:t>가림</a:t>
            </a:r>
            <a:r>
              <a:rPr sz="1600" b="0" dirty="0">
                <a:solidFill>
                  <a:srgbClr val="475569"/>
                </a:solidFill>
                <a:latin typeface="+mj-ea"/>
                <a:ea typeface="+mj-ea"/>
              </a:rPr>
              <a:t>/</a:t>
            </a:r>
            <a:r>
              <a:rPr sz="1600" b="0" dirty="0" err="1">
                <a:solidFill>
                  <a:srgbClr val="475569"/>
                </a:solidFill>
                <a:latin typeface="+mj-ea"/>
                <a:ea typeface="+mj-ea"/>
              </a:rPr>
              <a:t>이탈</a:t>
            </a:r>
            <a:r>
              <a:rPr sz="1600" b="0" dirty="0">
                <a:solidFill>
                  <a:srgbClr val="475569"/>
                </a:solidFill>
                <a:latin typeface="+mj-ea"/>
                <a:ea typeface="+mj-ea"/>
              </a:rPr>
              <a:t> 후 </a:t>
            </a:r>
            <a:r>
              <a:rPr sz="1600" b="0" dirty="0" err="1">
                <a:solidFill>
                  <a:srgbClr val="475569"/>
                </a:solidFill>
                <a:latin typeface="+mj-ea"/>
                <a:ea typeface="+mj-ea"/>
              </a:rPr>
              <a:t>동일인</a:t>
            </a:r>
            <a:r>
              <a:rPr sz="1600" b="0" dirty="0">
                <a:solidFill>
                  <a:srgbClr val="475569"/>
                </a:solidFill>
                <a:latin typeface="+mj-ea"/>
                <a:ea typeface="+mj-ea"/>
              </a:rPr>
              <a:t> </a:t>
            </a:r>
            <a:r>
              <a:rPr sz="1600" b="0" dirty="0" err="1">
                <a:solidFill>
                  <a:srgbClr val="475569"/>
                </a:solidFill>
                <a:latin typeface="+mj-ea"/>
                <a:ea typeface="+mj-ea"/>
              </a:rPr>
              <a:t>회수</a:t>
            </a:r>
            <a:endParaRPr sz="1600" b="0" dirty="0">
              <a:solidFill>
                <a:srgbClr val="475569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60400" y="5554600"/>
            <a:ext cx="3352800" cy="33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600" b="1" dirty="0" err="1">
                <a:solidFill>
                  <a:srgbClr val="1E293B"/>
                </a:solidFill>
                <a:latin typeface="+mj-ea"/>
                <a:ea typeface="+mj-ea"/>
              </a:rPr>
              <a:t>정량적</a:t>
            </a:r>
            <a:r>
              <a:rPr sz="1600" b="1" dirty="0">
                <a:solidFill>
                  <a:srgbClr val="1E293B"/>
                </a:solidFill>
                <a:latin typeface="+mj-ea"/>
                <a:ea typeface="+mj-ea"/>
              </a:rPr>
              <a:t> KPI </a:t>
            </a:r>
            <a:r>
              <a:rPr sz="1600" b="1" dirty="0" err="1">
                <a:solidFill>
                  <a:srgbClr val="1E293B"/>
                </a:solidFill>
                <a:latin typeface="+mj-ea"/>
                <a:ea typeface="+mj-ea"/>
              </a:rPr>
              <a:t>지표</a:t>
            </a:r>
            <a:r>
              <a:rPr sz="1600" b="1" dirty="0">
                <a:solidFill>
                  <a:srgbClr val="1E293B"/>
                </a:solidFill>
                <a:latin typeface="+mj-ea"/>
                <a:ea typeface="+mj-ea"/>
              </a:rPr>
              <a:t> (</a:t>
            </a:r>
            <a:r>
              <a:rPr sz="1600" b="1" dirty="0" err="1">
                <a:solidFill>
                  <a:srgbClr val="1E293B"/>
                </a:solidFill>
                <a:latin typeface="+mj-ea"/>
                <a:ea typeface="+mj-ea"/>
              </a:rPr>
              <a:t>목표</a:t>
            </a:r>
            <a:r>
              <a:rPr sz="1600" b="1" dirty="0">
                <a:solidFill>
                  <a:srgbClr val="1E293B"/>
                </a:solidFill>
                <a:latin typeface="+mj-ea"/>
                <a:ea typeface="+mj-ea"/>
              </a:rPr>
              <a:t> </a:t>
            </a:r>
            <a:r>
              <a:rPr sz="1600" b="1" dirty="0" err="1">
                <a:solidFill>
                  <a:srgbClr val="1E293B"/>
                </a:solidFill>
                <a:latin typeface="+mj-ea"/>
                <a:ea typeface="+mj-ea"/>
              </a:rPr>
              <a:t>대비</a:t>
            </a:r>
            <a:r>
              <a:rPr sz="1600" b="1" dirty="0">
                <a:solidFill>
                  <a:srgbClr val="1E293B"/>
                </a:solidFill>
                <a:latin typeface="+mj-ea"/>
                <a:ea typeface="+mj-ea"/>
              </a:rPr>
              <a:t> </a:t>
            </a:r>
            <a:r>
              <a:rPr sz="1600" b="1" dirty="0" err="1">
                <a:solidFill>
                  <a:srgbClr val="1E293B"/>
                </a:solidFill>
                <a:latin typeface="+mj-ea"/>
                <a:ea typeface="+mj-ea"/>
              </a:rPr>
              <a:t>측정</a:t>
            </a:r>
            <a:r>
              <a:rPr sz="1600" b="1" dirty="0">
                <a:solidFill>
                  <a:srgbClr val="1E293B"/>
                </a:solidFill>
                <a:latin typeface="+mj-ea"/>
                <a:ea typeface="+mj-ea"/>
              </a:rPr>
              <a:t>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3332423"/>
              </p:ext>
            </p:extLst>
          </p:nvPr>
        </p:nvGraphicFramePr>
        <p:xfrm>
          <a:off x="731520" y="5920000"/>
          <a:ext cx="15000000" cy="29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6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2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81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1428">
                <a:tc>
                  <a:txBody>
                    <a:bodyPr/>
                    <a:lstStyle/>
                    <a:p>
                      <a:pPr algn="ctr"/>
                      <a:r>
                        <a:rPr sz="1600" b="1" dirty="0" smtClean="0">
                          <a:solidFill>
                            <a:srgbClr val="FFFFFF"/>
                          </a:solidFill>
                          <a:latin typeface="+mj-ea"/>
                          <a:ea typeface="+mj-ea"/>
                        </a:rPr>
                        <a:t>구</a:t>
                      </a:r>
                      <a:r>
                        <a:rPr lang="en-US" sz="1600" b="1" dirty="0" smtClean="0">
                          <a:solidFill>
                            <a:srgbClr val="FFFFFF"/>
                          </a:solidFill>
                          <a:latin typeface="+mj-ea"/>
                          <a:ea typeface="+mj-ea"/>
                        </a:rPr>
                        <a:t> </a:t>
                      </a:r>
                      <a:r>
                        <a:rPr sz="1600" b="1" dirty="0" smtClean="0">
                          <a:solidFill>
                            <a:srgbClr val="FFFFFF"/>
                          </a:solidFill>
                          <a:latin typeface="+mj-ea"/>
                          <a:ea typeface="+mj-ea"/>
                        </a:rPr>
                        <a:t>분</a:t>
                      </a:r>
                      <a:endParaRPr sz="1600" b="1" dirty="0">
                        <a:solidFill>
                          <a:srgbClr val="FFFFFF"/>
                        </a:solidFill>
                        <a:latin typeface="+mj-ea"/>
                        <a:ea typeface="+mj-ea"/>
                      </a:endParaRPr>
                    </a:p>
                  </a:txBody>
                  <a:tcPr marL="120000" marR="80000" marT="30000" marB="30000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 smtClean="0">
                          <a:solidFill>
                            <a:srgbClr val="FFFFFF"/>
                          </a:solidFill>
                          <a:latin typeface="+mj-ea"/>
                          <a:ea typeface="+mj-ea"/>
                        </a:rPr>
                        <a:t>지</a:t>
                      </a:r>
                      <a:r>
                        <a:rPr lang="en-US" sz="1600" b="1" dirty="0" smtClean="0">
                          <a:solidFill>
                            <a:srgbClr val="FFFFFF"/>
                          </a:solidFill>
                          <a:latin typeface="+mj-ea"/>
                          <a:ea typeface="+mj-ea"/>
                        </a:rPr>
                        <a:t> </a:t>
                      </a:r>
                      <a:r>
                        <a:rPr sz="1600" b="1" dirty="0" smtClean="0">
                          <a:solidFill>
                            <a:srgbClr val="FFFFFF"/>
                          </a:solidFill>
                          <a:latin typeface="+mj-ea"/>
                          <a:ea typeface="+mj-ea"/>
                        </a:rPr>
                        <a:t>표</a:t>
                      </a:r>
                      <a:endParaRPr sz="1600" b="1" dirty="0">
                        <a:solidFill>
                          <a:srgbClr val="FFFFFF"/>
                        </a:solidFill>
                        <a:latin typeface="+mj-ea"/>
                        <a:ea typeface="+mj-ea"/>
                      </a:endParaRPr>
                    </a:p>
                  </a:txBody>
                  <a:tcPr marL="120000" marR="80000" marT="30000" marB="30000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 smtClean="0">
                          <a:solidFill>
                            <a:srgbClr val="FFFFFF"/>
                          </a:solidFill>
                          <a:latin typeface="+mj-ea"/>
                          <a:ea typeface="+mj-ea"/>
                        </a:rPr>
                        <a:t>목</a:t>
                      </a:r>
                      <a:r>
                        <a:rPr lang="en-US" sz="1600" b="1" dirty="0" smtClean="0">
                          <a:solidFill>
                            <a:srgbClr val="FFFFFF"/>
                          </a:solidFill>
                          <a:latin typeface="+mj-ea"/>
                          <a:ea typeface="+mj-ea"/>
                        </a:rPr>
                        <a:t> </a:t>
                      </a:r>
                      <a:r>
                        <a:rPr sz="1600" b="1" dirty="0" smtClean="0">
                          <a:solidFill>
                            <a:srgbClr val="FFFFFF"/>
                          </a:solidFill>
                          <a:latin typeface="+mj-ea"/>
                          <a:ea typeface="+mj-ea"/>
                        </a:rPr>
                        <a:t>표</a:t>
                      </a:r>
                      <a:endParaRPr sz="1600" b="1" dirty="0">
                        <a:solidFill>
                          <a:srgbClr val="FFFFFF"/>
                        </a:solidFill>
                        <a:latin typeface="+mj-ea"/>
                        <a:ea typeface="+mj-ea"/>
                      </a:endParaRPr>
                    </a:p>
                  </a:txBody>
                  <a:tcPr marL="120000" marR="80000" marT="30000" marB="30000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 err="1">
                          <a:solidFill>
                            <a:srgbClr val="FFFFFF"/>
                          </a:solidFill>
                          <a:latin typeface="+mj-ea"/>
                          <a:ea typeface="+mj-ea"/>
                        </a:rPr>
                        <a:t>측정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+mj-ea"/>
                          <a:ea typeface="+mj-ea"/>
                        </a:rPr>
                        <a:t> · </a:t>
                      </a:r>
                      <a:r>
                        <a:rPr sz="1600" b="1" dirty="0" err="1">
                          <a:solidFill>
                            <a:srgbClr val="FFFFFF"/>
                          </a:solidFill>
                          <a:latin typeface="+mj-ea"/>
                          <a:ea typeface="+mj-ea"/>
                        </a:rPr>
                        <a:t>현황</a:t>
                      </a:r>
                      <a:endParaRPr sz="1600" b="1" dirty="0">
                        <a:solidFill>
                          <a:srgbClr val="FFFFFF"/>
                        </a:solidFill>
                        <a:latin typeface="+mj-ea"/>
                        <a:ea typeface="+mj-ea"/>
                      </a:endParaRPr>
                    </a:p>
                  </a:txBody>
                  <a:tcPr marL="120000" marR="80000" marT="30000" marB="30000"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1428">
                <a:tc>
                  <a:txBody>
                    <a:bodyPr/>
                    <a:lstStyle/>
                    <a:p>
                      <a:pPr algn="ctr"/>
                      <a:r>
                        <a:rPr sz="1600" b="1" dirty="0" err="1" smtClean="0">
                          <a:solidFill>
                            <a:srgbClr val="2563EB"/>
                          </a:solidFill>
                          <a:latin typeface="+mj-ea"/>
                          <a:ea typeface="+mj-ea"/>
                        </a:rPr>
                        <a:t>가속</a:t>
                      </a:r>
                      <a:endParaRPr sz="1600" b="1" dirty="0">
                        <a:solidFill>
                          <a:srgbClr val="2563EB"/>
                        </a:solidFill>
                        <a:latin typeface="+mj-ea"/>
                        <a:ea typeface="+mj-ea"/>
                      </a:endParaRPr>
                    </a:p>
                  </a:txBody>
                  <a:tcPr marL="120000" marR="8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E293B"/>
                          </a:solidFill>
                          <a:latin typeface="+mj-ea"/>
                          <a:ea typeface="+mj-ea"/>
                        </a:rPr>
                        <a:t>추론 FPS (TensorRT FP16)</a:t>
                      </a:r>
                    </a:p>
                  </a:txBody>
                  <a:tcPr marL="120000" marR="8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dirty="0">
                          <a:solidFill>
                            <a:srgbClr val="1E293B"/>
                          </a:solidFill>
                          <a:latin typeface="+mj-ea"/>
                          <a:ea typeface="+mj-ea"/>
                        </a:rPr>
                        <a:t>30+ FPS</a:t>
                      </a:r>
                    </a:p>
                  </a:txBody>
                  <a:tcPr marL="120000" marR="8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 smtClean="0">
                          <a:solidFill>
                            <a:srgbClr val="0F766E"/>
                          </a:solidFill>
                          <a:latin typeface="+mj-ea"/>
                          <a:ea typeface="+mj-ea"/>
                        </a:rPr>
                        <a:t>31.1</a:t>
                      </a:r>
                      <a:r>
                        <a:rPr lang="en-US" sz="1600" b="1" dirty="0" smtClean="0">
                          <a:solidFill>
                            <a:srgbClr val="0F766E"/>
                          </a:solidFill>
                          <a:latin typeface="+mj-ea"/>
                          <a:ea typeface="+mj-ea"/>
                        </a:rPr>
                        <a:t> </a:t>
                      </a:r>
                      <a:r>
                        <a:rPr sz="1600" b="1" dirty="0" smtClean="0">
                          <a:solidFill>
                            <a:srgbClr val="0F766E"/>
                          </a:solidFill>
                          <a:latin typeface="+mj-ea"/>
                          <a:ea typeface="+mj-ea"/>
                        </a:rPr>
                        <a:t>→</a:t>
                      </a:r>
                      <a:r>
                        <a:rPr lang="en-US" sz="1600" b="1" dirty="0" smtClean="0">
                          <a:solidFill>
                            <a:srgbClr val="0F766E"/>
                          </a:solidFill>
                          <a:latin typeface="+mj-ea"/>
                          <a:ea typeface="+mj-ea"/>
                        </a:rPr>
                        <a:t> </a:t>
                      </a:r>
                      <a:r>
                        <a:rPr sz="1600" b="1" dirty="0" smtClean="0">
                          <a:solidFill>
                            <a:srgbClr val="0F766E"/>
                          </a:solidFill>
                          <a:latin typeface="+mj-ea"/>
                          <a:ea typeface="+mj-ea"/>
                        </a:rPr>
                        <a:t>48.0 </a:t>
                      </a:r>
                      <a:r>
                        <a:rPr sz="1600" b="1" dirty="0">
                          <a:solidFill>
                            <a:srgbClr val="0F766E"/>
                          </a:solidFill>
                          <a:latin typeface="+mj-ea"/>
                          <a:ea typeface="+mj-ea"/>
                        </a:rPr>
                        <a:t>fps (+54%) ✓</a:t>
                      </a:r>
                    </a:p>
                  </a:txBody>
                  <a:tcPr marL="120000" marR="80000" marT="30000" marB="3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1428">
                <a:tc>
                  <a:txBody>
                    <a:bodyPr/>
                    <a:lstStyle/>
                    <a:p>
                      <a:pPr algn="ctr"/>
                      <a:r>
                        <a:rPr sz="1600" b="1" dirty="0" err="1" smtClean="0">
                          <a:solidFill>
                            <a:srgbClr val="2563EB"/>
                          </a:solidFill>
                          <a:latin typeface="+mj-ea"/>
                          <a:ea typeface="+mj-ea"/>
                        </a:rPr>
                        <a:t>가속</a:t>
                      </a:r>
                      <a:endParaRPr sz="1600" b="1" dirty="0">
                        <a:solidFill>
                          <a:srgbClr val="2563EB"/>
                        </a:solidFill>
                        <a:latin typeface="+mj-ea"/>
                        <a:ea typeface="+mj-ea"/>
                      </a:endParaRPr>
                    </a:p>
                  </a:txBody>
                  <a:tcPr marL="120000" marR="80000" marT="30000" marB="300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E293B"/>
                          </a:solidFill>
                          <a:latin typeface="+mj-ea"/>
                          <a:ea typeface="+mj-ea"/>
                        </a:rPr>
                        <a:t>추론 Latency</a:t>
                      </a:r>
                    </a:p>
                  </a:txBody>
                  <a:tcPr marL="120000" marR="80000" marT="30000" marB="300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E293B"/>
                          </a:solidFill>
                          <a:latin typeface="+mj-ea"/>
                          <a:ea typeface="+mj-ea"/>
                        </a:rPr>
                        <a:t>&lt; 35 ms</a:t>
                      </a:r>
                    </a:p>
                  </a:txBody>
                  <a:tcPr marL="120000" marR="80000" marT="30000" marB="300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 smtClean="0">
                          <a:solidFill>
                            <a:srgbClr val="0F766E"/>
                          </a:solidFill>
                          <a:latin typeface="+mj-ea"/>
                          <a:ea typeface="+mj-ea"/>
                        </a:rPr>
                        <a:t>32.2</a:t>
                      </a:r>
                      <a:r>
                        <a:rPr lang="en-US" sz="1600" b="1" dirty="0" smtClean="0">
                          <a:solidFill>
                            <a:srgbClr val="0F766E"/>
                          </a:solidFill>
                          <a:latin typeface="+mj-ea"/>
                          <a:ea typeface="+mj-ea"/>
                        </a:rPr>
                        <a:t> </a:t>
                      </a:r>
                      <a:r>
                        <a:rPr sz="1600" b="1" dirty="0" smtClean="0">
                          <a:solidFill>
                            <a:srgbClr val="0F766E"/>
                          </a:solidFill>
                          <a:latin typeface="+mj-ea"/>
                          <a:ea typeface="+mj-ea"/>
                        </a:rPr>
                        <a:t>→</a:t>
                      </a:r>
                      <a:r>
                        <a:rPr lang="en-US" sz="1600" b="1" dirty="0" smtClean="0">
                          <a:solidFill>
                            <a:srgbClr val="0F766E"/>
                          </a:solidFill>
                          <a:latin typeface="+mj-ea"/>
                          <a:ea typeface="+mj-ea"/>
                        </a:rPr>
                        <a:t> </a:t>
                      </a:r>
                      <a:r>
                        <a:rPr sz="1600" b="1" dirty="0" smtClean="0">
                          <a:solidFill>
                            <a:srgbClr val="0F766E"/>
                          </a:solidFill>
                          <a:latin typeface="+mj-ea"/>
                          <a:ea typeface="+mj-ea"/>
                        </a:rPr>
                        <a:t>20.8 </a:t>
                      </a:r>
                      <a:r>
                        <a:rPr sz="1600" b="1" dirty="0" err="1">
                          <a:solidFill>
                            <a:srgbClr val="0F766E"/>
                          </a:solidFill>
                          <a:latin typeface="+mj-ea"/>
                          <a:ea typeface="+mj-ea"/>
                        </a:rPr>
                        <a:t>ms</a:t>
                      </a:r>
                      <a:r>
                        <a:rPr sz="1600" b="1" dirty="0">
                          <a:solidFill>
                            <a:srgbClr val="0F766E"/>
                          </a:solidFill>
                          <a:latin typeface="+mj-ea"/>
                          <a:ea typeface="+mj-ea"/>
                        </a:rPr>
                        <a:t> (1.55×) ✓</a:t>
                      </a:r>
                    </a:p>
                  </a:txBody>
                  <a:tcPr marL="120000" marR="80000" marT="30000" marB="30000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1428">
                <a:tc>
                  <a:txBody>
                    <a:bodyPr/>
                    <a:lstStyle/>
                    <a:p>
                      <a:pPr algn="ctr"/>
                      <a:r>
                        <a:rPr sz="1600" b="1" dirty="0" err="1" smtClean="0">
                          <a:solidFill>
                            <a:srgbClr val="0F766E"/>
                          </a:solidFill>
                          <a:latin typeface="+mj-ea"/>
                          <a:ea typeface="+mj-ea"/>
                        </a:rPr>
                        <a:t>견고성</a:t>
                      </a:r>
                      <a:endParaRPr sz="1600" b="1" dirty="0">
                        <a:solidFill>
                          <a:srgbClr val="0F766E"/>
                        </a:solidFill>
                        <a:latin typeface="+mj-ea"/>
                        <a:ea typeface="+mj-ea"/>
                      </a:endParaRPr>
                    </a:p>
                  </a:txBody>
                  <a:tcPr marL="120000" marR="8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dirty="0" err="1">
                          <a:solidFill>
                            <a:srgbClr val="1E293B"/>
                          </a:solidFill>
                          <a:latin typeface="+mj-ea"/>
                          <a:ea typeface="+mj-ea"/>
                        </a:rPr>
                        <a:t>본인</a:t>
                      </a:r>
                      <a:r>
                        <a:rPr sz="1600" dirty="0">
                          <a:solidFill>
                            <a:srgbClr val="1E293B"/>
                          </a:solidFill>
                          <a:latin typeface="+mj-ea"/>
                          <a:ea typeface="+mj-ea"/>
                        </a:rPr>
                        <a:t> </a:t>
                      </a:r>
                      <a:r>
                        <a:rPr sz="1600" dirty="0" err="1">
                          <a:solidFill>
                            <a:srgbClr val="1E293B"/>
                          </a:solidFill>
                          <a:latin typeface="+mj-ea"/>
                          <a:ea typeface="+mj-ea"/>
                        </a:rPr>
                        <a:t>재식별</a:t>
                      </a:r>
                      <a:r>
                        <a:rPr sz="1600" dirty="0">
                          <a:solidFill>
                            <a:srgbClr val="1E293B"/>
                          </a:solidFill>
                          <a:latin typeface="+mj-ea"/>
                          <a:ea typeface="+mj-ea"/>
                        </a:rPr>
                        <a:t> (</a:t>
                      </a:r>
                      <a:r>
                        <a:rPr sz="1600" dirty="0" err="1">
                          <a:solidFill>
                            <a:srgbClr val="1E293B"/>
                          </a:solidFill>
                          <a:latin typeface="+mj-ea"/>
                          <a:ea typeface="+mj-ea"/>
                        </a:rPr>
                        <a:t>OSNet</a:t>
                      </a:r>
                      <a:r>
                        <a:rPr sz="1600" dirty="0">
                          <a:solidFill>
                            <a:srgbClr val="1E293B"/>
                          </a:solidFill>
                          <a:latin typeface="+mj-ea"/>
                          <a:ea typeface="+mj-ea"/>
                        </a:rPr>
                        <a:t> sim)</a:t>
                      </a:r>
                    </a:p>
                  </a:txBody>
                  <a:tcPr marL="120000" marR="8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dirty="0">
                          <a:solidFill>
                            <a:srgbClr val="1E293B"/>
                          </a:solidFill>
                          <a:latin typeface="+mj-ea"/>
                          <a:ea typeface="+mj-ea"/>
                        </a:rPr>
                        <a:t>≥ 0.6</a:t>
                      </a:r>
                    </a:p>
                  </a:txBody>
                  <a:tcPr marL="120000" marR="8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 smtClean="0">
                          <a:solidFill>
                            <a:srgbClr val="0F766E"/>
                          </a:solidFill>
                          <a:latin typeface="+mj-ea"/>
                          <a:ea typeface="+mj-ea"/>
                        </a:rPr>
                        <a:t>0.6</a:t>
                      </a:r>
                      <a:r>
                        <a:rPr lang="en-US" sz="1600" b="1" dirty="0" smtClean="0">
                          <a:solidFill>
                            <a:srgbClr val="0F766E"/>
                          </a:solidFill>
                          <a:latin typeface="+mj-ea"/>
                          <a:ea typeface="+mj-ea"/>
                        </a:rPr>
                        <a:t> </a:t>
                      </a:r>
                      <a:r>
                        <a:rPr sz="1600" b="1" dirty="0" smtClean="0">
                          <a:solidFill>
                            <a:srgbClr val="0F766E"/>
                          </a:solidFill>
                          <a:latin typeface="+mj-ea"/>
                          <a:ea typeface="+mj-ea"/>
                        </a:rPr>
                        <a:t>~</a:t>
                      </a:r>
                      <a:r>
                        <a:rPr lang="en-US" sz="1600" b="1" dirty="0" smtClean="0">
                          <a:solidFill>
                            <a:srgbClr val="0F766E"/>
                          </a:solidFill>
                          <a:latin typeface="+mj-ea"/>
                          <a:ea typeface="+mj-ea"/>
                        </a:rPr>
                        <a:t> </a:t>
                      </a:r>
                      <a:r>
                        <a:rPr sz="1600" b="1" dirty="0" smtClean="0">
                          <a:solidFill>
                            <a:srgbClr val="0F766E"/>
                          </a:solidFill>
                          <a:latin typeface="+mj-ea"/>
                          <a:ea typeface="+mj-ea"/>
                        </a:rPr>
                        <a:t>0.9 </a:t>
                      </a:r>
                      <a:r>
                        <a:rPr sz="1600" b="1" dirty="0" err="1">
                          <a:solidFill>
                            <a:srgbClr val="0F766E"/>
                          </a:solidFill>
                          <a:latin typeface="+mj-ea"/>
                          <a:ea typeface="+mj-ea"/>
                        </a:rPr>
                        <a:t>회수</a:t>
                      </a:r>
                      <a:r>
                        <a:rPr sz="1600" b="1" dirty="0">
                          <a:solidFill>
                            <a:srgbClr val="0F766E"/>
                          </a:solidFill>
                          <a:latin typeface="+mj-ea"/>
                          <a:ea typeface="+mj-ea"/>
                        </a:rPr>
                        <a:t>  ✓</a:t>
                      </a:r>
                    </a:p>
                  </a:txBody>
                  <a:tcPr marL="120000" marR="80000" marT="30000" marB="3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1428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F766E"/>
                          </a:solidFill>
                          <a:latin typeface="+mj-ea"/>
                          <a:ea typeface="+mj-ea"/>
                        </a:rPr>
                        <a:t>견고성</a:t>
                      </a:r>
                    </a:p>
                  </a:txBody>
                  <a:tcPr marL="120000" marR="80000" marT="30000" marB="300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dirty="0" err="1">
                          <a:solidFill>
                            <a:srgbClr val="1E293B"/>
                          </a:solidFill>
                          <a:latin typeface="+mj-ea"/>
                          <a:ea typeface="+mj-ea"/>
                        </a:rPr>
                        <a:t>오인식</a:t>
                      </a:r>
                      <a:r>
                        <a:rPr sz="1600" dirty="0">
                          <a:solidFill>
                            <a:srgbClr val="1E293B"/>
                          </a:solidFill>
                          <a:latin typeface="+mj-ea"/>
                          <a:ea typeface="+mj-ea"/>
                        </a:rPr>
                        <a:t> </a:t>
                      </a:r>
                      <a:r>
                        <a:rPr sz="1600" dirty="0" err="1">
                          <a:solidFill>
                            <a:srgbClr val="1E293B"/>
                          </a:solidFill>
                          <a:latin typeface="+mj-ea"/>
                          <a:ea typeface="+mj-ea"/>
                        </a:rPr>
                        <a:t>차단</a:t>
                      </a:r>
                      <a:r>
                        <a:rPr sz="1600" dirty="0">
                          <a:solidFill>
                            <a:srgbClr val="1E293B"/>
                          </a:solidFill>
                          <a:latin typeface="+mj-ea"/>
                          <a:ea typeface="+mj-ea"/>
                        </a:rPr>
                        <a:t> (HSV </a:t>
                      </a:r>
                      <a:r>
                        <a:rPr sz="1600" dirty="0" err="1" smtClean="0">
                          <a:solidFill>
                            <a:srgbClr val="1E293B"/>
                          </a:solidFill>
                          <a:latin typeface="+mj-ea"/>
                          <a:ea typeface="+mj-ea"/>
                        </a:rPr>
                        <a:t>색상</a:t>
                      </a:r>
                      <a:r>
                        <a:rPr sz="1600" dirty="0" smtClean="0">
                          <a:solidFill>
                            <a:srgbClr val="1E293B"/>
                          </a:solidFill>
                          <a:latin typeface="+mj-ea"/>
                          <a:ea typeface="+mj-ea"/>
                        </a:rPr>
                        <a:t> </a:t>
                      </a:r>
                      <a:r>
                        <a:rPr sz="1600" dirty="0" err="1">
                          <a:solidFill>
                            <a:srgbClr val="1E293B"/>
                          </a:solidFill>
                          <a:latin typeface="+mj-ea"/>
                          <a:ea typeface="+mj-ea"/>
                        </a:rPr>
                        <a:t>유사도</a:t>
                      </a:r>
                      <a:r>
                        <a:rPr sz="1600" dirty="0">
                          <a:solidFill>
                            <a:srgbClr val="1E293B"/>
                          </a:solidFill>
                          <a:latin typeface="+mj-ea"/>
                          <a:ea typeface="+mj-ea"/>
                        </a:rPr>
                        <a:t>)</a:t>
                      </a:r>
                    </a:p>
                  </a:txBody>
                  <a:tcPr marL="120000" marR="80000" marT="30000" marB="300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E293B"/>
                          </a:solidFill>
                          <a:latin typeface="+mj-ea"/>
                          <a:ea typeface="+mj-ea"/>
                        </a:rPr>
                        <a:t>&lt; 0.2</a:t>
                      </a:r>
                    </a:p>
                  </a:txBody>
                  <a:tcPr marL="120000" marR="80000" marT="30000" marB="300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 smtClean="0">
                          <a:solidFill>
                            <a:srgbClr val="0F766E"/>
                          </a:solidFill>
                          <a:latin typeface="+mj-ea"/>
                          <a:ea typeface="+mj-ea"/>
                        </a:rPr>
                        <a:t>0.0</a:t>
                      </a:r>
                      <a:r>
                        <a:rPr lang="en-US" sz="1600" b="1" dirty="0" smtClean="0">
                          <a:solidFill>
                            <a:srgbClr val="0F766E"/>
                          </a:solidFill>
                          <a:latin typeface="+mj-ea"/>
                          <a:ea typeface="+mj-ea"/>
                        </a:rPr>
                        <a:t> </a:t>
                      </a:r>
                      <a:r>
                        <a:rPr sz="1600" b="1" dirty="0" smtClean="0">
                          <a:solidFill>
                            <a:srgbClr val="0F766E"/>
                          </a:solidFill>
                          <a:latin typeface="+mj-ea"/>
                          <a:ea typeface="+mj-ea"/>
                        </a:rPr>
                        <a:t>~</a:t>
                      </a:r>
                      <a:r>
                        <a:rPr lang="en-US" sz="1600" b="1" dirty="0" smtClean="0">
                          <a:solidFill>
                            <a:srgbClr val="0F766E"/>
                          </a:solidFill>
                          <a:latin typeface="+mj-ea"/>
                          <a:ea typeface="+mj-ea"/>
                        </a:rPr>
                        <a:t> </a:t>
                      </a:r>
                      <a:r>
                        <a:rPr sz="1600" b="1" dirty="0" smtClean="0">
                          <a:solidFill>
                            <a:srgbClr val="0F766E"/>
                          </a:solidFill>
                          <a:latin typeface="+mj-ea"/>
                          <a:ea typeface="+mj-ea"/>
                        </a:rPr>
                        <a:t>0.14 </a:t>
                      </a:r>
                      <a:r>
                        <a:rPr sz="1600" b="1" dirty="0" err="1">
                          <a:solidFill>
                            <a:srgbClr val="0F766E"/>
                          </a:solidFill>
                          <a:latin typeface="+mj-ea"/>
                          <a:ea typeface="+mj-ea"/>
                        </a:rPr>
                        <a:t>거부</a:t>
                      </a:r>
                      <a:r>
                        <a:rPr sz="1600" b="1" dirty="0">
                          <a:solidFill>
                            <a:srgbClr val="0F766E"/>
                          </a:solidFill>
                          <a:latin typeface="+mj-ea"/>
                          <a:ea typeface="+mj-ea"/>
                        </a:rPr>
                        <a:t>  ✓</a:t>
                      </a:r>
                    </a:p>
                  </a:txBody>
                  <a:tcPr marL="120000" marR="80000" marT="30000" marB="30000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1428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F766E"/>
                          </a:solidFill>
                          <a:latin typeface="+mj-ea"/>
                          <a:ea typeface="+mj-ea"/>
                        </a:rPr>
                        <a:t>견고성</a:t>
                      </a:r>
                    </a:p>
                  </a:txBody>
                  <a:tcPr marL="120000" marR="8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E293B"/>
                          </a:solidFill>
                          <a:latin typeface="+mj-ea"/>
                          <a:ea typeface="+mj-ea"/>
                        </a:rPr>
                        <a:t>가림·이탈 후 RELOCK 성공률</a:t>
                      </a:r>
                    </a:p>
                  </a:txBody>
                  <a:tcPr marL="120000" marR="8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E293B"/>
                          </a:solidFill>
                          <a:latin typeface="+mj-ea"/>
                          <a:ea typeface="+mj-ea"/>
                        </a:rPr>
                        <a:t>≥ 90%</a:t>
                      </a:r>
                    </a:p>
                  </a:txBody>
                  <a:tcPr marL="120000" marR="8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0F766E"/>
                          </a:solidFill>
                          <a:latin typeface="+mj-ea"/>
                          <a:ea typeface="+mj-ea"/>
                        </a:rPr>
                        <a:t>94.4% (17/18) ✓</a:t>
                      </a:r>
                    </a:p>
                  </a:txBody>
                  <a:tcPr marL="120000" marR="80000" marT="30000" marB="3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1432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F766E"/>
                          </a:solidFill>
                          <a:latin typeface="+mj-ea"/>
                          <a:ea typeface="+mj-ea"/>
                        </a:rPr>
                        <a:t>견고성</a:t>
                      </a:r>
                    </a:p>
                  </a:txBody>
                  <a:tcPr marL="120000" marR="80000" marT="30000" marB="300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dirty="0" err="1">
                          <a:solidFill>
                            <a:srgbClr val="1E293B"/>
                          </a:solidFill>
                          <a:latin typeface="+mj-ea"/>
                          <a:ea typeface="+mj-ea"/>
                        </a:rPr>
                        <a:t>타깃</a:t>
                      </a:r>
                      <a:r>
                        <a:rPr sz="1600" dirty="0">
                          <a:solidFill>
                            <a:srgbClr val="1E293B"/>
                          </a:solidFill>
                          <a:latin typeface="+mj-ea"/>
                          <a:ea typeface="+mj-ea"/>
                        </a:rPr>
                        <a:t> ID </a:t>
                      </a:r>
                      <a:r>
                        <a:rPr sz="1600" dirty="0" err="1">
                          <a:solidFill>
                            <a:srgbClr val="1E293B"/>
                          </a:solidFill>
                          <a:latin typeface="+mj-ea"/>
                          <a:ea typeface="+mj-ea"/>
                        </a:rPr>
                        <a:t>유지</a:t>
                      </a:r>
                      <a:r>
                        <a:rPr sz="1600" dirty="0">
                          <a:solidFill>
                            <a:srgbClr val="1E293B"/>
                          </a:solidFill>
                          <a:latin typeface="+mj-ea"/>
                          <a:ea typeface="+mj-ea"/>
                        </a:rPr>
                        <a:t> </a:t>
                      </a:r>
                      <a:r>
                        <a:rPr sz="1600" dirty="0" err="1">
                          <a:solidFill>
                            <a:srgbClr val="1E293B"/>
                          </a:solidFill>
                          <a:latin typeface="+mj-ea"/>
                          <a:ea typeface="+mj-ea"/>
                        </a:rPr>
                        <a:t>시간</a:t>
                      </a:r>
                      <a:endParaRPr sz="1600" dirty="0">
                        <a:solidFill>
                          <a:srgbClr val="1E293B"/>
                        </a:solidFill>
                        <a:latin typeface="+mj-ea"/>
                        <a:ea typeface="+mj-ea"/>
                      </a:endParaRPr>
                    </a:p>
                  </a:txBody>
                  <a:tcPr marL="120000" marR="80000" marT="30000" marB="300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E293B"/>
                          </a:solidFill>
                          <a:latin typeface="+mj-ea"/>
                          <a:ea typeface="+mj-ea"/>
                        </a:rPr>
                        <a:t>~15 s</a:t>
                      </a:r>
                    </a:p>
                  </a:txBody>
                  <a:tcPr marL="120000" marR="80000" marT="30000" marB="300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 err="1">
                          <a:solidFill>
                            <a:srgbClr val="0F766E"/>
                          </a:solidFill>
                          <a:latin typeface="+mj-ea"/>
                          <a:ea typeface="+mj-ea"/>
                        </a:rPr>
                        <a:t>max_age</a:t>
                      </a:r>
                      <a:r>
                        <a:rPr sz="1600" b="1" dirty="0">
                          <a:solidFill>
                            <a:srgbClr val="0F766E"/>
                          </a:solidFill>
                          <a:latin typeface="+mj-ea"/>
                          <a:ea typeface="+mj-ea"/>
                        </a:rPr>
                        <a:t> 150  ✓</a:t>
                      </a:r>
                    </a:p>
                  </a:txBody>
                  <a:tcPr marL="120000" marR="80000" marT="30000" marB="30000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926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0" y="159657"/>
            <a:ext cx="15925800" cy="8824686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00" y="1676400"/>
            <a:ext cx="14584497" cy="716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2721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3222</TotalTime>
  <Words>335</Words>
  <Application>Microsoft Office PowerPoint</Application>
  <PresentationFormat>사용자 지정</PresentationFormat>
  <Paragraphs>68</Paragraphs>
  <Slides>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8" baseType="lpstr">
      <vt:lpstr>맑은 고딕</vt:lpstr>
      <vt:lpstr>Arial</vt:lpstr>
      <vt:lpstr>Calibri</vt:lpstr>
      <vt:lpstr>Cambria</vt:lpstr>
      <vt:lpstr>Office Theme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61</cp:revision>
  <dcterms:created xsi:type="dcterms:W3CDTF">2006-08-16T00:00:00Z</dcterms:created>
  <dcterms:modified xsi:type="dcterms:W3CDTF">2026-06-28T01:45:40Z</dcterms:modified>
</cp:coreProperties>
</file>