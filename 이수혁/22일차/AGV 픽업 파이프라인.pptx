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7133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76376"/>
            <a:ext cx="3492549" cy="5381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800" y="1476376"/>
            <a:ext cx="3492549" cy="5381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100" y="1476376"/>
            <a:ext cx="3492549" cy="5381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959001" y="1866901"/>
            <a:ext cx="762148" cy="233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37301" y="1866901"/>
            <a:ext cx="762148" cy="23335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571500" y="571501"/>
            <a:ext cx="1160145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</a:rPr>
              <a:t>AGV 픽업 파이프라인: 비전/라이다 퓨전 도킹</a:t>
            </a:r>
            <a:endParaRPr sz="1800"/>
          </a:p>
        </p:txBody>
      </p:sp>
      <p:sp>
        <p:nvSpPr>
          <p:cNvPr id="91" name="Google Shape;91;p13"/>
          <p:cNvSpPr txBox="1"/>
          <p:nvPr/>
        </p:nvSpPr>
        <p:spPr>
          <a:xfrm>
            <a:off x="914400" y="2581276"/>
            <a:ext cx="2586573" cy="30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951" b="1">
                <a:solidFill>
                  <a:srgbClr val="FFFFFF"/>
                </a:solidFill>
              </a:rPr>
              <a:t>Phase 1: 유도 및 추종</a:t>
            </a:r>
            <a:endParaRPr sz="1800"/>
          </a:p>
        </p:txBody>
      </p:sp>
      <p:sp>
        <p:nvSpPr>
          <p:cNvPr id="92" name="Google Shape;92;p13"/>
          <p:cNvSpPr txBox="1"/>
          <p:nvPr/>
        </p:nvSpPr>
        <p:spPr>
          <a:xfrm>
            <a:off x="4692699" y="2581276"/>
            <a:ext cx="2254344" cy="30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951" b="1">
                <a:solidFill>
                  <a:srgbClr val="FFFFFF"/>
                </a:solidFill>
              </a:rPr>
              <a:t>Phase 2: 정밀 도킹</a:t>
            </a:r>
            <a:endParaRPr sz="1800"/>
          </a:p>
        </p:txBody>
      </p:sp>
      <p:sp>
        <p:nvSpPr>
          <p:cNvPr id="93" name="Google Shape;93;p13"/>
          <p:cNvSpPr txBox="1"/>
          <p:nvPr/>
        </p:nvSpPr>
        <p:spPr>
          <a:xfrm>
            <a:off x="8471001" y="2581276"/>
            <a:ext cx="2224809" cy="30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951" b="1">
                <a:solidFill>
                  <a:srgbClr val="FFFFFF"/>
                </a:solidFill>
              </a:rPr>
              <a:t>핵심 기술 &amp; 안정성</a:t>
            </a:r>
            <a:endParaRPr sz="1800"/>
          </a:p>
        </p:txBody>
      </p:sp>
      <p:pic>
        <p:nvPicPr>
          <p:cNvPr id="94" name="Google Shape;94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14401" y="1885952"/>
            <a:ext cx="419100" cy="3667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914400" y="3200400"/>
            <a:ext cx="2806749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200" b="1" dirty="0" err="1">
                <a:solidFill>
                  <a:srgbClr val="60A5FA"/>
                </a:solidFill>
              </a:rPr>
              <a:t>비전</a:t>
            </a:r>
            <a:r>
              <a:rPr lang="en-US" sz="1200" b="1" dirty="0">
                <a:solidFill>
                  <a:srgbClr val="60A5FA"/>
                </a:solidFill>
              </a:rPr>
              <a:t> </a:t>
            </a:r>
            <a:r>
              <a:rPr lang="en-US" sz="1200" b="1" dirty="0" err="1">
                <a:solidFill>
                  <a:srgbClr val="60A5FA"/>
                </a:solidFill>
              </a:rPr>
              <a:t>정밀</a:t>
            </a:r>
            <a:r>
              <a:rPr lang="en-US" sz="1200" b="1" dirty="0">
                <a:solidFill>
                  <a:srgbClr val="60A5FA"/>
                </a:solidFill>
              </a:rPr>
              <a:t> </a:t>
            </a:r>
            <a:r>
              <a:rPr lang="en-US" sz="1200" b="1" dirty="0" err="1">
                <a:solidFill>
                  <a:srgbClr val="60A5FA"/>
                </a:solidFill>
              </a:rPr>
              <a:t>추종</a:t>
            </a:r>
            <a:r>
              <a:rPr lang="en-US" sz="1200" dirty="0" err="1">
                <a:solidFill>
                  <a:srgbClr val="94A3B8"/>
                </a:solidFill>
              </a:rPr>
              <a:t>초기</a:t>
            </a:r>
            <a:r>
              <a:rPr lang="en-US" sz="1200" dirty="0">
                <a:solidFill>
                  <a:srgbClr val="94A3B8"/>
                </a:solidFill>
              </a:rPr>
              <a:t> 3초 </a:t>
            </a:r>
            <a:r>
              <a:rPr lang="en-US" sz="1200" dirty="0" err="1">
                <a:solidFill>
                  <a:srgbClr val="94A3B8"/>
                </a:solidFill>
              </a:rPr>
              <a:t>대기</a:t>
            </a:r>
            <a:r>
              <a:rPr lang="en-US" sz="1200" dirty="0">
                <a:solidFill>
                  <a:srgbClr val="94A3B8"/>
                </a:solidFill>
              </a:rPr>
              <a:t> 후 </a:t>
            </a:r>
            <a:r>
              <a:rPr lang="en-US" sz="1200" dirty="0" err="1">
                <a:solidFill>
                  <a:srgbClr val="94A3B8"/>
                </a:solidFill>
              </a:rPr>
              <a:t>타겟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데이터를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확보하고</a:t>
            </a:r>
            <a:r>
              <a:rPr lang="en-US" sz="1200" dirty="0">
                <a:solidFill>
                  <a:srgbClr val="94A3B8"/>
                </a:solidFill>
              </a:rPr>
              <a:t>, 50cm의 </a:t>
            </a:r>
            <a:r>
              <a:rPr lang="en-US" sz="1200" dirty="0" err="1">
                <a:solidFill>
                  <a:srgbClr val="94A3B8"/>
                </a:solidFill>
              </a:rPr>
              <a:t>간격을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유지하며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부드럽게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추종합니다</a:t>
            </a:r>
            <a:r>
              <a:rPr lang="en-US" sz="1200" dirty="0">
                <a:solidFill>
                  <a:srgbClr val="94A3B8"/>
                </a:solidFill>
              </a:rPr>
              <a:t>.</a:t>
            </a:r>
            <a:endParaRPr sz="1800" dirty="0"/>
          </a:p>
        </p:txBody>
      </p:sp>
      <p:sp>
        <p:nvSpPr>
          <p:cNvPr id="96" name="Google Shape;96;p13"/>
          <p:cNvSpPr txBox="1"/>
          <p:nvPr/>
        </p:nvSpPr>
        <p:spPr>
          <a:xfrm>
            <a:off x="914400" y="4369411"/>
            <a:ext cx="2806749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200" b="1" dirty="0">
                <a:solidFill>
                  <a:srgbClr val="60A5FA"/>
                </a:solidFill>
              </a:rPr>
              <a:t>LiDAR </a:t>
            </a:r>
            <a:r>
              <a:rPr lang="en-US" sz="1200" b="1" dirty="0" err="1">
                <a:solidFill>
                  <a:srgbClr val="60A5FA"/>
                </a:solidFill>
              </a:rPr>
              <a:t>긴급</a:t>
            </a:r>
            <a:r>
              <a:rPr lang="en-US" sz="1200" b="1" dirty="0">
                <a:solidFill>
                  <a:srgbClr val="60A5FA"/>
                </a:solidFill>
              </a:rPr>
              <a:t> </a:t>
            </a:r>
            <a:r>
              <a:rPr lang="en-US" sz="1200" b="1" dirty="0" err="1">
                <a:solidFill>
                  <a:srgbClr val="60A5FA"/>
                </a:solidFill>
              </a:rPr>
              <a:t>회피</a:t>
            </a:r>
            <a:r>
              <a:rPr lang="en-US" sz="1200" dirty="0" err="1">
                <a:solidFill>
                  <a:srgbClr val="94A3B8"/>
                </a:solidFill>
              </a:rPr>
              <a:t>전방</a:t>
            </a:r>
            <a:r>
              <a:rPr lang="en-US" sz="1200" dirty="0">
                <a:solidFill>
                  <a:srgbClr val="94A3B8"/>
                </a:solidFill>
              </a:rPr>
              <a:t> 35cm </a:t>
            </a:r>
            <a:r>
              <a:rPr lang="en-US" sz="1200" dirty="0" err="1">
                <a:solidFill>
                  <a:srgbClr val="94A3B8"/>
                </a:solidFill>
              </a:rPr>
              <a:t>이내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장애물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감지</a:t>
            </a:r>
            <a:r>
              <a:rPr lang="en-US" sz="1200" dirty="0">
                <a:solidFill>
                  <a:srgbClr val="94A3B8"/>
                </a:solidFill>
              </a:rPr>
              <a:t> 시 </a:t>
            </a:r>
            <a:r>
              <a:rPr lang="en-US" sz="1200" dirty="0" err="1">
                <a:solidFill>
                  <a:srgbClr val="94A3B8"/>
                </a:solidFill>
              </a:rPr>
              <a:t>즉각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추종을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멈추고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좌우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공간을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계산하여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회피합니다</a:t>
            </a:r>
            <a:r>
              <a:rPr lang="en-US" sz="1200" dirty="0">
                <a:solidFill>
                  <a:srgbClr val="94A3B8"/>
                </a:solidFill>
              </a:rPr>
              <a:t>.</a:t>
            </a:r>
            <a:endParaRPr sz="1800" dirty="0"/>
          </a:p>
        </p:txBody>
      </p:sp>
      <p:sp>
        <p:nvSpPr>
          <p:cNvPr id="97" name="Google Shape;97;p13"/>
          <p:cNvSpPr txBox="1"/>
          <p:nvPr/>
        </p:nvSpPr>
        <p:spPr>
          <a:xfrm>
            <a:off x="914399" y="5652337"/>
            <a:ext cx="2806749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200" b="1" dirty="0">
                <a:solidFill>
                  <a:srgbClr val="60A5FA"/>
                </a:solidFill>
              </a:rPr>
              <a:t>Watchdog </a:t>
            </a:r>
            <a:r>
              <a:rPr lang="en-US" sz="1200" b="1" dirty="0" err="1">
                <a:solidFill>
                  <a:srgbClr val="60A5FA"/>
                </a:solidFill>
              </a:rPr>
              <a:t>복구</a:t>
            </a:r>
            <a:r>
              <a:rPr lang="en-US" sz="1200" dirty="0" err="1">
                <a:solidFill>
                  <a:srgbClr val="94A3B8"/>
                </a:solidFill>
              </a:rPr>
              <a:t>타겟이</a:t>
            </a:r>
            <a:r>
              <a:rPr lang="en-US" sz="1200" dirty="0">
                <a:solidFill>
                  <a:srgbClr val="94A3B8"/>
                </a:solidFill>
              </a:rPr>
              <a:t> 3초 </a:t>
            </a:r>
            <a:r>
              <a:rPr lang="en-US" sz="1200" dirty="0" err="1">
                <a:solidFill>
                  <a:srgbClr val="94A3B8"/>
                </a:solidFill>
              </a:rPr>
              <a:t>이상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유실될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경우</a:t>
            </a:r>
            <a:r>
              <a:rPr lang="en-US" sz="1200" dirty="0">
                <a:solidFill>
                  <a:srgbClr val="94A3B8"/>
                </a:solidFill>
              </a:rPr>
              <a:t>, </a:t>
            </a:r>
            <a:r>
              <a:rPr lang="en-US" sz="1200" dirty="0" err="1">
                <a:solidFill>
                  <a:srgbClr val="94A3B8"/>
                </a:solidFill>
              </a:rPr>
              <a:t>마지막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방향을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기억하고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해당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방향으로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무한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탐색을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시작합니다</a:t>
            </a:r>
            <a:r>
              <a:rPr lang="en-US" sz="1200" dirty="0">
                <a:solidFill>
                  <a:srgbClr val="94A3B8"/>
                </a:solidFill>
              </a:rPr>
              <a:t>.</a:t>
            </a:r>
            <a:endParaRPr sz="1800" dirty="0"/>
          </a:p>
        </p:txBody>
      </p:sp>
      <p:pic>
        <p:nvPicPr>
          <p:cNvPr id="98" name="Google Shape;98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692699" y="1885952"/>
            <a:ext cx="419100" cy="3667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4692700" y="3200400"/>
            <a:ext cx="2806749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200" b="1" dirty="0" err="1">
                <a:solidFill>
                  <a:srgbClr val="34D399"/>
                </a:solidFill>
              </a:rPr>
              <a:t>자세</a:t>
            </a:r>
            <a:r>
              <a:rPr lang="en-US" sz="1200" b="1" dirty="0">
                <a:solidFill>
                  <a:srgbClr val="34D399"/>
                </a:solidFill>
              </a:rPr>
              <a:t> </a:t>
            </a:r>
            <a:r>
              <a:rPr lang="en-US" sz="1200" b="1" dirty="0" err="1">
                <a:solidFill>
                  <a:srgbClr val="34D399"/>
                </a:solidFill>
              </a:rPr>
              <a:t>정렬</a:t>
            </a:r>
            <a:r>
              <a:rPr lang="en-US" sz="1200" b="1" dirty="0">
                <a:solidFill>
                  <a:srgbClr val="34D399"/>
                </a:solidFill>
              </a:rPr>
              <a:t> &amp; </a:t>
            </a:r>
            <a:r>
              <a:rPr lang="en-US" sz="1200" b="1" dirty="0" err="1">
                <a:solidFill>
                  <a:srgbClr val="34D399"/>
                </a:solidFill>
              </a:rPr>
              <a:t>안정화</a:t>
            </a:r>
            <a:r>
              <a:rPr lang="en-US" sz="1200" dirty="0" err="1">
                <a:solidFill>
                  <a:srgbClr val="94A3B8"/>
                </a:solidFill>
              </a:rPr>
              <a:t>AMCL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기반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정렬</a:t>
            </a:r>
            <a:r>
              <a:rPr lang="en-US" sz="1200" dirty="0">
                <a:solidFill>
                  <a:srgbClr val="94A3B8"/>
                </a:solidFill>
              </a:rPr>
              <a:t> 후, </a:t>
            </a:r>
            <a:r>
              <a:rPr lang="en-US" sz="1200" dirty="0" err="1">
                <a:solidFill>
                  <a:srgbClr val="94A3B8"/>
                </a:solidFill>
              </a:rPr>
              <a:t>관성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출렁임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방지를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위해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기체를</a:t>
            </a:r>
            <a:r>
              <a:rPr lang="en-US" sz="1200" dirty="0">
                <a:solidFill>
                  <a:srgbClr val="94A3B8"/>
                </a:solidFill>
              </a:rPr>
              <a:t> 1.5초간 </a:t>
            </a:r>
            <a:r>
              <a:rPr lang="en-US" sz="1200" dirty="0" err="1">
                <a:solidFill>
                  <a:srgbClr val="94A3B8"/>
                </a:solidFill>
              </a:rPr>
              <a:t>완벽히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정지시킵니다</a:t>
            </a:r>
            <a:r>
              <a:rPr lang="en-US" sz="1200" dirty="0">
                <a:solidFill>
                  <a:srgbClr val="94A3B8"/>
                </a:solidFill>
              </a:rPr>
              <a:t>.</a:t>
            </a:r>
            <a:endParaRPr sz="1800" dirty="0"/>
          </a:p>
        </p:txBody>
      </p:sp>
      <p:sp>
        <p:nvSpPr>
          <p:cNvPr id="100" name="Google Shape;100;p13"/>
          <p:cNvSpPr txBox="1"/>
          <p:nvPr/>
        </p:nvSpPr>
        <p:spPr>
          <a:xfrm>
            <a:off x="4750000" y="4401311"/>
            <a:ext cx="2806749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200" b="1" dirty="0" err="1">
                <a:solidFill>
                  <a:srgbClr val="34D399"/>
                </a:solidFill>
              </a:rPr>
              <a:t>시야</a:t>
            </a:r>
            <a:r>
              <a:rPr lang="en-US" sz="1200" b="1" dirty="0">
                <a:solidFill>
                  <a:srgbClr val="34D399"/>
                </a:solidFill>
              </a:rPr>
              <a:t> </a:t>
            </a:r>
            <a:r>
              <a:rPr lang="en-US" sz="1200" b="1" dirty="0" err="1">
                <a:solidFill>
                  <a:srgbClr val="34D399"/>
                </a:solidFill>
              </a:rPr>
              <a:t>탐색</a:t>
            </a:r>
            <a:r>
              <a:rPr lang="en-US" sz="1200" b="1" dirty="0">
                <a:solidFill>
                  <a:srgbClr val="34D399"/>
                </a:solidFill>
              </a:rPr>
              <a:t> &amp; </a:t>
            </a:r>
            <a:r>
              <a:rPr lang="en-US" sz="1200" b="1" dirty="0" err="1">
                <a:solidFill>
                  <a:srgbClr val="34D399"/>
                </a:solidFill>
              </a:rPr>
              <a:t>중앙</a:t>
            </a:r>
            <a:r>
              <a:rPr lang="en-US" sz="1200" b="1" dirty="0">
                <a:solidFill>
                  <a:srgbClr val="34D399"/>
                </a:solidFill>
              </a:rPr>
              <a:t> </a:t>
            </a:r>
            <a:r>
              <a:rPr lang="en-US" sz="1200" b="1" dirty="0" err="1">
                <a:solidFill>
                  <a:srgbClr val="34D399"/>
                </a:solidFill>
              </a:rPr>
              <a:t>정렬</a:t>
            </a:r>
            <a:r>
              <a:rPr lang="en-US" sz="1200" dirty="0" err="1">
                <a:solidFill>
                  <a:srgbClr val="94A3B8"/>
                </a:solidFill>
              </a:rPr>
              <a:t>최초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회전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방향을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메모리에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기록하여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게걸음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탐색으로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오차</a:t>
            </a:r>
            <a:r>
              <a:rPr lang="en-US" sz="1200" dirty="0">
                <a:solidFill>
                  <a:srgbClr val="94A3B8"/>
                </a:solidFill>
              </a:rPr>
              <a:t> 8cm </a:t>
            </a:r>
            <a:r>
              <a:rPr lang="en-US" sz="1200" dirty="0" err="1">
                <a:solidFill>
                  <a:srgbClr val="94A3B8"/>
                </a:solidFill>
              </a:rPr>
              <a:t>이내로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조향합니다</a:t>
            </a:r>
            <a:r>
              <a:rPr lang="en-US" sz="1200" dirty="0">
                <a:solidFill>
                  <a:srgbClr val="94A3B8"/>
                </a:solidFill>
              </a:rPr>
              <a:t>.</a:t>
            </a:r>
            <a:endParaRPr sz="1800" dirty="0"/>
          </a:p>
        </p:txBody>
      </p:sp>
      <p:sp>
        <p:nvSpPr>
          <p:cNvPr id="101" name="Google Shape;101;p13"/>
          <p:cNvSpPr txBox="1"/>
          <p:nvPr/>
        </p:nvSpPr>
        <p:spPr>
          <a:xfrm>
            <a:off x="4754880" y="5677061"/>
            <a:ext cx="2806749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200" b="1" dirty="0" err="1">
                <a:solidFill>
                  <a:srgbClr val="34D399"/>
                </a:solidFill>
              </a:rPr>
              <a:t>최종</a:t>
            </a:r>
            <a:r>
              <a:rPr lang="en-US" sz="1200" b="1" dirty="0">
                <a:solidFill>
                  <a:srgbClr val="34D399"/>
                </a:solidFill>
              </a:rPr>
              <a:t> </a:t>
            </a:r>
            <a:r>
              <a:rPr lang="en-US" sz="1200" b="1" dirty="0" err="1">
                <a:solidFill>
                  <a:srgbClr val="34D399"/>
                </a:solidFill>
              </a:rPr>
              <a:t>밀착</a:t>
            </a:r>
            <a:r>
              <a:rPr lang="en-US" sz="1200" dirty="0" err="1">
                <a:solidFill>
                  <a:srgbClr val="94A3B8"/>
                </a:solidFill>
              </a:rPr>
              <a:t>비전으로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Y축을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정밀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보정하고</a:t>
            </a:r>
            <a:r>
              <a:rPr lang="en-US" sz="1200" dirty="0">
                <a:solidFill>
                  <a:srgbClr val="94A3B8"/>
                </a:solidFill>
              </a:rPr>
              <a:t>, </a:t>
            </a:r>
            <a:r>
              <a:rPr lang="en-US" sz="1200" dirty="0" err="1">
                <a:solidFill>
                  <a:srgbClr val="94A3B8"/>
                </a:solidFill>
              </a:rPr>
              <a:t>라이다를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활용해</a:t>
            </a:r>
            <a:r>
              <a:rPr lang="en-US" sz="1200" dirty="0">
                <a:solidFill>
                  <a:srgbClr val="94A3B8"/>
                </a:solidFill>
              </a:rPr>
              <a:t> 22cm까지 </a:t>
            </a:r>
            <a:r>
              <a:rPr lang="en-US" sz="1200" dirty="0" err="1">
                <a:solidFill>
                  <a:srgbClr val="94A3B8"/>
                </a:solidFill>
              </a:rPr>
              <a:t>전진하여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완벽한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도킹을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완료합니다</a:t>
            </a:r>
            <a:r>
              <a:rPr lang="en-US" sz="1200" dirty="0">
                <a:solidFill>
                  <a:srgbClr val="94A3B8"/>
                </a:solidFill>
              </a:rPr>
              <a:t>.</a:t>
            </a:r>
            <a:endParaRPr sz="1800" dirty="0"/>
          </a:p>
        </p:txBody>
      </p:sp>
      <p:pic>
        <p:nvPicPr>
          <p:cNvPr id="102" name="Google Shape;102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470999" y="1885952"/>
            <a:ext cx="419100" cy="3667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3"/>
          <p:cNvSpPr txBox="1"/>
          <p:nvPr/>
        </p:nvSpPr>
        <p:spPr>
          <a:xfrm>
            <a:off x="8471000" y="3200400"/>
            <a:ext cx="2806749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200" b="1" dirty="0">
                <a:solidFill>
                  <a:srgbClr val="A78BFA"/>
                </a:solidFill>
              </a:rPr>
              <a:t>Sensor </a:t>
            </a:r>
            <a:r>
              <a:rPr lang="en-US" sz="1200" b="1" dirty="0" err="1">
                <a:solidFill>
                  <a:srgbClr val="A78BFA"/>
                </a:solidFill>
              </a:rPr>
              <a:t>Fusion</a:t>
            </a:r>
            <a:r>
              <a:rPr lang="en-US" sz="1200" dirty="0" err="1">
                <a:solidFill>
                  <a:srgbClr val="94A3B8"/>
                </a:solidFill>
              </a:rPr>
              <a:t>비전</a:t>
            </a:r>
            <a:r>
              <a:rPr lang="en-US" sz="1200" dirty="0">
                <a:solidFill>
                  <a:srgbClr val="94A3B8"/>
                </a:solidFill>
              </a:rPr>
              <a:t>(</a:t>
            </a:r>
            <a:r>
              <a:rPr lang="en-US" sz="1200" dirty="0" err="1">
                <a:solidFill>
                  <a:srgbClr val="94A3B8"/>
                </a:solidFill>
              </a:rPr>
              <a:t>방향</a:t>
            </a:r>
            <a:r>
              <a:rPr lang="en-US" sz="1200" dirty="0">
                <a:solidFill>
                  <a:srgbClr val="94A3B8"/>
                </a:solidFill>
              </a:rPr>
              <a:t>/</a:t>
            </a:r>
            <a:r>
              <a:rPr lang="en-US" sz="1200" dirty="0" err="1">
                <a:solidFill>
                  <a:srgbClr val="94A3B8"/>
                </a:solidFill>
              </a:rPr>
              <a:t>좌표</a:t>
            </a:r>
            <a:r>
              <a:rPr lang="en-US" sz="1200" dirty="0">
                <a:solidFill>
                  <a:srgbClr val="94A3B8"/>
                </a:solidFill>
              </a:rPr>
              <a:t>)과 LiDAR(</a:t>
            </a:r>
            <a:r>
              <a:rPr lang="en-US" sz="1200" dirty="0" err="1">
                <a:solidFill>
                  <a:srgbClr val="94A3B8"/>
                </a:solidFill>
              </a:rPr>
              <a:t>거리</a:t>
            </a:r>
            <a:r>
              <a:rPr lang="en-US" sz="1200" dirty="0">
                <a:solidFill>
                  <a:srgbClr val="94A3B8"/>
                </a:solidFill>
              </a:rPr>
              <a:t>/</a:t>
            </a:r>
            <a:r>
              <a:rPr lang="en-US" sz="1200" dirty="0" err="1">
                <a:solidFill>
                  <a:srgbClr val="94A3B8"/>
                </a:solidFill>
              </a:rPr>
              <a:t>장애물</a:t>
            </a:r>
            <a:r>
              <a:rPr lang="en-US" sz="1200" dirty="0">
                <a:solidFill>
                  <a:srgbClr val="94A3B8"/>
                </a:solidFill>
              </a:rPr>
              <a:t>)의 </a:t>
            </a:r>
            <a:r>
              <a:rPr lang="en-US" sz="1200" dirty="0" err="1">
                <a:solidFill>
                  <a:srgbClr val="94A3B8"/>
                </a:solidFill>
              </a:rPr>
              <a:t>장점을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결합하여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동적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환경에서의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생존력을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확보합니다</a:t>
            </a:r>
            <a:r>
              <a:rPr lang="en-US" sz="1200" dirty="0">
                <a:solidFill>
                  <a:srgbClr val="94A3B8"/>
                </a:solidFill>
              </a:rPr>
              <a:t>.</a:t>
            </a:r>
            <a:endParaRPr sz="1800" dirty="0"/>
          </a:p>
        </p:txBody>
      </p:sp>
      <p:sp>
        <p:nvSpPr>
          <p:cNvPr id="104" name="Google Shape;104;p13"/>
          <p:cNvSpPr txBox="1"/>
          <p:nvPr/>
        </p:nvSpPr>
        <p:spPr>
          <a:xfrm>
            <a:off x="8471000" y="4401311"/>
            <a:ext cx="2806749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200" b="1" dirty="0" err="1">
                <a:solidFill>
                  <a:srgbClr val="A78BFA"/>
                </a:solidFill>
              </a:rPr>
              <a:t>노이즈</a:t>
            </a:r>
            <a:r>
              <a:rPr lang="en-US" sz="1200" b="1" dirty="0">
                <a:solidFill>
                  <a:srgbClr val="A78BFA"/>
                </a:solidFill>
              </a:rPr>
              <a:t> </a:t>
            </a:r>
            <a:r>
              <a:rPr lang="en-US" sz="1200" b="1" dirty="0" err="1">
                <a:solidFill>
                  <a:srgbClr val="A78BFA"/>
                </a:solidFill>
              </a:rPr>
              <a:t>필터링</a:t>
            </a:r>
            <a:r>
              <a:rPr lang="en-US" sz="1200" dirty="0" err="1">
                <a:solidFill>
                  <a:srgbClr val="94A3B8"/>
                </a:solidFill>
              </a:rPr>
              <a:t>Deadband로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가짜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데이터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급발진을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막고</a:t>
            </a:r>
            <a:r>
              <a:rPr lang="en-US" sz="1200" dirty="0">
                <a:solidFill>
                  <a:srgbClr val="94A3B8"/>
                </a:solidFill>
              </a:rPr>
              <a:t>, Watchdog </a:t>
            </a:r>
            <a:r>
              <a:rPr lang="en-US" sz="1200" dirty="0" err="1">
                <a:solidFill>
                  <a:srgbClr val="94A3B8"/>
                </a:solidFill>
              </a:rPr>
              <a:t>타이머로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통신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단절</a:t>
            </a:r>
            <a:r>
              <a:rPr lang="en-US" sz="1200" dirty="0">
                <a:solidFill>
                  <a:srgbClr val="94A3B8"/>
                </a:solidFill>
              </a:rPr>
              <a:t> 시 </a:t>
            </a:r>
            <a:r>
              <a:rPr lang="en-US" sz="1200" dirty="0" err="1">
                <a:solidFill>
                  <a:srgbClr val="94A3B8"/>
                </a:solidFill>
              </a:rPr>
              <a:t>자율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판단을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구현합니다</a:t>
            </a:r>
            <a:r>
              <a:rPr lang="en-US" sz="1200" dirty="0">
                <a:solidFill>
                  <a:srgbClr val="94A3B8"/>
                </a:solidFill>
              </a:rPr>
              <a:t>.</a:t>
            </a:r>
            <a:endParaRPr sz="1800" dirty="0"/>
          </a:p>
        </p:txBody>
      </p:sp>
      <p:sp>
        <p:nvSpPr>
          <p:cNvPr id="105" name="Google Shape;105;p13"/>
          <p:cNvSpPr txBox="1"/>
          <p:nvPr/>
        </p:nvSpPr>
        <p:spPr>
          <a:xfrm>
            <a:off x="8471000" y="5697517"/>
            <a:ext cx="2806749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200" b="1" dirty="0" err="1">
                <a:solidFill>
                  <a:srgbClr val="A78BFA"/>
                </a:solidFill>
              </a:rPr>
              <a:t>순차</a:t>
            </a:r>
            <a:r>
              <a:rPr lang="en-US" sz="1200" b="1" dirty="0">
                <a:solidFill>
                  <a:srgbClr val="A78BFA"/>
                </a:solidFill>
              </a:rPr>
              <a:t> </a:t>
            </a:r>
            <a:r>
              <a:rPr lang="en-US" sz="1200" b="1" dirty="0" err="1">
                <a:solidFill>
                  <a:srgbClr val="A78BFA"/>
                </a:solidFill>
              </a:rPr>
              <a:t>제어</a:t>
            </a:r>
            <a:r>
              <a:rPr lang="en-US" sz="1200" b="1" dirty="0">
                <a:solidFill>
                  <a:srgbClr val="A78BFA"/>
                </a:solidFill>
              </a:rPr>
              <a:t> (Sequential)</a:t>
            </a:r>
            <a:r>
              <a:rPr lang="en-US" sz="1200" dirty="0" err="1">
                <a:solidFill>
                  <a:srgbClr val="94A3B8"/>
                </a:solidFill>
              </a:rPr>
              <a:t>대각선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기동</a:t>
            </a:r>
            <a:r>
              <a:rPr lang="en-US" sz="1200" dirty="0">
                <a:solidFill>
                  <a:srgbClr val="94A3B8"/>
                </a:solidFill>
              </a:rPr>
              <a:t> 시 </a:t>
            </a:r>
            <a:r>
              <a:rPr lang="en-US" sz="1200" dirty="0" err="1">
                <a:solidFill>
                  <a:srgbClr val="94A3B8"/>
                </a:solidFill>
              </a:rPr>
              <a:t>모터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헛돔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현상을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막기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위해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회전과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직진을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분리하여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힘을</a:t>
            </a:r>
            <a:r>
              <a:rPr lang="en-US" sz="1200" dirty="0">
                <a:solidFill>
                  <a:srgbClr val="94A3B8"/>
                </a:solidFill>
              </a:rPr>
              <a:t> 100% </a:t>
            </a:r>
            <a:r>
              <a:rPr lang="en-US" sz="1200" dirty="0" err="1">
                <a:solidFill>
                  <a:srgbClr val="94A3B8"/>
                </a:solidFill>
              </a:rPr>
              <a:t>집중시킵니다</a:t>
            </a:r>
            <a:r>
              <a:rPr lang="en-US" sz="1200" dirty="0">
                <a:solidFill>
                  <a:srgbClr val="94A3B8"/>
                </a:solidFill>
              </a:rPr>
              <a:t>.</a:t>
            </a:r>
            <a:endParaRPr sz="1800" dirty="0"/>
          </a:p>
        </p:txBody>
      </p:sp>
      <p:sp>
        <p:nvSpPr>
          <p:cNvPr id="24" name="Shape 3"/>
          <p:cNvSpPr/>
          <p:nvPr/>
        </p:nvSpPr>
        <p:spPr>
          <a:xfrm>
            <a:off x="0" y="0"/>
            <a:ext cx="60960" cy="68580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5" name="Shape 1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26" name="Shape 4"/>
          <p:cNvSpPr/>
          <p:nvPr/>
        </p:nvSpPr>
        <p:spPr>
          <a:xfrm>
            <a:off x="182880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7" name="Shape 10"/>
          <p:cNvSpPr/>
          <p:nvPr/>
        </p:nvSpPr>
        <p:spPr>
          <a:xfrm>
            <a:off x="329184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8" name="Shape 16"/>
          <p:cNvSpPr/>
          <p:nvPr/>
        </p:nvSpPr>
        <p:spPr>
          <a:xfrm>
            <a:off x="475488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9" name="Shape 22"/>
          <p:cNvSpPr/>
          <p:nvPr/>
        </p:nvSpPr>
        <p:spPr>
          <a:xfrm>
            <a:off x="621792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0" name="Shape 28"/>
          <p:cNvSpPr/>
          <p:nvPr/>
        </p:nvSpPr>
        <p:spPr>
          <a:xfrm>
            <a:off x="768096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1" name="Shape 34"/>
          <p:cNvSpPr/>
          <p:nvPr/>
        </p:nvSpPr>
        <p:spPr>
          <a:xfrm>
            <a:off x="914400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2" name="Shape 40"/>
          <p:cNvSpPr/>
          <p:nvPr/>
        </p:nvSpPr>
        <p:spPr>
          <a:xfrm>
            <a:off x="1060704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3" name="Shape 46"/>
          <p:cNvSpPr/>
          <p:nvPr/>
        </p:nvSpPr>
        <p:spPr>
          <a:xfrm>
            <a:off x="12070080" y="609600"/>
            <a:ext cx="36576" cy="3657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4" name="Shape 52"/>
          <p:cNvSpPr/>
          <p:nvPr/>
        </p:nvSpPr>
        <p:spPr>
          <a:xfrm>
            <a:off x="375920" y="365760"/>
            <a:ext cx="11460480" cy="975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53"/>
          <p:cNvSpPr/>
          <p:nvPr/>
        </p:nvSpPr>
        <p:spPr>
          <a:xfrm>
            <a:off x="365760" y="365760"/>
            <a:ext cx="85344" cy="97536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6" name="Text 54"/>
          <p:cNvSpPr/>
          <p:nvPr/>
        </p:nvSpPr>
        <p:spPr>
          <a:xfrm>
            <a:off x="670560" y="390144"/>
            <a:ext cx="1036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00C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3 — 콘텐츠</a:t>
            </a:r>
            <a:endParaRPr lang="en-US" sz="1067" dirty="0"/>
          </a:p>
        </p:txBody>
      </p:sp>
      <p:sp>
        <p:nvSpPr>
          <p:cNvPr id="37" name="Text 55"/>
          <p:cNvSpPr/>
          <p:nvPr/>
        </p:nvSpPr>
        <p:spPr>
          <a:xfrm>
            <a:off x="670560" y="694944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667" dirty="0"/>
          </a:p>
        </p:txBody>
      </p:sp>
      <p:sp>
        <p:nvSpPr>
          <p:cNvPr id="39" name="Text 55"/>
          <p:cNvSpPr/>
          <p:nvPr/>
        </p:nvSpPr>
        <p:spPr>
          <a:xfrm>
            <a:off x="638271" y="684276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lang="ko-KR" altLang="en-US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ＡＧＶ　픽업　모드　파이프라인</a:t>
            </a:r>
            <a:r>
              <a:rPr lang="en-US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  <a:endParaRPr lang="en-US" sz="2667" dirty="0"/>
          </a:p>
        </p:txBody>
      </p:sp>
      <p:sp>
        <p:nvSpPr>
          <p:cNvPr id="40" name="Shape 2"/>
          <p:cNvSpPr/>
          <p:nvPr/>
        </p:nvSpPr>
        <p:spPr>
          <a:xfrm>
            <a:off x="0" y="6809232"/>
            <a:ext cx="12192000" cy="48768"/>
          </a:xfrm>
          <a:prstGeom prst="rect">
            <a:avLst/>
          </a:prstGeom>
          <a:solidFill>
            <a:srgbClr val="0066CC"/>
          </a:solidFill>
          <a:ln/>
        </p:spPr>
      </p:sp>
    </p:spTree>
    <p:extLst>
      <p:ext uri="{BB962C8B-B14F-4D97-AF65-F5344CB8AC3E}">
        <p14:creationId xmlns:p14="http://schemas.microsoft.com/office/powerpoint/2010/main" val="2486246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194</Words>
  <Application>Microsoft Office PowerPoint</Application>
  <PresentationFormat>와이드스크린</PresentationFormat>
  <Paragraphs>15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Malgun Gothic</vt:lpstr>
      <vt:lpstr>Arial</vt:lpstr>
      <vt:lpstr>Calibri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user</cp:lastModifiedBy>
  <cp:revision>2</cp:revision>
  <dcterms:modified xsi:type="dcterms:W3CDTF">2026-07-10T04:51:39Z</dcterms:modified>
</cp:coreProperties>
</file>