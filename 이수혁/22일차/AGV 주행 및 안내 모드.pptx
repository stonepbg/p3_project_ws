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234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11.png"/><Relationship Id="rId18" Type="http://schemas.openxmlformats.org/officeDocument/2006/relationships/image" Target="../media/image33.png"/><Relationship Id="rId26" Type="http://schemas.openxmlformats.org/officeDocument/2006/relationships/image" Target="../media/image41.png"/><Relationship Id="rId3" Type="http://schemas.openxmlformats.org/officeDocument/2006/relationships/image" Target="../media/image1.png"/><Relationship Id="rId21" Type="http://schemas.openxmlformats.org/officeDocument/2006/relationships/image" Target="../media/image36.png"/><Relationship Id="rId7" Type="http://schemas.openxmlformats.org/officeDocument/2006/relationships/image" Target="../media/image26.png"/><Relationship Id="rId12" Type="http://schemas.openxmlformats.org/officeDocument/2006/relationships/image" Target="../media/image10.png"/><Relationship Id="rId17" Type="http://schemas.openxmlformats.org/officeDocument/2006/relationships/image" Target="../media/image32.png"/><Relationship Id="rId25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1.png"/><Relationship Id="rId20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9.png"/><Relationship Id="rId24" Type="http://schemas.openxmlformats.org/officeDocument/2006/relationships/image" Target="../media/image39.png"/><Relationship Id="rId5" Type="http://schemas.openxmlformats.org/officeDocument/2006/relationships/image" Target="../media/image24.png"/><Relationship Id="rId15" Type="http://schemas.openxmlformats.org/officeDocument/2006/relationships/image" Target="../media/image30.png"/><Relationship Id="rId23" Type="http://schemas.openxmlformats.org/officeDocument/2006/relationships/image" Target="../media/image38.png"/><Relationship Id="rId10" Type="http://schemas.openxmlformats.org/officeDocument/2006/relationships/image" Target="../media/image8.png"/><Relationship Id="rId19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28.png"/><Relationship Id="rId14" Type="http://schemas.openxmlformats.org/officeDocument/2006/relationships/image" Target="../media/image29.png"/><Relationship Id="rId22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53250" y="762000"/>
            <a:ext cx="476250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6250" y="5800129"/>
            <a:ext cx="11239500" cy="759618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6250" y="1804987"/>
            <a:ext cx="2681287" cy="3804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328987" y="1804987"/>
            <a:ext cx="2681287" cy="3804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181725" y="1804987"/>
            <a:ext cx="2681287" cy="3804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034462" y="1804987"/>
            <a:ext cx="2681287" cy="3804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76275" y="2968823"/>
            <a:ext cx="2281237" cy="13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529012" y="2968823"/>
            <a:ext cx="2281237" cy="13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3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81750" y="2968823"/>
            <a:ext cx="2281237" cy="13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9234487" y="2959298"/>
            <a:ext cx="2281237" cy="13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3"/>
          <p:cNvSpPr txBox="1"/>
          <p:nvPr/>
        </p:nvSpPr>
        <p:spPr>
          <a:xfrm>
            <a:off x="476250" y="390525"/>
            <a:ext cx="284723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1" i="0" u="none" strike="noStrike" cap="none">
                <a:solidFill>
                  <a:srgbClr val="00C8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03 주행 알고리즘 · 안내 모드 (Mode 20~27)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476250" y="638175"/>
            <a:ext cx="117157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휴먼 어웨어(Human-Aware) 에스코트 주행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476250" y="1152525"/>
            <a:ext cx="11239500" cy="214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Nav2 자율주행 엔진 기반, 후방 사용자의 동행 여부를 파악하여 주행과 대기를 능동적으로 결정하는 지능형 안내 시스템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1143000" y="6012061"/>
            <a:ext cx="10277475" cy="407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4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자율주행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엔진이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한 번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출발하면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멈추기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힘든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단점을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해결하기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위해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시스템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요청이나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사람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유실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시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액션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self.cancel_current_goal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)를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강제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개입시켜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언제든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로봇을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즉각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제동할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수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있도록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설계했습니다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dirty="0"/>
          </a:p>
        </p:txBody>
      </p:sp>
      <p:pic>
        <p:nvPicPr>
          <p:cNvPr id="100" name="Google Shape;100;p13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04825" y="1856779"/>
            <a:ext cx="2662237" cy="447675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3"/>
          <p:cNvSpPr txBox="1"/>
          <p:nvPr/>
        </p:nvSpPr>
        <p:spPr>
          <a:xfrm>
            <a:off x="619244" y="2405062"/>
            <a:ext cx="2395299" cy="420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2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목적지 맵핑 및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경로 생성</a:t>
            </a:r>
            <a:endParaRPr/>
          </a:p>
        </p:txBody>
      </p:sp>
      <p:sp>
        <p:nvSpPr>
          <p:cNvPr id="102" name="Google Shape;102;p13"/>
          <p:cNvSpPr txBox="1"/>
          <p:nvPr/>
        </p:nvSpPr>
        <p:spPr>
          <a:xfrm>
            <a:off x="676275" y="4445198"/>
            <a:ext cx="2281237" cy="964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수신된 모드 번호(20~27)에 따라 데이터베이스에서 목표 마커의 절대 좌표(X, Y, Yaw)를 불러오고, Nav2 엔진에 경로 생성을 요청하여 출발합니다.</a:t>
            </a:r>
            <a:endParaRPr/>
          </a:p>
        </p:txBody>
      </p:sp>
      <p:pic>
        <p:nvPicPr>
          <p:cNvPr id="104" name="Google Shape;104;p13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3338512" y="1860797"/>
            <a:ext cx="2662237" cy="4476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/>
          <p:cNvSpPr txBox="1"/>
          <p:nvPr/>
        </p:nvSpPr>
        <p:spPr>
          <a:xfrm>
            <a:off x="3471981" y="2405062"/>
            <a:ext cx="2395299" cy="420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2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후방 추종자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실시간 감시</a:t>
            </a:r>
            <a:endParaRPr/>
          </a:p>
        </p:txBody>
      </p:sp>
      <p:sp>
        <p:nvSpPr>
          <p:cNvPr id="106" name="Google Shape;106;p13"/>
          <p:cNvSpPr txBox="1"/>
          <p:nvPr/>
        </p:nvSpPr>
        <p:spPr>
          <a:xfrm>
            <a:off x="3529012" y="4445198"/>
            <a:ext cx="2281237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주행하는 동안 로봇의 비전 및 FSM 노드로부터 후방 사람의 유무 상태(/rear_person) 데이터를 1초 단위로 지속 수신하며 모니터링합니다.</a:t>
            </a:r>
            <a:endParaRPr/>
          </a:p>
        </p:txBody>
      </p:sp>
      <p:pic>
        <p:nvPicPr>
          <p:cNvPr id="108" name="Google Shape;108;p13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6191250" y="1870416"/>
            <a:ext cx="2662237" cy="447675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3"/>
          <p:cNvSpPr txBox="1"/>
          <p:nvPr/>
        </p:nvSpPr>
        <p:spPr>
          <a:xfrm>
            <a:off x="6324719" y="2405062"/>
            <a:ext cx="2395299" cy="420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2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스마트 정지 및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주행 재개</a:t>
            </a:r>
            <a:endParaRPr/>
          </a:p>
        </p:txBody>
      </p:sp>
      <p:sp>
        <p:nvSpPr>
          <p:cNvPr id="110" name="Google Shape;110;p13"/>
          <p:cNvSpPr txBox="1"/>
          <p:nvPr/>
        </p:nvSpPr>
        <p:spPr>
          <a:xfrm>
            <a:off x="6381750" y="4445198"/>
            <a:ext cx="2281237" cy="964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사용자가 시야에서 사라지면 즉시 Nav2 경로를 취소하고 제자리에 멈춰 기다립니다. 사용자가 다시 다가오면 즉각 목적지를 향한 주행을 재개합니다.</a:t>
            </a:r>
            <a:endParaRPr/>
          </a:p>
        </p:txBody>
      </p:sp>
      <p:pic>
        <p:nvPicPr>
          <p:cNvPr id="112" name="Google Shape;112;p13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9053512" y="1870416"/>
            <a:ext cx="2662237" cy="43815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 txBox="1"/>
          <p:nvPr/>
        </p:nvSpPr>
        <p:spPr>
          <a:xfrm>
            <a:off x="9177456" y="2395537"/>
            <a:ext cx="2395299" cy="420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2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2중 직교 좌표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안전망 (LiDAR)</a:t>
            </a:r>
            <a:endParaRPr/>
          </a:p>
        </p:txBody>
      </p:sp>
      <p:sp>
        <p:nvSpPr>
          <p:cNvPr id="114" name="Google Shape;114;p13"/>
          <p:cNvSpPr txBox="1"/>
          <p:nvPr/>
        </p:nvSpPr>
        <p:spPr>
          <a:xfrm>
            <a:off x="9234487" y="4435673"/>
            <a:ext cx="2281237" cy="964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라이다 데이터를 직교 좌표(X, Y)로 변환해 전방 1.0m 이내 감지 시 부드럽게 우회하고, 25cm 이내 긴급 상황 시 장애물 반대 방향으로 즉각 후진 회피합니다.</a:t>
            </a:r>
            <a:endParaRPr/>
          </a:p>
        </p:txBody>
      </p:sp>
      <p:pic>
        <p:nvPicPr>
          <p:cNvPr id="115" name="Google Shape;115;p13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800100" y="6056114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3"/>
          <p:cNvSpPr txBox="1"/>
          <p:nvPr/>
        </p:nvSpPr>
        <p:spPr>
          <a:xfrm>
            <a:off x="1143000" y="5797897"/>
            <a:ext cx="294318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smtClean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Nav2 </a:t>
            </a:r>
            <a:r>
              <a:rPr lang="en-US" sz="1200" b="1" i="0" u="none" strike="noStrike" cap="none" dirty="0" err="1" smtClean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액션</a:t>
            </a:r>
            <a:r>
              <a:rPr lang="en-US" sz="1200" b="1" i="0" u="none" strike="noStrike" cap="none" dirty="0" smtClean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 smtClean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오버라이드</a:t>
            </a:r>
            <a:r>
              <a:rPr lang="en-US" sz="1200" b="1" i="0" u="none" strike="noStrike" cap="none" dirty="0" smtClean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(Action Override)</a:t>
            </a:r>
            <a:endParaRPr dirty="0"/>
          </a:p>
        </p:txBody>
      </p:sp>
      <p:pic>
        <p:nvPicPr>
          <p:cNvPr id="117" name="Google Shape;117;p13" descr="image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2786062" y="1957387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3" descr="image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685800" y="2978348"/>
            <a:ext cx="2262187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3" descr="image.png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5619750" y="1957387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3" descr="image.png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3538537" y="2978348"/>
            <a:ext cx="2262187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3" descr="image.png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8510587" y="1957387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3" descr="image.png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6391275" y="2978348"/>
            <a:ext cx="2262187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3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9244012" y="2968823"/>
            <a:ext cx="2262187" cy="1314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53250" y="762000"/>
            <a:ext cx="476250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6250" y="5800129"/>
            <a:ext cx="11239500" cy="7596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6250" y="1804987"/>
            <a:ext cx="2681287" cy="3804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328987" y="1804987"/>
            <a:ext cx="2681287" cy="3804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181725" y="1804987"/>
            <a:ext cx="2681287" cy="3804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034462" y="1804987"/>
            <a:ext cx="2681287" cy="3804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76275" y="2968823"/>
            <a:ext cx="2281237" cy="13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529012" y="2968823"/>
            <a:ext cx="2281237" cy="13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81750" y="2968823"/>
            <a:ext cx="2281237" cy="13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4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9234487" y="2968823"/>
            <a:ext cx="2281237" cy="13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4"/>
          <p:cNvSpPr txBox="1"/>
          <p:nvPr/>
        </p:nvSpPr>
        <p:spPr>
          <a:xfrm>
            <a:off x="476250" y="390525"/>
            <a:ext cx="284723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1" i="0" u="none" strike="noStrike" cap="none">
                <a:solidFill>
                  <a:srgbClr val="00FF88"/>
                </a:solidFill>
                <a:latin typeface="Malgun Gothic"/>
                <a:ea typeface="Malgun Gothic"/>
                <a:cs typeface="Malgun Gothic"/>
                <a:sym typeface="Malgun Gothic"/>
              </a:rPr>
              <a:t>04 주행 알고리즘 · 이동 모드 (Mode 30~37)</a:t>
            </a:r>
            <a:endParaRPr/>
          </a:p>
        </p:txBody>
      </p:sp>
      <p:sp>
        <p:nvSpPr>
          <p:cNvPr id="141" name="Google Shape;141;p14"/>
          <p:cNvSpPr txBox="1"/>
          <p:nvPr/>
        </p:nvSpPr>
        <p:spPr>
          <a:xfrm>
            <a:off x="476250" y="638175"/>
            <a:ext cx="117157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논스톱 단독 이동 및 반전 정렬 도킹</a:t>
            </a:r>
            <a:endParaRPr/>
          </a:p>
        </p:txBody>
      </p:sp>
      <p:sp>
        <p:nvSpPr>
          <p:cNvPr id="142" name="Google Shape;142;p14"/>
          <p:cNvSpPr txBox="1"/>
          <p:nvPr/>
        </p:nvSpPr>
        <p:spPr>
          <a:xfrm>
            <a:off x="476250" y="1152525"/>
            <a:ext cx="11239500" cy="214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안내 모드와 동일한 엔진을 사용하나, 간섭 없이 최단 경로로 주행하며 도착 시 즉각적인 다음 작업을 위해 180도 역방향 도킹 수행</a:t>
            </a:r>
            <a:endParaRPr/>
          </a:p>
        </p:txBody>
      </p:sp>
      <p:sp>
        <p:nvSpPr>
          <p:cNvPr id="143" name="Google Shape;143;p14"/>
          <p:cNvSpPr txBox="1"/>
          <p:nvPr/>
        </p:nvSpPr>
        <p:spPr>
          <a:xfrm>
            <a:off x="1151897" y="6012061"/>
            <a:ext cx="10248900" cy="407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4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동일한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주행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노드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(nav2_commander.py)를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재사용하지만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조건문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(if 20 &lt;= mode &lt;= 27)을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통해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이벤트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구독과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콜백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로직을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완벽히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분리했습니다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코드는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간결하게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유지하면서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안내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모드와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주행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모드의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100%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다른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주행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특성을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87" b="0" i="0" u="none" strike="noStrike" cap="none" dirty="0" err="1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구현했습니다</a:t>
            </a:r>
            <a:r>
              <a:rPr lang="en-US" sz="1087" b="0" i="0" u="none" strike="noStrike" cap="none" dirty="0">
                <a:solidFill>
                  <a:srgbClr val="B0BEC5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dirty="0"/>
          </a:p>
        </p:txBody>
      </p:sp>
      <p:pic>
        <p:nvPicPr>
          <p:cNvPr id="145" name="Google Shape;145;p14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485776" y="1854100"/>
            <a:ext cx="2662237" cy="447675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4"/>
          <p:cNvSpPr txBox="1"/>
          <p:nvPr/>
        </p:nvSpPr>
        <p:spPr>
          <a:xfrm>
            <a:off x="619244" y="2405062"/>
            <a:ext cx="2395299" cy="420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2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목적지 맵핑 및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경로 생성</a:t>
            </a:r>
            <a:endParaRPr/>
          </a:p>
        </p:txBody>
      </p:sp>
      <p:sp>
        <p:nvSpPr>
          <p:cNvPr id="147" name="Google Shape;147;p14"/>
          <p:cNvSpPr txBox="1"/>
          <p:nvPr/>
        </p:nvSpPr>
        <p:spPr>
          <a:xfrm>
            <a:off x="676275" y="4445198"/>
            <a:ext cx="2281237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수신된 주행 모드 번호(30~37)에 따라 지정된 목적지 좌표를 DB에서 불러오고, 단독 주행을 위한 전용 Nav2 경로를 생성합니다.</a:t>
            </a:r>
            <a:endParaRPr/>
          </a:p>
        </p:txBody>
      </p:sp>
      <p:pic>
        <p:nvPicPr>
          <p:cNvPr id="149" name="Google Shape;149;p14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3319843" y="1854100"/>
            <a:ext cx="2662237" cy="447675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4"/>
          <p:cNvSpPr txBox="1"/>
          <p:nvPr/>
        </p:nvSpPr>
        <p:spPr>
          <a:xfrm>
            <a:off x="3471981" y="2405062"/>
            <a:ext cx="2395299" cy="420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2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논스톱 (Non-stop)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자율주행</a:t>
            </a:r>
            <a:endParaRPr/>
          </a:p>
        </p:txBody>
      </p:sp>
      <p:sp>
        <p:nvSpPr>
          <p:cNvPr id="151" name="Google Shape;151;p14"/>
          <p:cNvSpPr txBox="1"/>
          <p:nvPr/>
        </p:nvSpPr>
        <p:spPr>
          <a:xfrm>
            <a:off x="3529012" y="4445198"/>
            <a:ext cx="2281237" cy="964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안내 모드와 달리 후방 사람 유무나 외부 대기 신호(/guide_pause)의 간섭을 완전히 무시합니다. 오직 목적지 도달이라는 미션에만 집중하여 중단 없이 주행합니다.</a:t>
            </a:r>
            <a:endParaRPr/>
          </a:p>
        </p:txBody>
      </p:sp>
      <p:pic>
        <p:nvPicPr>
          <p:cNvPr id="153" name="Google Shape;153;p14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6181724" y="1854100"/>
            <a:ext cx="2662237" cy="447675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4"/>
          <p:cNvSpPr txBox="1"/>
          <p:nvPr/>
        </p:nvSpPr>
        <p:spPr>
          <a:xfrm>
            <a:off x="6324719" y="2405062"/>
            <a:ext cx="2395299" cy="420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2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동적 장애물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우회 및 회피</a:t>
            </a:r>
            <a:endParaRPr/>
          </a:p>
        </p:txBody>
      </p:sp>
      <p:sp>
        <p:nvSpPr>
          <p:cNvPr id="155" name="Google Shape;155;p14"/>
          <p:cNvSpPr txBox="1"/>
          <p:nvPr/>
        </p:nvSpPr>
        <p:spPr>
          <a:xfrm>
            <a:off x="6381750" y="4445198"/>
            <a:ext cx="2281237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이동 중 나타나는 돌발 장애물이나 사람에 대해서는 2중 라이다 안전망(우회/긴급 후진)을 가동하여 부드럽게 피해 목적지까지 안전하게 도달합니다.</a:t>
            </a:r>
            <a:endParaRPr/>
          </a:p>
        </p:txBody>
      </p:sp>
      <p:pic>
        <p:nvPicPr>
          <p:cNvPr id="157" name="Google Shape;157;p14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9079705" y="1856779"/>
            <a:ext cx="2662237" cy="44767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4"/>
          <p:cNvSpPr txBox="1"/>
          <p:nvPr/>
        </p:nvSpPr>
        <p:spPr>
          <a:xfrm>
            <a:off x="9177456" y="2405062"/>
            <a:ext cx="2395299" cy="420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2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도착 시 180도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반전 정렬 도킹</a:t>
            </a:r>
            <a:endParaRPr/>
          </a:p>
        </p:txBody>
      </p:sp>
      <p:sp>
        <p:nvSpPr>
          <p:cNvPr id="159" name="Google Shape;159;p14"/>
          <p:cNvSpPr txBox="1"/>
          <p:nvPr/>
        </p:nvSpPr>
        <p:spPr>
          <a:xfrm>
            <a:off x="9234487" y="4445198"/>
            <a:ext cx="2281237" cy="964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0" i="0" u="none" strike="noStrike" cap="none">
                <a:solidFill>
                  <a:srgbClr val="94A3B8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목표 지점의 기본 각도에 180도를 더해 최종 도착 각도를 설정합니다. 도착 시 가판대를 등지고 밖을 바라보게 정렬하여 다음 태스크를 즉시 준비합니다.</a:t>
            </a:r>
            <a:endParaRPr/>
          </a:p>
        </p:txBody>
      </p:sp>
      <p:pic>
        <p:nvPicPr>
          <p:cNvPr id="160" name="Google Shape;160;p14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800100" y="6056114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4"/>
          <p:cNvSpPr txBox="1"/>
          <p:nvPr/>
        </p:nvSpPr>
        <p:spPr>
          <a:xfrm>
            <a:off x="1171575" y="5782990"/>
            <a:ext cx="3325103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모드별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관심사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분리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(Separation of Concerns)</a:t>
            </a:r>
            <a:endParaRPr dirty="0"/>
          </a:p>
        </p:txBody>
      </p:sp>
      <p:pic>
        <p:nvPicPr>
          <p:cNvPr id="162" name="Google Shape;162;p14" descr="image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2824162" y="1957387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4" descr="image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685800" y="2978348"/>
            <a:ext cx="2262187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4" descr="image.png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5657850" y="1957387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4" descr="image.png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3538537" y="2978348"/>
            <a:ext cx="2262187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4" descr="image.png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8510587" y="1957387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4" descr="image.png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6391275" y="2978348"/>
            <a:ext cx="2262187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4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11363325" y="1957387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4" descr="image.png"/>
          <p:cNvPicPr preferRelativeResize="0"/>
          <p:nvPr/>
        </p:nvPicPr>
        <p:blipFill rotWithShape="1">
          <a:blip r:embed="rId26">
            <a:alphaModFix/>
          </a:blip>
          <a:srcRect/>
          <a:stretch/>
        </p:blipFill>
        <p:spPr>
          <a:xfrm>
            <a:off x="9244012" y="2978348"/>
            <a:ext cx="2262187" cy="131445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4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00FF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390</Words>
  <Application>Microsoft Office PowerPoint</Application>
  <PresentationFormat>와이드스크린</PresentationFormat>
  <Paragraphs>26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user</cp:lastModifiedBy>
  <cp:revision>3</cp:revision>
  <dcterms:modified xsi:type="dcterms:W3CDTF">2026-07-10T09:05:13Z</dcterms:modified>
</cp:coreProperties>
</file>