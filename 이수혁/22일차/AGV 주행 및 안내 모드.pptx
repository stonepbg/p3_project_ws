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11.png"/><Relationship Id="rId18" Type="http://schemas.openxmlformats.org/officeDocument/2006/relationships/image" Target="../media/image33.png"/><Relationship Id="rId26" Type="http://schemas.openxmlformats.org/officeDocument/2006/relationships/image" Target="../media/image41.png"/><Relationship Id="rId3" Type="http://schemas.openxmlformats.org/officeDocument/2006/relationships/image" Target="../media/image1.png"/><Relationship Id="rId21" Type="http://schemas.openxmlformats.org/officeDocument/2006/relationships/image" Target="../media/image36.png"/><Relationship Id="rId7" Type="http://schemas.openxmlformats.org/officeDocument/2006/relationships/image" Target="../media/image26.png"/><Relationship Id="rId12" Type="http://schemas.openxmlformats.org/officeDocument/2006/relationships/image" Target="../media/image10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9.png"/><Relationship Id="rId24" Type="http://schemas.openxmlformats.org/officeDocument/2006/relationships/image" Target="../media/image39.png"/><Relationship Id="rId5" Type="http://schemas.openxmlformats.org/officeDocument/2006/relationships/image" Target="../media/image24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10" Type="http://schemas.openxmlformats.org/officeDocument/2006/relationships/image" Target="../media/image8.png"/><Relationship Id="rId19" Type="http://schemas.openxmlformats.org/officeDocument/2006/relationships/image" Target="../media/image34.png"/><Relationship Id="rId4" Type="http://schemas.openxmlformats.org/officeDocument/2006/relationships/image" Target="../media/image2.png"/><Relationship Id="rId9" Type="http://schemas.openxmlformats.org/officeDocument/2006/relationships/image" Target="../media/image28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53250" y="762000"/>
            <a:ext cx="47625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5800129"/>
            <a:ext cx="11239500" cy="759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1804987"/>
            <a:ext cx="2681287" cy="3804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28987" y="1804987"/>
            <a:ext cx="2681287" cy="3804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81725" y="1804987"/>
            <a:ext cx="2681287" cy="3804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034462" y="1804987"/>
            <a:ext cx="2681287" cy="3804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76275" y="2968823"/>
            <a:ext cx="2281237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529012" y="2968823"/>
            <a:ext cx="2281237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381750" y="2968823"/>
            <a:ext cx="2281237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234487" y="2959298"/>
            <a:ext cx="2281237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476250" y="390525"/>
            <a:ext cx="284723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1" i="0" u="none" strike="noStrike" cap="none">
                <a:solidFill>
                  <a:srgbClr val="00C8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주행 알고리즘 · 안내 모드 (Mode 20~27)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476250" y="638175"/>
            <a:ext cx="117157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휴먼 어웨어(Human-Aware) 에스코트 주행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476250" y="1152525"/>
            <a:ext cx="112395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Nav2 자율주행 엔진 기반, 후방 사용자의 동행 여부를 파악하여 주행과 대기를 능동적으로 결정하는 지능형 안내 시스템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1143000" y="5990629"/>
            <a:ext cx="10277475" cy="407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자율주행 엔진이 한 번 출발하면 멈추기 힘든 단점을 해결하기 위해, 시스템 정지 요청이나 사람 유실 시 액션 클라이언트(self.cancel_current_goal)를 강제 개입시켜 언제든 로봇을 즉각 제동할 수 있도록 설계했습니다.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485775" y="3688258"/>
            <a:ext cx="2662237" cy="381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85775" y="1814512"/>
            <a:ext cx="2662237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 txBox="1"/>
          <p:nvPr/>
        </p:nvSpPr>
        <p:spPr>
          <a:xfrm>
            <a:off x="619244" y="2405062"/>
            <a:ext cx="2395299" cy="42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2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목적지 맵핑 및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7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경로 생성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676275" y="4445198"/>
            <a:ext cx="2281237" cy="96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수신된 모드 번호(20~27)에 따라 데이터베이스에서 목표 마커의 절대 좌표(X, Y, Yaw)를 불러오고, Nav2 엔진에 경로 생성을 요청하여 출발합니다.</a:t>
            </a:r>
            <a:endParaRPr/>
          </a:p>
        </p:txBody>
      </p:sp>
      <p:sp>
        <p:nvSpPr>
          <p:cNvPr id="103" name="Google Shape;103;p13"/>
          <p:cNvSpPr/>
          <p:nvPr/>
        </p:nvSpPr>
        <p:spPr>
          <a:xfrm>
            <a:off x="3338512" y="3688258"/>
            <a:ext cx="2662237" cy="381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338512" y="1814512"/>
            <a:ext cx="2662237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/>
          <p:nvPr/>
        </p:nvSpPr>
        <p:spPr>
          <a:xfrm>
            <a:off x="3471981" y="2405062"/>
            <a:ext cx="2395299" cy="42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2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후방 추종자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7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실시간 감시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3529012" y="4445198"/>
            <a:ext cx="2281237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주행하는 동안 로봇의 비전 및 FSM 노드로부터 후방 사람의 유무 상태(/rear_person) 데이터를 1초 단위로 지속 수신하며 모니터링합니다.</a:t>
            </a:r>
            <a:endParaRPr/>
          </a:p>
        </p:txBody>
      </p:sp>
      <p:sp>
        <p:nvSpPr>
          <p:cNvPr id="107" name="Google Shape;107;p13"/>
          <p:cNvSpPr/>
          <p:nvPr/>
        </p:nvSpPr>
        <p:spPr>
          <a:xfrm>
            <a:off x="6191250" y="3688258"/>
            <a:ext cx="2662237" cy="381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3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191250" y="1814512"/>
            <a:ext cx="2662237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"/>
          <p:cNvSpPr txBox="1"/>
          <p:nvPr/>
        </p:nvSpPr>
        <p:spPr>
          <a:xfrm>
            <a:off x="6324719" y="2405062"/>
            <a:ext cx="2395299" cy="42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2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스마트 정지 및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7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주행 재개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6381750" y="4445198"/>
            <a:ext cx="2281237" cy="96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시야에서 사라지면 즉시 Nav2 경로를 취소하고 제자리에 멈춰 기다립니다. 사용자가 다시 다가오면 즉각 목적지를 향한 주행을 재개합니다.</a:t>
            </a:r>
            <a:endParaRPr/>
          </a:p>
        </p:txBody>
      </p:sp>
      <p:sp>
        <p:nvSpPr>
          <p:cNvPr id="111" name="Google Shape;111;p13"/>
          <p:cNvSpPr/>
          <p:nvPr/>
        </p:nvSpPr>
        <p:spPr>
          <a:xfrm>
            <a:off x="9043987" y="3688258"/>
            <a:ext cx="2662237" cy="381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3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043987" y="1814512"/>
            <a:ext cx="2662237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 txBox="1"/>
          <p:nvPr/>
        </p:nvSpPr>
        <p:spPr>
          <a:xfrm>
            <a:off x="9177456" y="2395537"/>
            <a:ext cx="2395299" cy="42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2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2중 직교 좌표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7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안전망 (LiDAR)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9234487" y="4435673"/>
            <a:ext cx="2281237" cy="96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라이다 데이터를 직교 좌표(X, Y)로 변환해 전방 1.0m 이내 감지 시 부드럽게 우회하고, 25cm 이내 긴급 상황 시 장애물 반대 방향으로 즉각 후진 회피합니다.</a:t>
            </a:r>
            <a:endParaRPr/>
          </a:p>
        </p:txBody>
      </p:sp>
      <p:pic>
        <p:nvPicPr>
          <p:cNvPr id="115" name="Google Shape;115;p13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00100" y="6056114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3"/>
          <p:cNvSpPr txBox="1"/>
          <p:nvPr/>
        </p:nvSpPr>
        <p:spPr>
          <a:xfrm>
            <a:off x="1143000" y="5797897"/>
            <a:ext cx="294318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smtClean="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Nav2 </a:t>
            </a:r>
            <a:r>
              <a:rPr lang="en-US" sz="1200" b="1" i="0" u="none" strike="noStrike" cap="none" dirty="0" err="1" smtClean="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액션</a:t>
            </a:r>
            <a:r>
              <a:rPr lang="en-US" sz="1200" b="1" i="0" u="none" strike="noStrike" cap="none" dirty="0" smtClean="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1" i="0" u="none" strike="noStrike" cap="none" dirty="0" err="1" smtClean="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오버라이드</a:t>
            </a:r>
            <a:r>
              <a:rPr lang="en-US" sz="1200" b="1" i="0" u="none" strike="noStrike" cap="none" dirty="0" smtClean="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(Action Override)</a:t>
            </a:r>
            <a:endParaRPr dirty="0"/>
          </a:p>
        </p:txBody>
      </p:sp>
      <p:pic>
        <p:nvPicPr>
          <p:cNvPr id="117" name="Google Shape;117;p13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2786062" y="1957387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3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685800" y="2978348"/>
            <a:ext cx="2262187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3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5619750" y="1957387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3" descr="image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3538537" y="2978348"/>
            <a:ext cx="2262187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3" descr="image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8510587" y="19573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3" descr="image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6391275" y="2978348"/>
            <a:ext cx="2262187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 descr="image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9244012" y="2968823"/>
            <a:ext cx="2262187" cy="13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53250" y="762000"/>
            <a:ext cx="47625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5800129"/>
            <a:ext cx="11239500" cy="759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1804987"/>
            <a:ext cx="2681287" cy="3804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28987" y="1804987"/>
            <a:ext cx="2681287" cy="3804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81725" y="1804987"/>
            <a:ext cx="2681287" cy="3804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034462" y="1804987"/>
            <a:ext cx="2681287" cy="3804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76275" y="2968823"/>
            <a:ext cx="2281237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529012" y="2968823"/>
            <a:ext cx="2281237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381750" y="2968823"/>
            <a:ext cx="2281237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234487" y="2968823"/>
            <a:ext cx="2281237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4"/>
          <p:cNvSpPr txBox="1"/>
          <p:nvPr/>
        </p:nvSpPr>
        <p:spPr>
          <a:xfrm>
            <a:off x="476250" y="390525"/>
            <a:ext cx="284723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1" i="0" u="none" strike="noStrike" cap="none">
                <a:solidFill>
                  <a:srgbClr val="00FF88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주행 알고리즘 · 이동 모드 (Mode 30~37)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476250" y="638175"/>
            <a:ext cx="117157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논스톱 단독 이동 및 반전 정렬 도킹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476250" y="1152525"/>
            <a:ext cx="112395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안내 모드와 동일한 엔진을 사용하나, 간섭 없이 최단 경로로 주행하며 도착 시 즉각적인 다음 작업을 위해 180도 역방향 도킹 수행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1171575" y="5990629"/>
            <a:ext cx="10248900" cy="407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동일한 주행 노드(nav2_commander.py)를 재사용하지만, 조건문(if 20 &lt;= mode &lt;= 27)을 통해 이벤트 구독과 콜백 처리 로직을 완벽히 분리했습니다. 코드는 간결하게 유지하면서 안내 모드와 주행 모드의 100% 다른 주행 특성을 구현했습니다.</a:t>
            </a:r>
            <a:endParaRPr/>
          </a:p>
        </p:txBody>
      </p:sp>
      <p:sp>
        <p:nvSpPr>
          <p:cNvPr id="144" name="Google Shape;144;p14"/>
          <p:cNvSpPr/>
          <p:nvPr/>
        </p:nvSpPr>
        <p:spPr>
          <a:xfrm>
            <a:off x="485775" y="3688258"/>
            <a:ext cx="2662237" cy="381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14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85775" y="1814512"/>
            <a:ext cx="2662237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4"/>
          <p:cNvSpPr txBox="1"/>
          <p:nvPr/>
        </p:nvSpPr>
        <p:spPr>
          <a:xfrm>
            <a:off x="619244" y="2405062"/>
            <a:ext cx="2395299" cy="42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2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목적지 맵핑 및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7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경로 생성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676275" y="4445198"/>
            <a:ext cx="2281237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수신된 주행 모드 번호(30~37)에 따라 지정된 목적지 좌표를 DB에서 불러오고, 단독 주행을 위한 전용 Nav2 경로를 생성합니다.</a:t>
            </a:r>
            <a:endParaRPr/>
          </a:p>
        </p:txBody>
      </p:sp>
      <p:sp>
        <p:nvSpPr>
          <p:cNvPr id="148" name="Google Shape;148;p14"/>
          <p:cNvSpPr/>
          <p:nvPr/>
        </p:nvSpPr>
        <p:spPr>
          <a:xfrm>
            <a:off x="3338512" y="3688258"/>
            <a:ext cx="2662237" cy="381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14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338512" y="1814512"/>
            <a:ext cx="2662237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/>
          <p:nvPr/>
        </p:nvSpPr>
        <p:spPr>
          <a:xfrm>
            <a:off x="3471981" y="2405062"/>
            <a:ext cx="2395299" cy="42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2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논스톱 (Non-stop)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7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자율주행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3529012" y="4445198"/>
            <a:ext cx="2281237" cy="96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안내 모드와 달리 후방 사람 유무나 외부 대기 신호(/guide_pause)의 간섭을 완전히 무시합니다. 오직 목적지 도달이라는 미션에만 집중하여 중단 없이 주행합니다.</a:t>
            </a:r>
            <a:endParaRPr/>
          </a:p>
        </p:txBody>
      </p:sp>
      <p:sp>
        <p:nvSpPr>
          <p:cNvPr id="152" name="Google Shape;152;p14"/>
          <p:cNvSpPr/>
          <p:nvPr/>
        </p:nvSpPr>
        <p:spPr>
          <a:xfrm>
            <a:off x="6191250" y="3688258"/>
            <a:ext cx="2662237" cy="381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4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191250" y="1814512"/>
            <a:ext cx="2662237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4"/>
          <p:cNvSpPr txBox="1"/>
          <p:nvPr/>
        </p:nvSpPr>
        <p:spPr>
          <a:xfrm>
            <a:off x="6324719" y="2405062"/>
            <a:ext cx="2395299" cy="42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2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동적 장애물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7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우회 및 회피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6381750" y="4445198"/>
            <a:ext cx="2281237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이동 중 나타나는 돌발 장애물이나 사람에 대해서는 2중 라이다 안전망(우회/긴급 후진)을 가동하여 부드럽게 피해 목적지까지 안전하게 도달합니다.</a:t>
            </a:r>
            <a:endParaRPr/>
          </a:p>
        </p:txBody>
      </p:sp>
      <p:sp>
        <p:nvSpPr>
          <p:cNvPr id="156" name="Google Shape;156;p14"/>
          <p:cNvSpPr/>
          <p:nvPr/>
        </p:nvSpPr>
        <p:spPr>
          <a:xfrm>
            <a:off x="9043987" y="3688258"/>
            <a:ext cx="2662237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14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043987" y="1814512"/>
            <a:ext cx="2662237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4"/>
          <p:cNvSpPr txBox="1"/>
          <p:nvPr/>
        </p:nvSpPr>
        <p:spPr>
          <a:xfrm>
            <a:off x="9177456" y="2405062"/>
            <a:ext cx="2395299" cy="42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2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도착 시 180도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7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반전 정렬 도킹</a:t>
            </a:r>
            <a:endParaRPr/>
          </a:p>
        </p:txBody>
      </p:sp>
      <p:sp>
        <p:nvSpPr>
          <p:cNvPr id="159" name="Google Shape;159;p14"/>
          <p:cNvSpPr txBox="1"/>
          <p:nvPr/>
        </p:nvSpPr>
        <p:spPr>
          <a:xfrm>
            <a:off x="9234487" y="4445198"/>
            <a:ext cx="2281237" cy="96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목표 지점의 기본 각도에 180도를 더해 최종 도착 각도를 설정합니다. 도착 시 가판대를 등지고 밖을 바라보게 정렬하여 다음 태스크를 즉시 준비합니다.</a:t>
            </a:r>
            <a:endParaRPr/>
          </a:p>
        </p:txBody>
      </p:sp>
      <p:pic>
        <p:nvPicPr>
          <p:cNvPr id="160" name="Google Shape;160;p14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00100" y="605611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4"/>
          <p:cNvSpPr txBox="1"/>
          <p:nvPr/>
        </p:nvSpPr>
        <p:spPr>
          <a:xfrm>
            <a:off x="1171575" y="5782990"/>
            <a:ext cx="3325103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모드별</a:t>
            </a:r>
            <a:r>
              <a:rPr lang="en-US" sz="1200" b="1" i="0" u="none" strike="noStrike" cap="none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1" i="0" u="none" strike="noStrike" cap="none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관심사</a:t>
            </a:r>
            <a:r>
              <a:rPr lang="en-US" sz="1200" b="1" i="0" u="none" strike="noStrike" cap="none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1" i="0" u="none" strike="noStrike" cap="none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분리</a:t>
            </a:r>
            <a:r>
              <a:rPr lang="en-US" sz="1200" b="1" i="0" u="none" strike="noStrike" cap="none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(Separation of Concerns)</a:t>
            </a:r>
            <a:endParaRPr dirty="0"/>
          </a:p>
        </p:txBody>
      </p:sp>
      <p:pic>
        <p:nvPicPr>
          <p:cNvPr id="162" name="Google Shape;162;p14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2824162" y="195738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4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685800" y="2978348"/>
            <a:ext cx="2262187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4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5657850" y="19573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4" descr="image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3538537" y="2978348"/>
            <a:ext cx="2262187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4" descr="image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8510587" y="19573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4" descr="image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6391275" y="2978348"/>
            <a:ext cx="2262187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4" descr="image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11363325" y="19573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4" descr="image.png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9244012" y="2978348"/>
            <a:ext cx="2262187" cy="13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390</Words>
  <Application>Microsoft Office PowerPoint</Application>
  <PresentationFormat>와이드스크린</PresentationFormat>
  <Paragraphs>26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user</cp:lastModifiedBy>
  <cp:revision>1</cp:revision>
  <dcterms:modified xsi:type="dcterms:W3CDTF">2026-07-10T08:52:27Z</dcterms:modified>
</cp:coreProperties>
</file>