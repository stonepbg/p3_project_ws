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탐색 시간</c:v>
                </c:pt>
              </c:strCache>
            </c:strRef>
          </c:tx>
          <c:spPr>
            <a:solidFill>
              <a:srgbClr val="FC52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71D-476B-B340-5BA34ECC6A5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71D-476B-B340-5BA34ECC6A55}"/>
              </c:ext>
            </c:extLst>
          </c:dPt>
          <c:dPt>
            <c:idx val="2"/>
            <c:invertIfNegative val="0"/>
            <c:bubble3D val="0"/>
            <c:spPr>
              <a:solidFill>
                <a:srgbClr val="1C9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1D-476B-B340-5BA34ECC6A5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771D-476B-B340-5BA34ECC6A5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71D-476B-B340-5BA34ECC6A55}"/>
              </c:ext>
            </c:extLst>
          </c:dPt>
          <c:dPt>
            <c:idx val="5"/>
            <c:invertIfNegative val="0"/>
            <c:bubble3D val="0"/>
            <c:spPr>
              <a:solidFill>
                <a:srgbClr val="1C9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71D-476B-B340-5BA34ECC6A55}"/>
              </c:ext>
            </c:extLst>
          </c:dPt>
          <c:dPt>
            <c:idx val="6"/>
            <c:invertIfNegative val="0"/>
            <c:bubble3D val="0"/>
            <c:spPr>
              <a:solidFill>
                <a:srgbClr val="1C9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71D-476B-B340-5BA34ECC6A55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771D-476B-B340-5BA34ECC6A55}"/>
              </c:ext>
            </c:extLst>
          </c:dPt>
          <c:dPt>
            <c:idx val="8"/>
            <c:invertIfNegative val="0"/>
            <c:bubble3D val="0"/>
            <c:spPr>
              <a:solidFill>
                <a:srgbClr val="1C9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771D-476B-B340-5BA34ECC6A5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71D-476B-B340-5BA34ECC6A55}"/>
              </c:ext>
            </c:extLst>
          </c:dPt>
          <c:dLbls>
            <c:numFmt formatCode="0.0&quot;초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1차</c:v>
                </c:pt>
                <c:pt idx="1">
                  <c:v>2차</c:v>
                </c:pt>
                <c:pt idx="2">
                  <c:v>3차</c:v>
                </c:pt>
                <c:pt idx="3">
                  <c:v>4차</c:v>
                </c:pt>
                <c:pt idx="4">
                  <c:v>5차</c:v>
                </c:pt>
                <c:pt idx="5">
                  <c:v>6차</c:v>
                </c:pt>
                <c:pt idx="6">
                  <c:v>7차</c:v>
                </c:pt>
                <c:pt idx="7">
                  <c:v>8차</c:v>
                </c:pt>
                <c:pt idx="8">
                  <c:v>9차</c:v>
                </c:pt>
                <c:pt idx="9">
                  <c:v>10차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130.5</c:v>
                </c:pt>
                <c:pt idx="1">
                  <c:v>29.8</c:v>
                </c:pt>
                <c:pt idx="2">
                  <c:v>9.5</c:v>
                </c:pt>
                <c:pt idx="3">
                  <c:v>20.9</c:v>
                </c:pt>
                <c:pt idx="4">
                  <c:v>24.3</c:v>
                </c:pt>
                <c:pt idx="5">
                  <c:v>9.5</c:v>
                </c:pt>
                <c:pt idx="6">
                  <c:v>9.1999999999999993</c:v>
                </c:pt>
                <c:pt idx="7">
                  <c:v>34.6</c:v>
                </c:pt>
                <c:pt idx="8">
                  <c:v>10.199999999999999</c:v>
                </c:pt>
                <c:pt idx="9">
                  <c:v>22.3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71D-476B-B340-5BA34ECC6A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177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BB983-97E5-49F4-9FA6-7FACD1EDBFF6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956B0-DDA5-44E7-968A-0DAE55FED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44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17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0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10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08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032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387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66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85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3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0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44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4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70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59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355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86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42F94-053B-4345-876A-EE9884AB735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A9ADE-8341-458A-815A-BCC02D286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68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9232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836619" y="2090928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836619" y="3310128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9659" y="2090928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9659" y="3310128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62699" y="2090928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762699" y="3310128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9705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1897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44089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56281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19705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31897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44089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7680960" y="56281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0" y="19705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4000" y="31897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0" y="44089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0" y="56281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070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07040" y="19705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07040" y="31897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07040" y="44089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07040" y="56281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070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120700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70080" y="19705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12070080" y="31897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12070080" y="44089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12070080" y="562813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120700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365760"/>
            <a:ext cx="11460480" cy="975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365760" y="365760"/>
            <a:ext cx="85344" cy="975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670560" y="390144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3 — 콘텐츠</a:t>
            </a:r>
            <a:endParaRPr lang="en-US" sz="1067" dirty="0"/>
          </a:p>
        </p:txBody>
      </p:sp>
      <p:sp>
        <p:nvSpPr>
          <p:cNvPr id="57" name="Text 55"/>
          <p:cNvSpPr/>
          <p:nvPr/>
        </p:nvSpPr>
        <p:spPr>
          <a:xfrm>
            <a:off x="670560" y="694944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 슈팅</a:t>
            </a:r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</a:t>
            </a:r>
            <a:r>
              <a:rPr lang="en-US" altLang="ko-KR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AMCL 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위치 인식의 한계 및 실패 원인 분석</a:t>
            </a:r>
            <a:endParaRPr lang="en-US" sz="2667" dirty="0"/>
          </a:p>
        </p:txBody>
      </p:sp>
      <p:sp>
        <p:nvSpPr>
          <p:cNvPr id="59" name="Text 57"/>
          <p:cNvSpPr/>
          <p:nvPr/>
        </p:nvSpPr>
        <p:spPr>
          <a:xfrm>
            <a:off x="365760" y="1524000"/>
            <a:ext cx="11460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867" dirty="0"/>
          </a:p>
        </p:txBody>
      </p:sp>
      <p:sp>
        <p:nvSpPr>
          <p:cNvPr id="60" name="Text 2"/>
          <p:cNvSpPr/>
          <p:nvPr/>
        </p:nvSpPr>
        <p:spPr>
          <a:xfrm>
            <a:off x="373579" y="14965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49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정량적 지표: 신뢰할 수 없는 탐색 성능</a:t>
            </a:r>
            <a:endParaRPr lang="ko-KR" altLang="en-US" sz="1449" dirty="0">
              <a:solidFill>
                <a:schemeClr val="bg1"/>
              </a:solidFill>
            </a:endParaRPr>
          </a:p>
        </p:txBody>
      </p:sp>
      <p:sp>
        <p:nvSpPr>
          <p:cNvPr id="61" name="Shape 3"/>
          <p:cNvSpPr/>
          <p:nvPr/>
        </p:nvSpPr>
        <p:spPr>
          <a:xfrm>
            <a:off x="373579" y="188976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AF1F7"/>
          </a:solidFill>
          <a:ln/>
        </p:spPr>
      </p:sp>
      <p:sp>
        <p:nvSpPr>
          <p:cNvPr id="62" name="Text 4"/>
          <p:cNvSpPr/>
          <p:nvPr/>
        </p:nvSpPr>
        <p:spPr>
          <a:xfrm>
            <a:off x="373579" y="201777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FC521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40%</a:t>
            </a:r>
            <a:endParaRPr lang="ko-KR" altLang="en-US" sz="4000" dirty="0"/>
          </a:p>
        </p:txBody>
      </p:sp>
      <p:sp>
        <p:nvSpPr>
          <p:cNvPr id="63" name="Text 5"/>
          <p:cNvSpPr/>
          <p:nvPr/>
        </p:nvSpPr>
        <p:spPr>
          <a:xfrm>
            <a:off x="373579" y="2584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성공률</a:t>
            </a:r>
            <a:endParaRPr lang="ko-KR" altLang="en-US" sz="1300" dirty="0"/>
          </a:p>
        </p:txBody>
      </p:sp>
      <p:sp>
        <p:nvSpPr>
          <p:cNvPr id="64" name="Text 6"/>
          <p:cNvSpPr/>
          <p:nvPr/>
        </p:nvSpPr>
        <p:spPr>
          <a:xfrm>
            <a:off x="373579" y="2868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849" dirty="0">
                <a:solidFill>
                  <a:srgbClr val="6E7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(위치+방향 모두 일치: 단 4/10회)</a:t>
            </a:r>
            <a:endParaRPr lang="ko-KR" altLang="en-US" sz="849" dirty="0"/>
          </a:p>
        </p:txBody>
      </p:sp>
      <p:sp>
        <p:nvSpPr>
          <p:cNvPr id="65" name="Text 7"/>
          <p:cNvSpPr/>
          <p:nvPr/>
        </p:nvSpPr>
        <p:spPr>
          <a:xfrm>
            <a:off x="3162499" y="201777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30.06초</a:t>
            </a:r>
            <a:endParaRPr lang="ko-KR" altLang="en-US" sz="3200" dirty="0"/>
          </a:p>
        </p:txBody>
      </p:sp>
      <p:sp>
        <p:nvSpPr>
          <p:cNvPr id="66" name="Text 8"/>
          <p:cNvSpPr/>
          <p:nvPr/>
        </p:nvSpPr>
        <p:spPr>
          <a:xfrm>
            <a:off x="3162499" y="2584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평균 탐색 소요 시간</a:t>
            </a:r>
            <a:endParaRPr lang="ko-KR" altLang="en-US" sz="1300" dirty="0"/>
          </a:p>
        </p:txBody>
      </p:sp>
      <p:sp>
        <p:nvSpPr>
          <p:cNvPr id="67" name="Text 9"/>
          <p:cNvSpPr/>
          <p:nvPr/>
        </p:nvSpPr>
        <p:spPr>
          <a:xfrm>
            <a:off x="3162499" y="2868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800" dirty="0">
                <a:solidFill>
                  <a:srgbClr val="6E7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(성공 시 9.5초이나, 실패시 최대 130.5초 지연)</a:t>
            </a:r>
            <a:endParaRPr lang="ko-KR" altLang="en-US" sz="800" dirty="0"/>
          </a:p>
        </p:txBody>
      </p:sp>
      <p:sp>
        <p:nvSpPr>
          <p:cNvPr id="68" name="Text 10"/>
          <p:cNvSpPr/>
          <p:nvPr/>
        </p:nvSpPr>
        <p:spPr>
          <a:xfrm>
            <a:off x="369669" y="3277361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‹ </a:t>
            </a:r>
            <a:r>
              <a:rPr lang="ko-KR" altLang="en-US" sz="12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 실행 시간 불안정성 (총 10회)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graphicFrame>
        <p:nvGraphicFramePr>
          <p:cNvPr id="69" name="Chart 0"/>
          <p:cNvGraphicFramePr/>
          <p:nvPr/>
        </p:nvGraphicFramePr>
        <p:xfrm>
          <a:off x="365760" y="3553968"/>
          <a:ext cx="5577840" cy="2023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0" name="Shape 11"/>
          <p:cNvSpPr/>
          <p:nvPr/>
        </p:nvSpPr>
        <p:spPr>
          <a:xfrm>
            <a:off x="365760" y="5687568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CDDCEC"/>
          </a:solidFill>
          <a:ln/>
        </p:spPr>
      </p:sp>
      <p:sp>
        <p:nvSpPr>
          <p:cNvPr id="71" name="Text 12"/>
          <p:cNvSpPr/>
          <p:nvPr/>
        </p:nvSpPr>
        <p:spPr>
          <a:xfrm>
            <a:off x="548640" y="5687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Insight: </a:t>
            </a:r>
            <a:r>
              <a:rPr lang="ko-KR" altLang="en-US" sz="120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수렴(성공) 시 10초 이내로 빠르지만,</a:t>
            </a:r>
            <a:endParaRPr lang="ko-KR" altLang="en-US" sz="1200" dirty="0"/>
          </a:p>
          <a:p>
            <a:pPr algn="ctr"/>
            <a:r>
              <a:rPr lang="ko-KR" altLang="en-US" sz="1200" b="1" dirty="0">
                <a:solidFill>
                  <a:srgbClr val="0D39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60%의 확률로 극심한 지연 및 오인식 발생</a:t>
            </a:r>
            <a:endParaRPr lang="ko-KR" altLang="en-US" sz="1200" dirty="0"/>
          </a:p>
        </p:txBody>
      </p:sp>
      <p:sp>
        <p:nvSpPr>
          <p:cNvPr id="72" name="Shape 13"/>
          <p:cNvSpPr/>
          <p:nvPr/>
        </p:nvSpPr>
        <p:spPr>
          <a:xfrm>
            <a:off x="6309360" y="1540765"/>
            <a:ext cx="5513832" cy="3642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3" name="Text 14"/>
          <p:cNvSpPr/>
          <p:nvPr/>
        </p:nvSpPr>
        <p:spPr>
          <a:xfrm>
            <a:off x="6451092" y="1524000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49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한계점: 왜 실패하는가?</a:t>
            </a:r>
            <a:endParaRPr lang="ko-KR" altLang="en-US" sz="1449" dirty="0"/>
          </a:p>
        </p:txBody>
      </p:sp>
      <p:sp>
        <p:nvSpPr>
          <p:cNvPr id="74" name="Shape 15"/>
          <p:cNvSpPr/>
          <p:nvPr/>
        </p:nvSpPr>
        <p:spPr>
          <a:xfrm>
            <a:off x="6309361" y="2016252"/>
            <a:ext cx="32004" cy="2743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5" name="Text 16"/>
          <p:cNvSpPr/>
          <p:nvPr/>
        </p:nvSpPr>
        <p:spPr>
          <a:xfrm>
            <a:off x="6419088" y="1997964"/>
            <a:ext cx="5404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r>
              <a:rPr lang="ko-KR" altLang="en-US" sz="13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 Aliasing Problem (대칭성 및 구조적 유사성)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  <p:sp>
        <p:nvSpPr>
          <p:cNvPr id="76" name="Text 17"/>
          <p:cNvSpPr/>
          <p:nvPr/>
        </p:nvSpPr>
        <p:spPr>
          <a:xfrm>
            <a:off x="6419088" y="2345436"/>
            <a:ext cx="5404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1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&gt;&gt; 현상</a:t>
            </a:r>
            <a:r>
              <a:rPr lang="ko-KR" altLang="en-US" sz="1351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</a:t>
            </a:r>
            <a:r>
              <a:rPr lang="ko-KR" altLang="en-US" sz="135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1번/0번 마커 근처 출발 시 → 4번/5번 마커 사이 구석으로 오인 (2, 4, 5차)</a:t>
            </a:r>
            <a:endParaRPr lang="ko-KR" altLang="en-US" sz="1351" dirty="0">
              <a:solidFill>
                <a:schemeClr val="bg1"/>
              </a:solidFill>
            </a:endParaRPr>
          </a:p>
        </p:txBody>
      </p:sp>
      <p:sp>
        <p:nvSpPr>
          <p:cNvPr id="77" name="Text 18"/>
          <p:cNvSpPr/>
          <p:nvPr/>
        </p:nvSpPr>
        <p:spPr>
          <a:xfrm>
            <a:off x="6419088" y="2729484"/>
            <a:ext cx="5404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1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&gt;&gt; 원인</a:t>
            </a:r>
            <a:r>
              <a:rPr lang="ko-KR" altLang="en-US" sz="1351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</a:t>
            </a:r>
            <a:r>
              <a:rPr lang="ko-KR" altLang="en-US" sz="135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책상, 다리 등 기하학적 형태가 동일한 맵 패턴. 2D Lidar 스캔 데이터만으로는 '쌍둥이 지형'을 구분 불가.</a:t>
            </a:r>
            <a:endParaRPr lang="ko-KR" altLang="en-US" sz="1351" dirty="0">
              <a:solidFill>
                <a:schemeClr val="bg1"/>
              </a:solidFill>
            </a:endParaRPr>
          </a:p>
        </p:txBody>
      </p:sp>
      <p:sp>
        <p:nvSpPr>
          <p:cNvPr id="78" name="Shape 19"/>
          <p:cNvSpPr/>
          <p:nvPr/>
        </p:nvSpPr>
        <p:spPr>
          <a:xfrm>
            <a:off x="6309361" y="3662172"/>
            <a:ext cx="32004" cy="2743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9" name="Text 20"/>
          <p:cNvSpPr/>
          <p:nvPr/>
        </p:nvSpPr>
        <p:spPr>
          <a:xfrm>
            <a:off x="6419088" y="3643884"/>
            <a:ext cx="5404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02. </a:t>
            </a:r>
            <a:r>
              <a:rPr lang="ko-KR" altLang="en-US" sz="13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위치(Initialization)에 따른 극심한 결과 편차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  <p:sp>
        <p:nvSpPr>
          <p:cNvPr id="80" name="Text 21"/>
          <p:cNvSpPr/>
          <p:nvPr/>
        </p:nvSpPr>
        <p:spPr>
          <a:xfrm>
            <a:off x="6419088" y="3991356"/>
            <a:ext cx="5404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1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&gt;&gt; 현상</a:t>
            </a:r>
            <a:r>
              <a:rPr lang="ko-KR" altLang="en-US" sz="1351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</a:t>
            </a:r>
            <a:r>
              <a:rPr lang="ko-KR" altLang="en-US" sz="135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위치 출발에도 결과가 전혀 다름 (2차 실패 vs 3차 완전 성공).</a:t>
            </a:r>
            <a:endParaRPr lang="ko-KR" altLang="en-US" sz="1351" dirty="0">
              <a:solidFill>
                <a:schemeClr val="bg1"/>
              </a:solidFill>
            </a:endParaRPr>
          </a:p>
        </p:txBody>
      </p:sp>
      <p:sp>
        <p:nvSpPr>
          <p:cNvPr id="81" name="Text 22"/>
          <p:cNvSpPr/>
          <p:nvPr/>
        </p:nvSpPr>
        <p:spPr>
          <a:xfrm>
            <a:off x="6419088" y="4375404"/>
            <a:ext cx="5404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1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&gt;&gt; 원인</a:t>
            </a:r>
            <a:r>
              <a:rPr lang="ko-KR" altLang="en-US" sz="1351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</a:t>
            </a:r>
            <a:r>
              <a:rPr lang="ko-KR" altLang="en-US" sz="135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부팅 시 AMCL 파티클이 무작위로 살포되어 맵과 매칭되는 확률론적 동작의 본질적 불안정성.</a:t>
            </a:r>
            <a:endParaRPr lang="ko-KR" altLang="en-US" sz="1351" dirty="0">
              <a:solidFill>
                <a:schemeClr val="bg1"/>
              </a:solidFill>
            </a:endParaRPr>
          </a:p>
        </p:txBody>
      </p:sp>
      <p:sp>
        <p:nvSpPr>
          <p:cNvPr id="82" name="Shape 23"/>
          <p:cNvSpPr/>
          <p:nvPr/>
        </p:nvSpPr>
        <p:spPr>
          <a:xfrm>
            <a:off x="6309361" y="5079492"/>
            <a:ext cx="32004" cy="2743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83" name="Text 24"/>
          <p:cNvSpPr/>
          <p:nvPr/>
        </p:nvSpPr>
        <p:spPr>
          <a:xfrm>
            <a:off x="6419088" y="5061204"/>
            <a:ext cx="5404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03. </a:t>
            </a:r>
            <a:r>
              <a:rPr lang="ko-KR" altLang="en-US" sz="13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실주행 불가능 수준의 치명적 정밀도 (결정적 요인)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  <p:sp>
        <p:nvSpPr>
          <p:cNvPr id="84" name="Text 25"/>
          <p:cNvSpPr/>
          <p:nvPr/>
        </p:nvSpPr>
        <p:spPr>
          <a:xfrm>
            <a:off x="6419088" y="5408676"/>
            <a:ext cx="5404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1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&gt;&gt; 현상</a:t>
            </a:r>
            <a:r>
              <a:rPr lang="ko-KR" altLang="en-US" sz="1351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</a:t>
            </a:r>
            <a:r>
              <a:rPr lang="ko-KR" altLang="en-US" sz="135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직사각형 구조에서 빈번한 방향 상실 (90도/180도 오차).</a:t>
            </a:r>
            <a:endParaRPr lang="ko-KR" altLang="en-US" sz="1351" dirty="0">
              <a:solidFill>
                <a:schemeClr val="bg1"/>
              </a:solidFill>
            </a:endParaRPr>
          </a:p>
        </p:txBody>
      </p:sp>
      <p:sp>
        <p:nvSpPr>
          <p:cNvPr id="85" name="Text 26"/>
          <p:cNvSpPr/>
          <p:nvPr/>
        </p:nvSpPr>
        <p:spPr>
          <a:xfrm>
            <a:off x="6419088" y="5792724"/>
            <a:ext cx="5404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1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&gt;&gt; 결과</a:t>
            </a:r>
            <a:r>
              <a:rPr lang="ko-KR" altLang="en-US" sz="1351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</a:t>
            </a:r>
            <a:r>
              <a:rPr lang="ko-KR" altLang="en-US" sz="1351" b="1" dirty="0">
                <a:solidFill>
                  <a:srgbClr val="C0322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135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내비게이션 시 완전히 다른 벽을 뚫고 주행하려는 등, 실내 모빌리티 로봇에 요구되는 최소한의 'Global Localization 정밀도' 충족 실패.</a:t>
            </a:r>
            <a:endParaRPr lang="ko-KR" altLang="en-US" sz="135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79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2927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9232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21762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3954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46146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58338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21762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33954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46146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58338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21762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3954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46146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58338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21762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3954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46146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58338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21762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33954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46146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7680960" y="58338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0" y="21762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4000" y="33954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0" y="46146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0" y="58338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070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07040" y="21762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07040" y="33954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07040" y="46146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07040" y="58338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070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120700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70080" y="21762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12070080" y="33954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12070080" y="46146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12070080" y="5833872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120700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365760"/>
            <a:ext cx="11460480" cy="975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365760" y="365760"/>
            <a:ext cx="85344" cy="975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670560" y="390144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3 — 콘텐츠</a:t>
            </a:r>
            <a:endParaRPr lang="en-US" sz="1067" dirty="0"/>
          </a:p>
        </p:txBody>
      </p:sp>
      <p:sp>
        <p:nvSpPr>
          <p:cNvPr id="57" name="Text 55"/>
          <p:cNvSpPr/>
          <p:nvPr/>
        </p:nvSpPr>
        <p:spPr>
          <a:xfrm>
            <a:off x="575188" y="697697"/>
            <a:ext cx="112854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 슈팅</a:t>
            </a:r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</a:t>
            </a:r>
            <a:r>
              <a:rPr lang="en-US" altLang="ko-KR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-AMCL </a:t>
            </a:r>
            <a:r>
              <a:rPr lang="ko-KR" altLang="en-US" sz="2667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시스템을 통한 위치 인식 오류 해결</a:t>
            </a:r>
            <a:endParaRPr lang="en-US" sz="2667" dirty="0"/>
          </a:p>
        </p:txBody>
      </p:sp>
      <p:sp>
        <p:nvSpPr>
          <p:cNvPr id="59" name="Text 57"/>
          <p:cNvSpPr/>
          <p:nvPr/>
        </p:nvSpPr>
        <p:spPr>
          <a:xfrm>
            <a:off x="365760" y="1871472"/>
            <a:ext cx="11460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867" dirty="0"/>
          </a:p>
        </p:txBody>
      </p:sp>
      <p:sp>
        <p:nvSpPr>
          <p:cNvPr id="60" name="Shape 2"/>
          <p:cNvSpPr/>
          <p:nvPr/>
        </p:nvSpPr>
        <p:spPr>
          <a:xfrm>
            <a:off x="365760" y="1527048"/>
            <a:ext cx="0" cy="201168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61" name="Shape 3"/>
          <p:cNvSpPr/>
          <p:nvPr/>
        </p:nvSpPr>
        <p:spPr>
          <a:xfrm>
            <a:off x="365760" y="1527048"/>
            <a:ext cx="109728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62" name="Text 4"/>
          <p:cNvSpPr/>
          <p:nvPr/>
        </p:nvSpPr>
        <p:spPr>
          <a:xfrm>
            <a:off x="566928" y="14081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1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어떻게 바꾸었는가? (하이브리드 시스템 로직)</a:t>
            </a:r>
            <a:endParaRPr lang="ko-KR" altLang="en-US" sz="1351" dirty="0">
              <a:solidFill>
                <a:schemeClr val="bg1"/>
              </a:solidFill>
            </a:endParaRPr>
          </a:p>
        </p:txBody>
      </p:sp>
      <p:sp>
        <p:nvSpPr>
          <p:cNvPr id="63" name="Shape 5"/>
          <p:cNvSpPr/>
          <p:nvPr/>
        </p:nvSpPr>
        <p:spPr>
          <a:xfrm>
            <a:off x="4152901" y="1545336"/>
            <a:ext cx="7670292" cy="9144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</p:sp>
      <p:sp>
        <p:nvSpPr>
          <p:cNvPr id="64" name="Shape 6"/>
          <p:cNvSpPr/>
          <p:nvPr/>
        </p:nvSpPr>
        <p:spPr>
          <a:xfrm>
            <a:off x="365760" y="1856232"/>
            <a:ext cx="3511296" cy="1600200"/>
          </a:xfrm>
          <a:prstGeom prst="roundRect">
            <a:avLst>
              <a:gd name="adj" fmla="val 3429"/>
            </a:avLst>
          </a:prstGeom>
          <a:solidFill>
            <a:srgbClr val="EAF1F7"/>
          </a:solidFill>
          <a:ln/>
        </p:spPr>
      </p:sp>
      <p:sp>
        <p:nvSpPr>
          <p:cNvPr id="65" name="Text 7"/>
          <p:cNvSpPr/>
          <p:nvPr/>
        </p:nvSpPr>
        <p:spPr>
          <a:xfrm>
            <a:off x="530352" y="196596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1. 자율 탐색 및 사각지대 예외처리</a:t>
            </a:r>
            <a:endParaRPr lang="ko-KR" altLang="en-US" sz="1200" dirty="0"/>
          </a:p>
        </p:txBody>
      </p:sp>
      <p:sp>
        <p:nvSpPr>
          <p:cNvPr id="66" name="Text 8"/>
          <p:cNvSpPr/>
          <p:nvPr/>
        </p:nvSpPr>
        <p:spPr>
          <a:xfrm>
            <a:off x="530352" y="2313432"/>
            <a:ext cx="3182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ko-KR" altLang="en-US" sz="1051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[SEARCHING] </a:t>
            </a:r>
            <a:r>
              <a:rPr lang="ko-KR" altLang="en-US" sz="105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제자리 회전(angular.z=0.3)하며 10 FPS 카메라로 마커 탐색.</a:t>
            </a:r>
            <a:endParaRPr lang="ko-KR" altLang="en-US" sz="1051" dirty="0"/>
          </a:p>
          <a:p>
            <a:pPr>
              <a:lnSpc>
                <a:spcPct val="115000"/>
              </a:lnSpc>
            </a:pPr>
            <a:endParaRPr lang="ko-KR" altLang="en-US" sz="951" dirty="0"/>
          </a:p>
          <a:p>
            <a:pPr>
              <a:lnSpc>
                <a:spcPct val="115000"/>
              </a:lnSpc>
            </a:pPr>
            <a:r>
              <a:rPr lang="ko-KR" altLang="en-US" sz="1051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[SHIFTING] </a:t>
            </a:r>
            <a:r>
              <a:rPr lang="ko-KR" altLang="en-US" sz="105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25초간 마커 미발견 시(사각지대), 스스로 3초간 직진(linear.x=0.15) 후 탐색 복귀.</a:t>
            </a:r>
            <a:endParaRPr lang="ko-KR" altLang="en-US" sz="1051" dirty="0"/>
          </a:p>
        </p:txBody>
      </p:sp>
      <p:sp>
        <p:nvSpPr>
          <p:cNvPr id="67" name="Shape 9"/>
          <p:cNvSpPr/>
          <p:nvPr/>
        </p:nvSpPr>
        <p:spPr>
          <a:xfrm>
            <a:off x="4334256" y="1856232"/>
            <a:ext cx="3511296" cy="1600200"/>
          </a:xfrm>
          <a:prstGeom prst="roundRect">
            <a:avLst>
              <a:gd name="adj" fmla="val 3429"/>
            </a:avLst>
          </a:prstGeom>
          <a:solidFill>
            <a:srgbClr val="EAF1F7"/>
          </a:solidFill>
          <a:ln/>
        </p:spPr>
      </p:sp>
      <p:sp>
        <p:nvSpPr>
          <p:cNvPr id="68" name="Text 10"/>
          <p:cNvSpPr/>
          <p:nvPr/>
        </p:nvSpPr>
        <p:spPr>
          <a:xfrm>
            <a:off x="4498848" y="196596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2. 절대 좌표 산출 및 주입</a:t>
            </a:r>
            <a:endParaRPr lang="ko-KR" altLang="en-US" sz="1200" dirty="0"/>
          </a:p>
        </p:txBody>
      </p:sp>
      <p:sp>
        <p:nvSpPr>
          <p:cNvPr id="69" name="Text 11"/>
          <p:cNvSpPr/>
          <p:nvPr/>
        </p:nvSpPr>
        <p:spPr>
          <a:xfrm>
            <a:off x="4498848" y="2313432"/>
            <a:ext cx="3182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ko-KR" altLang="en-US" sz="105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마커 물리적 거리 계산 및 삼각함수 연산.</a:t>
            </a:r>
            <a:endParaRPr lang="ko-KR" altLang="en-US" sz="1051" dirty="0"/>
          </a:p>
          <a:p>
            <a:pPr>
              <a:lnSpc>
                <a:spcPct val="115000"/>
              </a:lnSpc>
            </a:pPr>
            <a:endParaRPr lang="ko-KR" altLang="en-US" sz="951" dirty="0"/>
          </a:p>
          <a:p>
            <a:pPr>
              <a:lnSpc>
                <a:spcPct val="115000"/>
              </a:lnSpc>
            </a:pPr>
            <a:r>
              <a:rPr lang="ko-KR" altLang="en-US" sz="105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글로벌 맵 절대 좌표를 AMCL 파티클에 직접 주입(결정론적 좌표 확정).</a:t>
            </a:r>
            <a:endParaRPr lang="ko-KR" altLang="en-US" sz="1051" dirty="0"/>
          </a:p>
          <a:p>
            <a:pPr>
              <a:lnSpc>
                <a:spcPct val="115000"/>
              </a:lnSpc>
            </a:pPr>
            <a:endParaRPr lang="ko-KR" altLang="en-US" sz="951" dirty="0"/>
          </a:p>
          <a:p>
            <a:pPr>
              <a:lnSpc>
                <a:spcPct val="115000"/>
              </a:lnSpc>
            </a:pPr>
            <a:r>
              <a:rPr lang="ko-KR" altLang="en-US" sz="95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/initialpose 발행.</a:t>
            </a:r>
            <a:endParaRPr lang="ko-KR" altLang="en-US" sz="951" dirty="0"/>
          </a:p>
        </p:txBody>
      </p:sp>
      <p:sp>
        <p:nvSpPr>
          <p:cNvPr id="70" name="Shape 12"/>
          <p:cNvSpPr/>
          <p:nvPr/>
        </p:nvSpPr>
        <p:spPr>
          <a:xfrm>
            <a:off x="8302752" y="1856232"/>
            <a:ext cx="3511296" cy="1600200"/>
          </a:xfrm>
          <a:prstGeom prst="roundRect">
            <a:avLst>
              <a:gd name="adj" fmla="val 3429"/>
            </a:avLst>
          </a:prstGeom>
          <a:solidFill>
            <a:srgbClr val="EAF1F7"/>
          </a:solidFill>
          <a:ln/>
        </p:spPr>
      </p:sp>
      <p:sp>
        <p:nvSpPr>
          <p:cNvPr id="71" name="Text 13"/>
          <p:cNvSpPr/>
          <p:nvPr/>
        </p:nvSpPr>
        <p:spPr>
          <a:xfrm>
            <a:off x="8467344" y="196596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3. 스캔 댄스(Scan Dance) 및 주행 연계</a:t>
            </a:r>
            <a:endParaRPr lang="ko-KR" altLang="en-US" sz="1200" dirty="0"/>
          </a:p>
        </p:txBody>
      </p:sp>
      <p:sp>
        <p:nvSpPr>
          <p:cNvPr id="72" name="Text 14"/>
          <p:cNvSpPr/>
          <p:nvPr/>
        </p:nvSpPr>
        <p:spPr>
          <a:xfrm>
            <a:off x="8467344" y="2313432"/>
            <a:ext cx="3182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ko-KR" altLang="en-US" sz="105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 주입 직후 좌우 회전 및 전후 이동 수행하여 맵 특징점 수렴(Convergence) 극대화.</a:t>
            </a:r>
            <a:endParaRPr lang="ko-KR" altLang="en-US" sz="1051" dirty="0"/>
          </a:p>
          <a:p>
            <a:pPr>
              <a:lnSpc>
                <a:spcPct val="115000"/>
              </a:lnSpc>
            </a:pPr>
            <a:endParaRPr lang="ko-KR" altLang="en-US" sz="951" dirty="0"/>
          </a:p>
          <a:p>
            <a:pPr>
              <a:lnSpc>
                <a:spcPct val="115000"/>
              </a:lnSpc>
            </a:pPr>
            <a:r>
              <a:rPr lang="ko-KR" altLang="en-US" sz="105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 즉시 상태 퍼블리셔(AGV_status=0)를 통해 내비게이션으로 시스템 인계.</a:t>
            </a:r>
            <a:endParaRPr lang="ko-KR" altLang="en-US" sz="1051" dirty="0"/>
          </a:p>
        </p:txBody>
      </p:sp>
      <p:sp>
        <p:nvSpPr>
          <p:cNvPr id="73" name="Text 15"/>
          <p:cNvSpPr/>
          <p:nvPr/>
        </p:nvSpPr>
        <p:spPr>
          <a:xfrm>
            <a:off x="3877056" y="1856232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000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≫</a:t>
            </a:r>
            <a:endParaRPr lang="ko-KR" altLang="en-US" sz="3000" dirty="0">
              <a:solidFill>
                <a:srgbClr val="00C8FF"/>
              </a:solidFill>
            </a:endParaRPr>
          </a:p>
        </p:txBody>
      </p:sp>
      <p:sp>
        <p:nvSpPr>
          <p:cNvPr id="74" name="Text 16"/>
          <p:cNvSpPr/>
          <p:nvPr/>
        </p:nvSpPr>
        <p:spPr>
          <a:xfrm>
            <a:off x="7845552" y="1856232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000" b="1" dirty="0">
                <a:solidFill>
                  <a:srgbClr val="00C8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≫</a:t>
            </a:r>
            <a:endParaRPr lang="ko-KR" altLang="en-US" sz="3000" dirty="0">
              <a:solidFill>
                <a:srgbClr val="00C8FF"/>
              </a:solidFill>
            </a:endParaRPr>
          </a:p>
        </p:txBody>
      </p:sp>
      <p:sp>
        <p:nvSpPr>
          <p:cNvPr id="75" name="Shape 17"/>
          <p:cNvSpPr/>
          <p:nvPr/>
        </p:nvSpPr>
        <p:spPr>
          <a:xfrm>
            <a:off x="365760" y="3630168"/>
            <a:ext cx="0" cy="201168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76" name="Shape 18"/>
          <p:cNvSpPr/>
          <p:nvPr/>
        </p:nvSpPr>
        <p:spPr>
          <a:xfrm>
            <a:off x="365760" y="3630168"/>
            <a:ext cx="109728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77" name="Text 19"/>
          <p:cNvSpPr/>
          <p:nvPr/>
        </p:nvSpPr>
        <p:spPr>
          <a:xfrm>
            <a:off x="566928" y="351129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1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결과는 어떠한가? (성능 비교 매트릭스)</a:t>
            </a:r>
            <a:endParaRPr lang="ko-KR" altLang="en-US" sz="1351" dirty="0">
              <a:solidFill>
                <a:schemeClr val="bg1"/>
              </a:solidFill>
            </a:endParaRPr>
          </a:p>
        </p:txBody>
      </p:sp>
      <p:sp>
        <p:nvSpPr>
          <p:cNvPr id="78" name="Shape 20"/>
          <p:cNvSpPr/>
          <p:nvPr/>
        </p:nvSpPr>
        <p:spPr>
          <a:xfrm flipV="1">
            <a:off x="3712464" y="3657601"/>
            <a:ext cx="8110728" cy="18287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</p:sp>
      <p:graphicFrame>
        <p:nvGraphicFramePr>
          <p:cNvPr id="79" name="Table 0"/>
          <p:cNvGraphicFramePr>
            <a:graphicFrameLocks noGrp="1"/>
          </p:cNvGraphicFramePr>
          <p:nvPr>
            <p:extLst/>
          </p:nvPr>
        </p:nvGraphicFramePr>
        <p:xfrm>
          <a:off x="365760" y="3959352"/>
          <a:ext cx="6766560" cy="250545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평가 지표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기존 (AMCL 단독)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개선 (ArUco + AMCL 하이브리드)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완전 성공률</a:t>
                      </a:r>
                      <a:endParaRPr lang="en-US" sz="11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40% (4/10회)</a:t>
                      </a:r>
                      <a:endParaRPr lang="en-US" sz="11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C8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98%+ 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(54회 중 1회 제외 전회 성공)</a:t>
                      </a:r>
                      <a:endParaRPr lang="en-US" sz="9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오차 심각도</a:t>
                      </a:r>
                      <a:endParaRPr lang="en-US" sz="11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22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치명적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(벽을 뚫으려 시도)</a:t>
                      </a:r>
                      <a:endParaRPr lang="en-US" sz="12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완벽 해결</a:t>
                      </a:r>
                      <a:endParaRPr lang="en-US" sz="1200" dirty="0">
                        <a:solidFill>
                          <a:srgbClr val="00C8FF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(실내 자율주행 정밀도 충족)</a:t>
                      </a:r>
                      <a:endParaRPr lang="en-US" sz="12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실행 시간</a:t>
                      </a:r>
                      <a:endParaRPr lang="en-US" sz="11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22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불안정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(평균 30초, </a:t>
                      </a:r>
                      <a:r>
                        <a:rPr lang="ko-KR" altLang="en-US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표준편차 </a:t>
                      </a:r>
                      <a:r>
                        <a:rPr lang="en-US" altLang="ko-KR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</a:t>
                      </a:r>
                      <a:r>
                        <a:rPr lang="ko-KR" altLang="en-US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초</a:t>
                      </a:r>
                      <a:r>
                        <a:rPr lang="en-US" altLang="ko-KR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, </a:t>
                      </a:r>
                      <a:r>
                        <a:rPr lang="en-US" sz="800" dirty="0" err="1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중간값</a:t>
                      </a:r>
                      <a:r>
                        <a:rPr lang="en-US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 22초</a:t>
                      </a:r>
                      <a:r>
                        <a:rPr lang="en-US" sz="8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)</a:t>
                      </a:r>
                      <a:endParaRPr lang="en-US" sz="12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안정적</a:t>
                      </a:r>
                      <a:endParaRPr lang="en-US" sz="1200" dirty="0">
                        <a:solidFill>
                          <a:srgbClr val="00C8FF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(평균 29초, </a:t>
                      </a:r>
                      <a:r>
                        <a:rPr lang="ko-KR" altLang="en-US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표준편차 </a:t>
                      </a:r>
                      <a:r>
                        <a:rPr lang="en-US" altLang="ko-KR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</a:t>
                      </a:r>
                      <a:r>
                        <a:rPr lang="ko-KR" altLang="en-US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초</a:t>
                      </a:r>
                      <a:r>
                        <a:rPr lang="en-US" altLang="ko-KR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,</a:t>
                      </a:r>
                      <a:r>
                        <a:rPr lang="en-US" altLang="ko-KR" sz="800" baseline="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중간값</a:t>
                      </a:r>
                      <a:r>
                        <a:rPr lang="en-US" sz="800" dirty="0" smtClean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 </a:t>
                      </a:r>
                      <a:r>
                        <a:rPr lang="en-US" sz="8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13초)</a:t>
                      </a:r>
                      <a:endParaRPr lang="en-US" sz="12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초기화 방식</a:t>
                      </a:r>
                      <a:endParaRPr lang="en-US" sz="11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무작위 파티클 살포</a:t>
                      </a:r>
                      <a:endParaRPr lang="en-US" sz="12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(확률 의존)</a:t>
                      </a:r>
                      <a:endParaRPr lang="en-US" sz="12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비전 기반 절대 좌표 확정</a:t>
                      </a:r>
                      <a:endParaRPr lang="en-US" sz="1200" dirty="0">
                        <a:solidFill>
                          <a:srgbClr val="00C8FF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(결정론적)</a:t>
                      </a:r>
                      <a:endParaRPr lang="en-US" sz="1200" dirty="0">
                        <a:solidFill>
                          <a:schemeClr val="bg1"/>
                        </a:solidFill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" name="Text 21"/>
          <p:cNvSpPr/>
          <p:nvPr/>
        </p:nvSpPr>
        <p:spPr>
          <a:xfrm>
            <a:off x="365760" y="6519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i="1" dirty="0">
                <a:solidFill>
                  <a:srgbClr val="6E7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 Shifting(사각지대 탈출) 발동 시 탐색 시간이 증가하는 예외 케이스(143초 등)가 존재하나, 최종 인식 정확도는 100% 보장.</a:t>
            </a:r>
            <a:endParaRPr lang="ko-KR" altLang="en-US" sz="800" dirty="0"/>
          </a:p>
        </p:txBody>
      </p:sp>
      <p:sp>
        <p:nvSpPr>
          <p:cNvPr id="81" name="Shape 22"/>
          <p:cNvSpPr/>
          <p:nvPr/>
        </p:nvSpPr>
        <p:spPr>
          <a:xfrm>
            <a:off x="7406640" y="3959352"/>
            <a:ext cx="4416552" cy="2615184"/>
          </a:xfrm>
          <a:prstGeom prst="roundRect">
            <a:avLst>
              <a:gd name="adj" fmla="val 2098"/>
            </a:avLst>
          </a:prstGeom>
          <a:solidFill>
            <a:srgbClr val="00C8FF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82" name="Text 23"/>
          <p:cNvSpPr/>
          <p:nvPr/>
        </p:nvSpPr>
        <p:spPr>
          <a:xfrm>
            <a:off x="7635240" y="4123944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The Bottom Line</a:t>
            </a:r>
            <a:endParaRPr lang="ko-KR" altLang="en-US" sz="1700" dirty="0"/>
          </a:p>
        </p:txBody>
      </p:sp>
      <p:sp>
        <p:nvSpPr>
          <p:cNvPr id="83" name="Text 24"/>
          <p:cNvSpPr/>
          <p:nvPr/>
        </p:nvSpPr>
        <p:spPr>
          <a:xfrm>
            <a:off x="7635240" y="4617720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883" indent="-342883">
              <a:lnSpc>
                <a:spcPct val="115000"/>
              </a:lnSpc>
              <a:buSzPct val="100000"/>
              <a:buChar char="●"/>
            </a:pPr>
            <a:r>
              <a:rPr lang="ko-KR" altLang="en-US" sz="1149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비슷한 책상과 구석이 많은 환경에서 발생하던 Aliasing (위치 혼동) 문제 완전 극복.</a:t>
            </a:r>
            <a:endParaRPr lang="ko-KR" altLang="en-US" sz="1149" dirty="0"/>
          </a:p>
        </p:txBody>
      </p:sp>
      <p:sp>
        <p:nvSpPr>
          <p:cNvPr id="84" name="Text 25"/>
          <p:cNvSpPr/>
          <p:nvPr/>
        </p:nvSpPr>
        <p:spPr>
          <a:xfrm>
            <a:off x="7635240" y="5440680"/>
            <a:ext cx="3959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883" indent="-342883">
              <a:lnSpc>
                <a:spcPct val="115000"/>
              </a:lnSpc>
              <a:buSzPct val="100000"/>
              <a:buChar char="●"/>
            </a:pPr>
            <a:r>
              <a:rPr lang="ko-KR" altLang="en-US" sz="1149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카메라의 '절대 좌표'와 라이더의 '지형 매칭' 장점만을 결합하여, 빠른 속도와 완벽에 가까운 글로벌 정밀도를 동시에 달성 완료.</a:t>
            </a:r>
            <a:endParaRPr lang="ko-KR" altLang="en-US" sz="1149" dirty="0"/>
          </a:p>
        </p:txBody>
      </p:sp>
    </p:spTree>
    <p:extLst>
      <p:ext uri="{BB962C8B-B14F-4D97-AF65-F5344CB8AC3E}">
        <p14:creationId xmlns:p14="http://schemas.microsoft.com/office/powerpoint/2010/main" val="4200201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9232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768096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400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070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0704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0704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0704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0704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070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120700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7008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1207008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1207008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1207008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120700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2438400" y="1828800"/>
            <a:ext cx="7315200" cy="3169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38400" y="1828800"/>
            <a:ext cx="731520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2682240" y="1950720"/>
            <a:ext cx="682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7 — 마무리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682240" y="2377440"/>
            <a:ext cx="68275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8" name="Text 56"/>
          <p:cNvSpPr/>
          <p:nvPr/>
        </p:nvSpPr>
        <p:spPr>
          <a:xfrm>
            <a:off x="2682240" y="3413760"/>
            <a:ext cx="68275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[팀명  ·  연락처]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0412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9232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768096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400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070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0704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0704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0704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0704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070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120700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7008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1207008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1207008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1207008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120700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365760"/>
            <a:ext cx="11460480" cy="975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365760" y="365760"/>
            <a:ext cx="85344" cy="975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670560" y="390144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6 — 이미지/다이어그램</a:t>
            </a:r>
            <a:endParaRPr lang="en-US" sz="1067" dirty="0"/>
          </a:p>
        </p:txBody>
      </p:sp>
      <p:sp>
        <p:nvSpPr>
          <p:cNvPr id="57" name="Text 55"/>
          <p:cNvSpPr/>
          <p:nvPr/>
        </p:nvSpPr>
        <p:spPr>
          <a:xfrm>
            <a:off x="670560" y="694944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r>
              <a:rPr lang="en-US" altLang="ko-KR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(SLAM 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</a:t>
            </a:r>
            <a:r>
              <a:rPr lang="en-US" altLang="ko-KR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2667" dirty="0"/>
          </a:p>
        </p:txBody>
      </p:sp>
      <p:sp>
        <p:nvSpPr>
          <p:cNvPr id="58" name="Shape 56"/>
          <p:cNvSpPr/>
          <p:nvPr/>
        </p:nvSpPr>
        <p:spPr>
          <a:xfrm>
            <a:off x="365760" y="1524000"/>
            <a:ext cx="1146048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1524000"/>
            <a:ext cx="11460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이미지 / 아키텍처 다이어그램 삽입 ]</a:t>
            </a:r>
            <a:endParaRPr lang="en-US" sz="1867" dirty="0"/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76" y="1522997"/>
            <a:ext cx="8814816" cy="475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26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9232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768096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400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070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0704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0704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0704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0704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0704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120700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70080" y="18288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12070080" y="30480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12070080" y="42672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12070080" y="54864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12070080" y="6705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365760"/>
            <a:ext cx="11460480" cy="975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365760" y="365760"/>
            <a:ext cx="85344" cy="975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670560" y="390144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6 — 이미지/다이어그램</a:t>
            </a:r>
            <a:endParaRPr lang="en-US" sz="1067" dirty="0"/>
          </a:p>
        </p:txBody>
      </p:sp>
      <p:sp>
        <p:nvSpPr>
          <p:cNvPr id="57" name="Text 55"/>
          <p:cNvSpPr/>
          <p:nvPr/>
        </p:nvSpPr>
        <p:spPr>
          <a:xfrm>
            <a:off x="670560" y="694944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r>
              <a:rPr lang="en-US" altLang="ko-KR" sz="2667" b="1" dirty="0">
                <a:solidFill>
                  <a:schemeClr val="bg1"/>
                </a:solidFill>
                <a:latin typeface="+mj-ea"/>
                <a:ea typeface="+mj-ea"/>
              </a:rPr>
              <a:t>(AGV </a:t>
            </a:r>
            <a:r>
              <a:rPr lang="ko-KR" altLang="en-US" sz="2667" b="1" dirty="0">
                <a:solidFill>
                  <a:schemeClr val="bg1"/>
                </a:solidFill>
                <a:latin typeface="+mj-ea"/>
                <a:ea typeface="+mj-ea"/>
              </a:rPr>
              <a:t>세부 </a:t>
            </a:r>
            <a:r>
              <a:rPr lang="ko-KR" altLang="en-US" sz="2667" b="1" dirty="0" err="1">
                <a:solidFill>
                  <a:schemeClr val="bg1"/>
                </a:solidFill>
                <a:latin typeface="+mj-ea"/>
                <a:ea typeface="+mj-ea"/>
              </a:rPr>
              <a:t>아키텍쳐</a:t>
            </a:r>
            <a:r>
              <a:rPr lang="en-US" altLang="ko-KR" sz="2667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r>
              <a:rPr lang="ko-KR" altLang="en-US" sz="2667" b="1" dirty="0">
                <a:solidFill>
                  <a:schemeClr val="bg1"/>
                </a:solidFill>
                <a:latin typeface="+mj-ea"/>
                <a:ea typeface="+mj-ea"/>
                <a:cs typeface="Malgun Gothic" pitchFamily="34" charset="-120"/>
              </a:rPr>
              <a:t> </a:t>
            </a:r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2667" dirty="0"/>
          </a:p>
        </p:txBody>
      </p:sp>
      <p:sp>
        <p:nvSpPr>
          <p:cNvPr id="58" name="Shape 56"/>
          <p:cNvSpPr/>
          <p:nvPr/>
        </p:nvSpPr>
        <p:spPr>
          <a:xfrm>
            <a:off x="365760" y="1524000"/>
            <a:ext cx="1146048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1524000"/>
            <a:ext cx="11460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이미지 / 아키텍처 다이어그램 삽입 ]</a:t>
            </a:r>
            <a:endParaRPr lang="en-US" sz="1867" dirty="0"/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524000"/>
            <a:ext cx="11460480" cy="468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96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640</Words>
  <Application>Microsoft Office PowerPoint</Application>
  <PresentationFormat>와이드스크린</PresentationFormat>
  <Paragraphs>81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Noto Sans CJK KR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2026-07-10T02:34:37Z</dcterms:created>
  <dcterms:modified xsi:type="dcterms:W3CDTF">2026-07-10T03:13:37Z</dcterms:modified>
</cp:coreProperties>
</file>