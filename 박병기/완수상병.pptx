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82B49"/>
                </a:solidFill>
                <a:latin typeface="Malgun Gothic"/>
              </a:defRPr>
            </a:pPr>
            <a:r>
              <a:t>완전 자율 쇼핑 파트너: 통합 로보틱스 시스템</a:t>
            </a:r>
          </a:p>
          <a:p>
            <a:pPr>
              <a:spcBef>
                <a:spcPts val="2000"/>
              </a:spcBef>
              <a:defRPr sz="1800">
                <a:solidFill>
                  <a:srgbClr val="E67E22"/>
                </a:solidFill>
                <a:latin typeface="Malgun Gothic"/>
              </a:defRPr>
            </a:pPr>
            <a:r>
              <a:t>비전 인식(Sense), 자율 주행(Mobility), 로봇 팔(Manipulation)의 유기적 결합 파이프라인</a:t>
            </a:r>
          </a:p>
          <a:p>
            <a:pPr>
              <a:spcBef>
                <a:spcPts val="4000"/>
              </a:spcBef>
              <a:defRPr sz="1400">
                <a:solidFill>
                  <a:srgbClr val="3C4043"/>
                </a:solidFill>
                <a:latin typeface="Malgun Gothic"/>
              </a:defRPr>
            </a:pPr>
            <a:r>
              <a:t>팀 완수상병 : 김완식, 이수혁, 이상휘, 박병기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1. 프로젝트 개요: 개발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C4043"/>
                </a:solidFill>
              </a:defRPr>
            </a:pPr>
            <a:r>
              <a:t>As-Is (기존의 한계)</a:t>
            </a:r>
          </a:p>
          <a:p>
            <a:pPr>
              <a:spcBef>
                <a:spcPts val="1000"/>
              </a:spcBef>
              <a:defRPr sz="1400">
                <a:solidFill>
                  <a:srgbClr val="3C4043"/>
                </a:solidFill>
              </a:defRPr>
            </a:pPr>
            <a:r>
              <a:t>• 마트 및 물류 환경 내 유기적인 보조 로봇 시스템 부재</a:t>
            </a:r>
          </a:p>
          <a:p>
            <a:pPr>
              <a:spcBef>
                <a:spcPts val="1000"/>
              </a:spcBef>
              <a:defRPr sz="1400">
                <a:solidFill>
                  <a:srgbClr val="3C4043"/>
                </a:solidFill>
              </a:defRPr>
            </a:pPr>
            <a:r>
              <a:t>• 기존 시스템은 '단순 추종' 또는 '지정 위치 파지'로 기능이 파편화됨</a:t>
            </a:r>
          </a:p>
          <a:p>
            <a:pPr>
              <a:spcBef>
                <a:spcPts val="1000"/>
              </a:spcBef>
              <a:defRPr sz="1400">
                <a:solidFill>
                  <a:srgbClr val="3C4043"/>
                </a:solidFill>
              </a:defRPr>
            </a:pPr>
            <a:r>
              <a:t>• 노약자 쇼핑 보조, 높은 선반 물건 적재 등 복합 수행 불가능 (병목 현상 발생)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To-Be (해결 과제)</a:t>
            </a:r>
          </a:p>
          <a:p>
            <a:pPr>
              <a:spcBef>
                <a:spcPts val="1000"/>
              </a:spcBef>
              <a:defRPr sz="1400">
                <a:solidFill>
                  <a:srgbClr val="3C4043"/>
                </a:solidFill>
              </a:defRPr>
            </a:pPr>
            <a:r>
              <a:t>• 단절 없는 자율 순환 시스템 구축</a:t>
            </a:r>
          </a:p>
          <a:p>
            <a:pPr>
              <a:spcBef>
                <a:spcPts val="1000"/>
              </a:spcBef>
              <a:defRPr sz="1400">
                <a:solidFill>
                  <a:srgbClr val="3C4043"/>
                </a:solidFill>
              </a:defRPr>
            </a:pPr>
            <a:r>
              <a:t>• [SENSE] 비전 데이터 수집 → [COMPUTE] 중앙 제어 연산 → [ACT] 정밀 파지 단계를 하나의 파이프라인으로 긴밀하게 통합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1. 프로젝트 개요: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핵심 타깃: 대형 마트 이용객(노약자 포함) 및 현업 물류센터 관리자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3C4043"/>
                </a:solidFill>
              </a:defRPr>
            </a:pPr>
            <a:r>
              <a:t>정량적 이점 (Quantitative Impact)</a:t>
            </a:r>
          </a:p>
          <a:p>
            <a:pPr>
              <a:spcBef>
                <a:spcPts val="500"/>
              </a:spcBef>
              <a:defRPr sz="1400">
                <a:solidFill>
                  <a:srgbClr val="3C4043"/>
                </a:solidFill>
              </a:defRPr>
            </a:pPr>
            <a:r>
              <a:t>  • 인지-주행-조작 제어의 예외 상황 처리 루틴화를 통한 시스템 다운타임 최소화</a:t>
            </a:r>
          </a:p>
          <a:p>
            <a:pPr>
              <a:spcBef>
                <a:spcPts val="500"/>
              </a:spcBef>
              <a:defRPr sz="1400">
                <a:solidFill>
                  <a:srgbClr val="3C4043"/>
                </a:solidFill>
              </a:defRPr>
            </a:pPr>
            <a:r>
              <a:t>  • 물품 적재 및 바구니 수납 작업 성공률 극대화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3C4043"/>
                </a:solidFill>
              </a:defRPr>
            </a:pPr>
            <a:r>
              <a:t>정성적 이점 (Qualitative Impact)</a:t>
            </a:r>
          </a:p>
          <a:p>
            <a:pPr>
              <a:spcBef>
                <a:spcPts val="500"/>
              </a:spcBef>
              <a:defRPr sz="1400">
                <a:solidFill>
                  <a:srgbClr val="3C4043"/>
                </a:solidFill>
              </a:defRPr>
            </a:pPr>
            <a:r>
              <a:t>  • 물류 및 서비스 자동화 분야에 즉시 적용 가능한 수준의 핵심 실무 로보틱스 역량 증명</a:t>
            </a:r>
          </a:p>
          <a:p>
            <a:pPr>
              <a:spcBef>
                <a:spcPts val="500"/>
              </a:spcBef>
              <a:defRPr sz="1400">
                <a:solidFill>
                  <a:srgbClr val="3C4043"/>
                </a:solidFill>
              </a:defRPr>
            </a:pPr>
            <a:r>
              <a:t>  • 끊김 없는 비대면 무인 보조 프로세스 경험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2. 시스템 시나리오 흐름도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E67E22"/>
                </a:solidFill>
              </a:defRPr>
            </a:pPr>
            <a:r>
              <a:t>Phase 1: 대기 및 사용자 추종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YOLO/DeepSORT 인식, PID 주행 제어로 안전거리 유지</a:t>
            </a:r>
          </a:p>
          <a:p>
            <a:pPr>
              <a:spcBef>
                <a:spcPts val="1000"/>
              </a:spcBef>
              <a:defRPr sz="1600" b="1">
                <a:solidFill>
                  <a:srgbClr val="E67E22"/>
                </a:solidFill>
              </a:defRPr>
            </a:pPr>
            <a:r>
              <a:t>Phase 2: 목표물 지정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레이저 포인터 동일 픽셀 1.5초 체류 검증, 3D 좌표 추출</a:t>
            </a:r>
          </a:p>
          <a:p>
            <a:pPr>
              <a:spcBef>
                <a:spcPts val="1000"/>
              </a:spcBef>
              <a:defRPr sz="1600" b="1">
                <a:solidFill>
                  <a:srgbClr val="E67E22"/>
                </a:solidFill>
              </a:defRPr>
            </a:pPr>
            <a:r>
              <a:t>Phase 3: 접근 및 파지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로봇 팔 작업 반경 판별, TF 트리 변환 및 MoveIt2 IK 계산</a:t>
            </a:r>
          </a:p>
          <a:p>
            <a:pPr>
              <a:spcBef>
                <a:spcPts val="1000"/>
              </a:spcBef>
              <a:defRPr sz="1600" b="1">
                <a:solidFill>
                  <a:srgbClr val="E67E22"/>
                </a:solidFill>
              </a:defRPr>
            </a:pPr>
            <a:r>
              <a:t>Phase 4: 수납 및 상태 복귀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myAGV 상단 바구니 수납, 로봇 팔 Home 초기화 후 Phase 1 복귀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2. 요구사항 명세서 (Requirements)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FR-01 (인지): YOLOv8/DeepSORT 기반 객체 인식 및 레이저 포인터 1.5초 이상 체류 검증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FR-02 (주행): PID 주행 제어 기반 실시간 속도 제어 및 정밀 안전거리 유지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FR-03 (회피): 돌발 예외 상황 시 제자리 회전 탐색 및 즉시 정지 후 안전 궤적 재설계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FR-04 (조작): MoveIt2 기반 역기구학(IK) 계산을 통한 충돌 회피 및 상단 바구니 수납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NFR-01 (환경): Ubuntu 24.04 및 ROS 2 Jazzy 환경 호환성 보장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NFR-02 (성능): Jetson Orin Nano 기반 지연 없는(Zero-latency) 실시간 연산 수행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3. 시스템 아키텍처: Hardware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[SENSE] 시각 데이터 입력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RealSense D435 (실시간 RGB 영상 및 고정밀 Depth 데이터 수집)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[COMPUTE] 두뇌 및 중앙 제어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Jetson Orin Nano (Master Node - AI 비전 연산 및 PID/IK 명령 총괄)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[ACT] 구동 및 파지 기구부 (하체)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myAGV 2023 (메카넘 휠 기반 전후/좌우 평행 이동 및 회전 제어)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[ACT] 구동 및 파지 기구부 (상체)</a:t>
            </a:r>
          </a:p>
          <a:p>
            <a:pPr>
              <a:defRPr sz="1400">
                <a:solidFill>
                  <a:srgbClr val="3C4043"/>
                </a:solidFill>
              </a:defRPr>
            </a:pPr>
            <a:r>
              <a:t>   myCobot 280 Pi (관절 궤적 추종 및 그리퍼 파지/수납 명령 수행)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3. 시스템 아키텍처: ROS 2 Topic 명세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300">
                <a:solidFill>
                  <a:srgbClr val="3C4043"/>
                </a:solidFill>
              </a:defRPr>
            </a:pPr>
            <a:r>
              <a:t>• /camera/color/image_raw (sensor_msgs/Image): camera → vision_processor (실시간 2D 이미지)</a:t>
            </a:r>
          </a:p>
          <a:p>
            <a:pPr>
              <a:spcBef>
                <a:spcPts val="1200"/>
              </a:spcBef>
              <a:defRPr sz="1300">
                <a:solidFill>
                  <a:srgbClr val="3C4043"/>
                </a:solidFill>
              </a:defRPr>
            </a:pPr>
            <a:r>
              <a:t>• /detected_human (geometry_msgs/PoseStamped): vision_processor → agv_controller (사용자 추적)</a:t>
            </a:r>
          </a:p>
          <a:p>
            <a:pPr>
              <a:spcBef>
                <a:spcPts val="1200"/>
              </a:spcBef>
              <a:defRPr sz="1300">
                <a:solidFill>
                  <a:srgbClr val="3C4043"/>
                </a:solidFill>
              </a:defRPr>
            </a:pPr>
            <a:r>
              <a:t>• /coords_goal (geometry_msgs/Point): target_estimator → manipulation_controller (로봇팔 기준 좌표)</a:t>
            </a:r>
          </a:p>
          <a:p>
            <a:pPr>
              <a:spcBef>
                <a:spcPts val="1200"/>
              </a:spcBef>
              <a:defRPr sz="1300">
                <a:solidFill>
                  <a:srgbClr val="3C4043"/>
                </a:solidFill>
              </a:defRPr>
            </a:pPr>
            <a:r>
              <a:t>• /cmd_vel (geometry_msgs/Twist): agv_controller → myagv_base (PID 속도 제어 명령)</a:t>
            </a:r>
          </a:p>
          <a:p>
            <a:pPr>
              <a:spcBef>
                <a:spcPts val="1200"/>
              </a:spcBef>
              <a:defRPr sz="1300">
                <a:solidFill>
                  <a:srgbClr val="3C4043"/>
                </a:solidFill>
              </a:defRPr>
            </a:pPr>
            <a:r>
              <a:t>• /joint_trajectory (trajectory_msgs/JointTrajectory): manipulation_controller → mycobot_driver (궤적 명령)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3. 시스템 아키텍처: TF Tree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TF Tree 구조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  map → odom → base_footprint → base_link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  base_link → camera_link (카메라 좌표계)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  base_link → link1 (로봇 팔 베이스) → ... → link6 → end_effector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설계 핵심 고려사항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기준점 명확화: 로봇 팔 제어 명령(coords_goal)을 팔 베이스(link1) 기준으로 설계하여 정밀도 확보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주행 맵핑: AGV 목표 좌표를 글로벌 맵(Map)과 로컬 오도메트리(Odom) 기준으로 명확히 정의하여 파이프라인 단절 방지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4. 시뮬레이션 및 테스트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C4043"/>
                </a:solidFill>
              </a:defRPr>
            </a:pPr>
            <a:r>
              <a:t>제어 로직 시뮬레이션 검증 (Manipulation)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MoveIt2 기반 역기구학(IK) 궤적 유효성 사전 검증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로봇 상태 전이 오류 및 관절 궤적 꼬임(Singularity, 특이점) 방지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충돌 회피 알고리즘 사전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C4043"/>
                </a:solidFill>
              </a:defRPr>
            </a:pPr>
            <a:r>
              <a:t>주행 및 접근 제어 검증 (Mobility)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실물 이식 전, 가상 환경 내 PID 제어 로직을 통한 안전거리 유지 테스트</a:t>
            </a:r>
          </a:p>
          <a:p>
            <a:pPr>
              <a:spcBef>
                <a:spcPts val="800"/>
              </a:spcBef>
              <a:defRPr sz="1300">
                <a:solidFill>
                  <a:srgbClr val="3C4043"/>
                </a:solidFill>
              </a:defRPr>
            </a:pPr>
            <a:r>
              <a:t>• 대기 상태(Phase 1) → 타겟팅 모드(Phase 2) 전환 트리거 연동 안정성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4. 안전 및 예외 처리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E67E22"/>
                </a:solidFill>
              </a:defRPr>
            </a:pPr>
            <a:r>
              <a:t>[추종 실패 - 사용자 인식 불가]</a:t>
            </a:r>
          </a:p>
          <a:p>
            <a:pPr>
              <a:defRPr sz="1300">
                <a:solidFill>
                  <a:srgbClr val="3C4043"/>
                </a:solidFill>
              </a:defRPr>
            </a:pPr>
            <a:r>
              <a:t>   원인: 시야에서 사용자 이탈 → 대응: 제자리 정지 및 회전하며 재탐색</a:t>
            </a:r>
          </a:p>
          <a:p>
            <a:pPr>
              <a:spcBef>
                <a:spcPts val="1000"/>
              </a:spcBef>
              <a:defRPr sz="1500" b="1">
                <a:solidFill>
                  <a:srgbClr val="E67E22"/>
                </a:solidFill>
              </a:defRPr>
            </a:pPr>
            <a:r>
              <a:t>[파지 실패 - 목표물 조작 오류]</a:t>
            </a:r>
          </a:p>
          <a:p>
            <a:pPr>
              <a:defRPr sz="1300">
                <a:solidFill>
                  <a:srgbClr val="3C4043"/>
                </a:solidFill>
              </a:defRPr>
            </a:pPr>
            <a:r>
              <a:t>   원인: 물체 놓침 또는 작업 반경 초과 → 대응: 에러 알림(음성/LED) 후 즉시 Phase 1 복귀</a:t>
            </a:r>
          </a:p>
          <a:p>
            <a:pPr>
              <a:spcBef>
                <a:spcPts val="1000"/>
              </a:spcBef>
              <a:defRPr sz="1500" b="1">
                <a:solidFill>
                  <a:srgbClr val="E67E22"/>
                </a:solidFill>
              </a:defRPr>
            </a:pPr>
            <a:r>
              <a:t>[충돌 위험 - 경로상 장애물 감지]</a:t>
            </a:r>
          </a:p>
          <a:p>
            <a:pPr>
              <a:defRPr sz="1300">
                <a:solidFill>
                  <a:srgbClr val="3C4043"/>
                </a:solidFill>
              </a:defRPr>
            </a:pPr>
            <a:r>
              <a:t>   원인: 예상치 못한 장애물 출현 → 대응: 즉시 작동 정지 및 충돌 회피 안전 궤적 재설계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9"/>
                </a:solidFill>
                <a:latin typeface="Malgun Gothic"/>
              </a:defRPr>
            </a:pPr>
            <a:r>
              <a:t>5. 작업 분할 구조 및 마일스톤 (WBS)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[1주차] @김완식 (PM / 비전): Master Node 중심 전체 통신 아키텍처 파이프라인 설계 및 통합 환경 세팅 (산출물: 통합 패키지)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[2주차] @이수혁 (Mobility): myAGV 메카넘 휠 주행 제어 로직 및 PID 기반 실시간 안전거리 유지 구현 (산출물: 주행 제어 노드)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[3주차] @이상휘 (Manipulation): myCobot 역기구학 연산 설계, MoveIt2 기반 충돌 회피 궤적 및 그리퍼 제어 (산출물: 궤적 생성 패키지)</a:t>
            </a:r>
          </a:p>
          <a:p>
            <a:pPr>
              <a:spcBef>
                <a:spcPts val="1000"/>
              </a:spcBef>
              <a:defRPr sz="1300">
                <a:solidFill>
                  <a:srgbClr val="3C4043"/>
                </a:solidFill>
              </a:defRPr>
            </a:pPr>
            <a:r>
              <a:t>• [4주차] @박병기 (통합/Git): 하드웨어 통합 구축, 카메라-로봇 팔 간 실시간 TF Tree 좌표계 변환 구현 및 형상 관리 (산출물: launch 파일 및 통합 레포지토리)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82B49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800">
                <a:solidFill>
                  <a:srgbClr val="3C4043"/>
                </a:solidFill>
              </a:defRPr>
            </a:pPr>
            <a:r>
              <a:t>질의응답을 진행하겠습니다.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